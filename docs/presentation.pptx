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TaskBoard as a DevSecOps learning capstone. Explain that screenshots in docs/images are repository evidence and that live runtime status must be confirmed during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app scope: a task-management UI backed by CRUD API and PostgreSQL. Use the OpenAPI screenshot to point to the route surface; do not suggest the app alone is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handoff. Terraform provisions the AWS substrate, not the application images. GitHub Actions validates/builds/scans/publishes; the README says Helm deploy is separate and not currently auto-triggered by CI. Metrics are scraped and viewed in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repo map to navigate quickly during the live demo. Point out that modular docs live in docs/, with the screenshot catalogue in docs/06-evidence.md.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fresh local run and tests where feasible. Emphasize that test data is isolated and the Compose PostgreSQL port is remapped to 5433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pull-request vs main behavior. Confirm in the real workflow that build and scan jobs succeed before package publication. Tags should be the full commit SHA, not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Terraform as the source of truth for the AWS foundation. Show a fresh plan and actual VPC/EKS Console view. Call out cost exposure and show destroy completion after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Helm chart and live release. Ingress requires a controller. Do not claim replica counts from chart defaults—show kubectl get pods and match the rubric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metric data types and show live Prometheus Targets and Grafana panel. The existing screenshot index does not guarantee a visible target-UP page and Grafana panel, so record those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existing evidence easy to open from the deck. Explain that each evidence link opens the file under docs/images. If the file is old, update it with the latest run and revise docs/06-evidence.md.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candid slide. ArgoCD, replicas and dashboard proof are grading-sensitive. Validate these items, rather than claiming the repository already meets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takeaways rather than listing tools: reproducibility, fast feedback, artifact traceability/security and live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reiterating the mandatory video and evidence checkpoints. Do not say the submission is complete until the actual MP4 is recorded, uploaded, and the remaining live proof gaps are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6510528"/>
            <a:ext cx="11201400" cy="0"/>
          </a:xfrm>
          <a:prstGeom prst="line">
            <a:avLst/>
          </a:prstGeom>
          <a:noFill/>
          <a:ln w="8890">
            <a:solidFill>
              <a:srgbClr val="D9E0EA"/>
            </a:solidFill>
            <a:prstDash val="solid"/>
          </a:ln>
        </p:spPr>
      </p:sp>
      <p:sp>
        <p:nvSpPr>
          <p:cNvPr id="3" name="Text 1"/>
          <p:cNvSpPr/>
          <p:nvPr/>
        </p:nvSpPr>
        <p:spPr>
          <a:xfrm>
            <a:off x="530352" y="6565392"/>
            <a:ext cx="3840480" cy="137160"/>
          </a:xfrm>
          <a:prstGeom prst="rect">
            <a:avLst/>
          </a:prstGeom>
          <a:noFill/>
          <a:ln/>
        </p:spPr>
        <p:txBody>
          <a:bodyPr wrap="square" lIns="0" tIns="0" rIns="0" bIns="0" rtlCol="0" anchor="ctr"/>
          <a:lstStyle/>
          <a:p>
            <a:pPr indent="0" marL="0">
              <a:buNone/>
            </a:pPr>
            <a:r>
              <a:rPr lang="en-US" sz="750" spc="110" kern="0" dirty="0">
                <a:solidFill>
                  <a:srgbClr val="64748B"/>
                </a:solidFill>
                <a:latin typeface="Inter" pitchFamily="34" charset="0"/>
                <a:ea typeface="Inter" pitchFamily="34" charset="-122"/>
                <a:cs typeface="Inter" pitchFamily="34" charset="-120"/>
              </a:rPr>
              <a:t>TASKBOARD  /  DEVSECOPS CAPSTONE</a:t>
            </a:r>
            <a:endParaRPr lang="en-US" sz="75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shu273k/DevOps-Final-Project"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ashu273k/DevOps-Final-Project/blob/main/docs/images/application_running.png" TargetMode="External"/><Relationship Id="rId2" Type="http://schemas.openxmlformats.org/officeDocument/2006/relationships/hyperlink" Target="https://github.com/ashu273k/DevOps-Final-Project/blob/main/docs/images/Open_api_documentation.png" TargetMode="External"/><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ashu273k/DevOps-Final-Project/blob/main/docs/images/Open_api_documentation.png" TargetMode="External"/><Relationship Id="rId2" Type="http://schemas.openxmlformats.org/officeDocument/2006/relationships/hyperlink" Target="https://github.com/ashu273k/DevOps-Final-Project/blob/main/docs/images/health_ping.png" TargetMode="External"/><Relationship Id="rId3" Type="http://schemas.openxmlformats.org/officeDocument/2006/relationships/hyperlink" Target="https://github.com/ashu273k/DevOps-Final-Project/blob/main/docs/images/metrics.png" TargetMode="External"/><Relationship Id="rId4" Type="http://schemas.openxmlformats.org/officeDocument/2006/relationships/hyperlink" Target="https://github.com/ashu273k/DevOps-Final-Project/blob/main/docs/images/application_running.png" TargetMode="External"/><Relationship Id="rId5" Type="http://schemas.openxmlformats.org/officeDocument/2006/relationships/hyperlink" Target="https://github.com/ashu273k/DevOps-Final-Project/blob/main/docs/images/running_test.png" TargetMode="External"/><Relationship Id="rId6" Type="http://schemas.openxmlformats.org/officeDocument/2006/relationships/hyperlink" Target="https://github.com/ashu273k/DevOps-Final-Project/blob/main/docs/images/docker_compose_built.png" TargetMode="External"/><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ashu273k/DevOps-Final-Project/blob/main/docs/images/CI-CD_passed_all.png" TargetMode="External"/><Relationship Id="rId2" Type="http://schemas.openxmlformats.org/officeDocument/2006/relationships/hyperlink" Target="https://github.com/ashu273k/DevOps-Final-Project/blob/main/docs/images/git-pushing.png" TargetMode="External"/><Relationship Id="rId3" Type="http://schemas.openxmlformats.org/officeDocument/2006/relationships/hyperlink" Target="https://github.com/ashu273k/DevOps-Final-Project/blob/main/docs/images/git_image.png" TargetMode="Externa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ashu273k/DevOps-Final-Project/blob/main/docs/images/terraform.png" TargetMode="External"/><Relationship Id="rId2" Type="http://schemas.openxmlformats.org/officeDocument/2006/relationships/hyperlink" Target="https://github.com/ashu273k/DevOps-Final-Project/blob/main/docs/images/terraform_apply.png" TargetMode="External"/><Relationship Id="rId3" Type="http://schemas.openxmlformats.org/officeDocument/2006/relationships/hyperlink" Target="https://github.com/ashu273k/DevOps-Final-Project/blob/main/docs/images/aws_instances_created.png" TargetMode="External"/><Relationship Id="rId4" Type="http://schemas.openxmlformats.org/officeDocument/2006/relationships/hyperlink" Target="https://github.com/ashu273k/DevOps-Final-Project/blob/main/docs/images/terraform_destroy.png" TargetMode="External"/><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ashu273k/DevOps-Final-Project/blob/main/docs/images/helm.png" TargetMode="External"/><Relationship Id="rId2" Type="http://schemas.openxmlformats.org/officeDocument/2006/relationships/hyperlink" Target="https://github.com/ashu273k/DevOps-Final-Project/blob/main/docs/images/kubernetes_pods_svc.png" TargetMode="Externa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ashu273k/DevOps-Final-Project/blob/main/docs/images/metrics.png" TargetMode="External"/><Relationship Id="rId2" Type="http://schemas.openxmlformats.org/officeDocument/2006/relationships/hyperlink" Target="https://github.com/ashu273k/DevOps-Final-Project/blob/main/docs/images/application_metric.png" TargetMode="External"/><Relationship Id="rId3" Type="http://schemas.openxmlformats.org/officeDocument/2006/relationships/hyperlink" Target="https://github.com/ashu273k/DevOps-Final-Project/blob/main/docs/images/svc_monitor.png" TargetMode="External"/><Relationship Id="rId4" Type="http://schemas.openxmlformats.org/officeDocument/2006/relationships/hyperlink" Target="https://github.com/ashu273k/DevOps-Final-Project/blob/main/docs/images/helm_prometus.png" TargetMode="External"/><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ashu273k/DevOps-Final-Project/blob/main/docs/images/application_running.png" TargetMode="External"/><Relationship Id="rId2" Type="http://schemas.openxmlformats.org/officeDocument/2006/relationships/hyperlink" Target="https://github.com/ashu273k/DevOps-Final-Project/blob/main/docs/images/Open_api_documentation.png" TargetMode="External"/><Relationship Id="rId3" Type="http://schemas.openxmlformats.org/officeDocument/2006/relationships/hyperlink" Target="https://github.com/ashu273k/DevOps-Final-Project/blob/main/docs/images/health_ping.png" TargetMode="External"/><Relationship Id="rId4" Type="http://schemas.openxmlformats.org/officeDocument/2006/relationships/hyperlink" Target="https://github.com/ashu273k/DevOps-Final-Project/blob/main/docs/images/running_test.png" TargetMode="External"/><Relationship Id="rId5" Type="http://schemas.openxmlformats.org/officeDocument/2006/relationships/hyperlink" Target="https://github.com/ashu273k/DevOps-Final-Project/blob/main/docs/images/CI-CD_passed_all.png" TargetMode="External"/><Relationship Id="rId6" Type="http://schemas.openxmlformats.org/officeDocument/2006/relationships/hyperlink" Target="https://github.com/ashu273k/DevOps-Final-Project/blob/main/docs/images/git-pushing.png" TargetMode="External"/><Relationship Id="rId7" Type="http://schemas.openxmlformats.org/officeDocument/2006/relationships/hyperlink" Target="https://github.com/ashu273k/DevOps-Final-Project/blob/main/docs/images/git_image.png" TargetMode="External"/><Relationship Id="rId8" Type="http://schemas.openxmlformats.org/officeDocument/2006/relationships/hyperlink" Target="https://github.com/ashu273k/DevOps-Final-Project/blob/main/docs/images/docker_compose_built.png" TargetMode="External"/><Relationship Id="rId9" Type="http://schemas.openxmlformats.org/officeDocument/2006/relationships/hyperlink" Target="https://github.com/ashu273k/DevOps-Final-Project/blob/main/docs/images/terraform.png" TargetMode="External"/><Relationship Id="rId10" Type="http://schemas.openxmlformats.org/officeDocument/2006/relationships/hyperlink" Target="https://github.com/ashu273k/DevOps-Final-Project/blob/main/docs/images/terraform_apply.png" TargetMode="External"/><Relationship Id="rId11" Type="http://schemas.openxmlformats.org/officeDocument/2006/relationships/hyperlink" Target="https://github.com/ashu273k/DevOps-Final-Project/blob/main/docs/images/aws_instances_created.png" TargetMode="External"/><Relationship Id="rId12" Type="http://schemas.openxmlformats.org/officeDocument/2006/relationships/hyperlink" Target="https://github.com/ashu273k/DevOps-Final-Project/blob/main/docs/images/terraform_destroy.png" TargetMode="External"/><Relationship Id="rId13" Type="http://schemas.openxmlformats.org/officeDocument/2006/relationships/hyperlink" Target="https://github.com/ashu273k/DevOps-Final-Project/blob/main/docs/images/helm.png" TargetMode="External"/><Relationship Id="rId14" Type="http://schemas.openxmlformats.org/officeDocument/2006/relationships/hyperlink" Target="https://github.com/ashu273k/DevOps-Final-Project/blob/main/docs/images/kubernetes_pods_svc.png" TargetMode="External"/><Relationship Id="rId15" Type="http://schemas.openxmlformats.org/officeDocument/2006/relationships/hyperlink" Target="https://github.com/ashu273k/DevOps-Final-Project/blob/main/docs/images/metrics.png" TargetMode="External"/><Relationship Id="rId16" Type="http://schemas.openxmlformats.org/officeDocument/2006/relationships/hyperlink" Target="https://github.com/ashu273k/DevOps-Final-Project/blob/main/docs/images/application_metric.png" TargetMode="External"/><Relationship Id="rId17" Type="http://schemas.openxmlformats.org/officeDocument/2006/relationships/hyperlink" Target="https://github.com/ashu273k/DevOps-Final-Project/blob/main/docs/images/svc_monitor.png" TargetMode="External"/><Relationship Id="rId18" Type="http://schemas.openxmlformats.org/officeDocument/2006/relationships/hyperlink" Target="https://github.com/ashu273k/DevOps-Final-Project/blob/main/docs/images/helm_prometus.png" TargetMode="External"/><Relationship Id="rId19" Type="http://schemas.openxmlformats.org/officeDocument/2006/relationships/slideLayout" Target="../slideLayouts/slideLayout2.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shu273k/DevOps-Final-Project"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2D"/>
        </a:solidFill>
      </p:bgPr>
    </p:bg>
    <p:spTree>
      <p:nvGrpSpPr>
        <p:cNvPr id="1" name=""/>
        <p:cNvGrpSpPr/>
        <p:nvPr/>
      </p:nvGrpSpPr>
      <p:grpSpPr>
        <a:xfrm>
          <a:off x="0" y="0"/>
          <a:ext cx="0" cy="0"/>
          <a:chOff x="0" y="0"/>
          <a:chExt cx="0" cy="0"/>
        </a:xfrm>
      </p:grpSpPr>
      <p:sp>
        <p:nvSpPr>
          <p:cNvPr id="2" name="Shape 0"/>
          <p:cNvSpPr/>
          <p:nvPr/>
        </p:nvSpPr>
        <p:spPr>
          <a:xfrm>
            <a:off x="585216" y="530352"/>
            <a:ext cx="566928" cy="82296"/>
          </a:xfrm>
          <a:prstGeom prst="rect">
            <a:avLst>
              <a:gd name="adj" fmla="val 111111"/>
            </a:avLst>
          </a:prstGeom>
          <a:solidFill>
            <a:srgbClr val="0FBAA6"/>
          </a:solidFill>
          <a:ln w="10160">
            <a:solidFill>
              <a:srgbClr val="0FBAA6">
                <a:alpha val="0"/>
              </a:srgbClr>
            </a:solidFill>
            <a:prstDash val="solid"/>
          </a:ln>
        </p:spPr>
      </p:sp>
      <p:sp>
        <p:nvSpPr>
          <p:cNvPr id="3" name="Text 1"/>
          <p:cNvSpPr txBox="1"/>
          <p:nvPr/>
        </p:nvSpPr>
        <p:spPr>
          <a:xfrm>
            <a:off x="612648" y="804672"/>
            <a:ext cx="4389120" cy="256032"/>
          </a:xfrm>
          <a:prstGeom prst="rect">
            <a:avLst/>
          </a:prstGeom>
          <a:noFill/>
          <a:ln/>
        </p:spPr>
        <p:txBody>
          <a:bodyPr wrap="square" lIns="0" tIns="0" rIns="0" bIns="0" rtlCol="0" anchor="ctr">
            <a:normAutofit/>
          </a:bodyPr>
          <a:lstStyle/>
          <a:p>
            <a:pPr algn="l" indent="0" marL="0">
              <a:buNone/>
            </a:pPr>
            <a:r>
              <a:rPr lang="en-US" sz="1000" b="1" spc="230" kern="0" dirty="0">
                <a:solidFill>
                  <a:srgbClr val="9FB5D2"/>
                </a:solidFill>
                <a:latin typeface="Inter" pitchFamily="34" charset="0"/>
                <a:ea typeface="Inter" pitchFamily="34" charset="-122"/>
                <a:cs typeface="Inter" pitchFamily="34" charset="-120"/>
              </a:rPr>
              <a:t>DEVSECOPS CAPSTONE</a:t>
            </a:r>
            <a:endParaRPr lang="en-US" sz="1000" dirty="0"/>
          </a:p>
        </p:txBody>
      </p:sp>
      <p:sp>
        <p:nvSpPr>
          <p:cNvPr id="4" name="Text 2"/>
          <p:cNvSpPr txBox="1"/>
          <p:nvPr/>
        </p:nvSpPr>
        <p:spPr>
          <a:xfrm>
            <a:off x="603504" y="1353312"/>
            <a:ext cx="6583680" cy="731520"/>
          </a:xfrm>
          <a:prstGeom prst="rect">
            <a:avLst/>
          </a:prstGeom>
          <a:noFill/>
          <a:ln/>
        </p:spPr>
        <p:txBody>
          <a:bodyPr wrap="square" lIns="0" tIns="0" rIns="0" bIns="0" rtlCol="0" anchor="ctr">
            <a:normAutofit/>
          </a:bodyPr>
          <a:lstStyle/>
          <a:p>
            <a:pPr algn="l" indent="0" marL="0">
              <a:buNone/>
            </a:pPr>
            <a:r>
              <a:rPr lang="en-US" sz="4000" b="1" dirty="0">
                <a:solidFill>
                  <a:srgbClr val="FFFFFF"/>
                </a:solidFill>
                <a:latin typeface="Inter Display" pitchFamily="34" charset="0"/>
                <a:ea typeface="Inter Display" pitchFamily="34" charset="-122"/>
                <a:cs typeface="Inter Display" pitchFamily="34" charset="-120"/>
              </a:rPr>
              <a:t>TaskBoard</a:t>
            </a:r>
            <a:endParaRPr lang="en-US" sz="4000" dirty="0"/>
          </a:p>
        </p:txBody>
      </p:sp>
      <p:sp>
        <p:nvSpPr>
          <p:cNvPr id="5" name="Text 3"/>
          <p:cNvSpPr txBox="1"/>
          <p:nvPr/>
        </p:nvSpPr>
        <p:spPr>
          <a:xfrm>
            <a:off x="630936" y="2176272"/>
            <a:ext cx="6309360" cy="548640"/>
          </a:xfrm>
          <a:prstGeom prst="rect">
            <a:avLst/>
          </a:prstGeom>
          <a:noFill/>
          <a:ln/>
        </p:spPr>
        <p:txBody>
          <a:bodyPr wrap="square" lIns="0" tIns="0" rIns="0" bIns="0" rtlCol="0" anchor="ctr">
            <a:normAutofit/>
          </a:bodyPr>
          <a:lstStyle/>
          <a:p>
            <a:pPr algn="l" indent="0" marL="0">
              <a:buNone/>
            </a:pPr>
            <a:r>
              <a:rPr lang="en-US" sz="1800" dirty="0">
                <a:solidFill>
                  <a:srgbClr val="D1DDED"/>
                </a:solidFill>
                <a:latin typeface="Inter" pitchFamily="34" charset="0"/>
                <a:ea typeface="Inter" pitchFamily="34" charset="-122"/>
                <a:cs typeface="Inter" pitchFamily="34" charset="-120"/>
              </a:rPr>
              <a:t>From source code to a monitored Kubernetes workload</a:t>
            </a:r>
            <a:endParaRPr lang="en-US" sz="1800" dirty="0"/>
          </a:p>
        </p:txBody>
      </p:sp>
      <p:sp>
        <p:nvSpPr>
          <p:cNvPr id="6" name="Text 4"/>
          <p:cNvSpPr txBox="1"/>
          <p:nvPr/>
        </p:nvSpPr>
        <p:spPr>
          <a:xfrm>
            <a:off x="630936" y="2889504"/>
            <a:ext cx="5943600" cy="548640"/>
          </a:xfrm>
          <a:prstGeom prst="rect">
            <a:avLst/>
          </a:prstGeom>
          <a:noFill/>
          <a:ln/>
        </p:spPr>
        <p:txBody>
          <a:bodyPr wrap="square" lIns="0" tIns="0" rIns="0" bIns="0" rtlCol="0" anchor="t">
            <a:normAutofit/>
          </a:bodyPr>
          <a:lstStyle/>
          <a:p>
            <a:pPr algn="l" indent="0" marL="0">
              <a:buNone/>
            </a:pPr>
            <a:r>
              <a:rPr lang="en-US" sz="1200" dirty="0">
                <a:solidFill>
                  <a:srgbClr val="A7B8CE"/>
                </a:solidFill>
                <a:latin typeface="Inter" pitchFamily="34" charset="0"/>
                <a:ea typeface="Inter" pitchFamily="34" charset="-122"/>
                <a:cs typeface="Inter" pitchFamily="34" charset="-120"/>
              </a:rPr>
              <a:t>Application  ·  CI/CD  ·  Image security  ·  Infrastructure as code  ·  Observability</a:t>
            </a:r>
            <a:endParaRPr lang="en-US" sz="1200" dirty="0"/>
          </a:p>
        </p:txBody>
      </p:sp>
      <p:sp>
        <p:nvSpPr>
          <p:cNvPr id="7" name="Shape 5"/>
          <p:cNvSpPr/>
          <p:nvPr/>
        </p:nvSpPr>
        <p:spPr>
          <a:xfrm>
            <a:off x="630936" y="3794760"/>
            <a:ext cx="1600200" cy="256032"/>
          </a:xfrm>
          <a:prstGeom prst="roundRect">
            <a:avLst>
              <a:gd name="adj" fmla="val 35714"/>
            </a:avLst>
          </a:prstGeom>
          <a:solidFill>
            <a:srgbClr val="183E4A"/>
          </a:solidFill>
          <a:ln w="10160">
            <a:solidFill>
              <a:srgbClr val="183E4A">
                <a:alpha val="0"/>
              </a:srgbClr>
            </a:solidFill>
            <a:prstDash val="solid"/>
          </a:ln>
        </p:spPr>
      </p:sp>
      <p:sp>
        <p:nvSpPr>
          <p:cNvPr id="8" name="Text 6"/>
          <p:cNvSpPr txBox="1"/>
          <p:nvPr/>
        </p:nvSpPr>
        <p:spPr>
          <a:xfrm>
            <a:off x="713232" y="3808476"/>
            <a:ext cx="143560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0FBAA6"/>
                </a:solidFill>
                <a:latin typeface="Inter" pitchFamily="34" charset="0"/>
                <a:ea typeface="Inter" pitchFamily="34" charset="-122"/>
                <a:cs typeface="Inter" pitchFamily="34" charset="-120"/>
              </a:rPr>
              <a:t>PROJECT WALKTHROUGH</a:t>
            </a:r>
            <a:endParaRPr lang="en-US" sz="770" dirty="0"/>
          </a:p>
        </p:txBody>
      </p:sp>
      <p:sp>
        <p:nvSpPr>
          <p:cNvPr id="9" name="Text 7">
            <a:hlinkClick r:id="rId1" tooltip=""/>
          </p:cNvPr>
          <p:cNvSpPr txBox="1"/>
          <p:nvPr/>
        </p:nvSpPr>
        <p:spPr>
          <a:xfrm>
            <a:off x="630936" y="5989320"/>
            <a:ext cx="6217920" cy="237744"/>
          </a:xfrm>
          <a:prstGeom prst="rect">
            <a:avLst/>
          </a:prstGeom>
          <a:noFill/>
          <a:ln/>
        </p:spPr>
        <p:txBody>
          <a:bodyPr wrap="square" lIns="0" tIns="0" rIns="0" bIns="0" rtlCol="0" anchor="ctr">
            <a:normAutofit/>
          </a:bodyPr>
          <a:lstStyle/>
          <a:p>
            <a:pPr algn="l" indent="0" marL="0">
              <a:buNone/>
            </a:pPr>
            <a:r>
              <a:rPr lang="en-US" sz="920" u="sng" dirty="0">
                <a:solidFill>
                  <a:srgbClr val="9FB5D2"/>
                </a:solidFill>
                <a:uFill>
                  <a:solidFill>
                    <a:srgbClr val="9FB5D2"/>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Repository: github.com/ashu273k/DevOps-Final-Project</a:t>
            </a:r>
            <a:endParaRPr lang="en-US" sz="920" dirty="0"/>
          </a:p>
        </p:txBody>
      </p:sp>
      <p:sp>
        <p:nvSpPr>
          <p:cNvPr id="10" name="Text 8"/>
          <p:cNvSpPr txBox="1"/>
          <p:nvPr/>
        </p:nvSpPr>
        <p:spPr>
          <a:xfrm>
            <a:off x="630936" y="6309360"/>
            <a:ext cx="5120640" cy="182880"/>
          </a:xfrm>
          <a:prstGeom prst="rect">
            <a:avLst/>
          </a:prstGeom>
          <a:noFill/>
          <a:ln/>
        </p:spPr>
        <p:txBody>
          <a:bodyPr wrap="square" lIns="0" tIns="0" rIns="0" bIns="0" rtlCol="0" anchor="ctr">
            <a:normAutofit/>
          </a:bodyPr>
          <a:lstStyle/>
          <a:p>
            <a:pPr algn="l" indent="0" marL="0">
              <a:buNone/>
            </a:pPr>
            <a:r>
              <a:rPr lang="en-US" sz="830" dirty="0">
                <a:solidFill>
                  <a:srgbClr val="7F93AD"/>
                </a:solidFill>
                <a:latin typeface="Inter" pitchFamily="34" charset="0"/>
                <a:ea typeface="Inter" pitchFamily="34" charset="-122"/>
                <a:cs typeface="Inter" pitchFamily="34" charset="-120"/>
              </a:rPr>
              <a:t>Technical documentation + submission deck</a:t>
            </a:r>
            <a:endParaRPr lang="en-US" sz="830" dirty="0"/>
          </a:p>
        </p:txBody>
      </p:sp>
      <p:sp>
        <p:nvSpPr>
          <p:cNvPr id="11" name="Shape 9"/>
          <p:cNvSpPr/>
          <p:nvPr/>
        </p:nvSpPr>
        <p:spPr>
          <a:xfrm>
            <a:off x="7754112" y="1243584"/>
            <a:ext cx="0" cy="521208"/>
          </a:xfrm>
          <a:prstGeom prst="line">
            <a:avLst/>
          </a:prstGeom>
          <a:noFill/>
          <a:ln w="17780">
            <a:solidFill>
              <a:srgbClr val="3C536E"/>
            </a:solidFill>
            <a:prstDash val="solid"/>
            <a:tailEnd type="none"/>
          </a:ln>
        </p:spPr>
      </p:sp>
      <p:sp>
        <p:nvSpPr>
          <p:cNvPr id="12" name="Shape 10"/>
          <p:cNvSpPr/>
          <p:nvPr/>
        </p:nvSpPr>
        <p:spPr>
          <a:xfrm>
            <a:off x="7571232" y="758952"/>
            <a:ext cx="365760" cy="365760"/>
          </a:xfrm>
          <a:prstGeom prst="ellipse">
            <a:avLst/>
          </a:prstGeom>
          <a:solidFill>
            <a:srgbClr val="8467E8"/>
          </a:solidFill>
          <a:ln w="12700">
            <a:solidFill>
              <a:srgbClr val="8467E8">
                <a:alpha val="0"/>
              </a:srgbClr>
            </a:solidFill>
            <a:prstDash val="solid"/>
          </a:ln>
        </p:spPr>
      </p:sp>
      <p:sp>
        <p:nvSpPr>
          <p:cNvPr id="13" name="Text 11"/>
          <p:cNvSpPr txBox="1"/>
          <p:nvPr/>
        </p:nvSpPr>
        <p:spPr>
          <a:xfrm>
            <a:off x="7571232" y="777240"/>
            <a:ext cx="365760"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Inter" pitchFamily="34" charset="0"/>
                <a:ea typeface="Inter" pitchFamily="34" charset="-122"/>
                <a:cs typeface="Inter" pitchFamily="34" charset="-120"/>
              </a:rPr>
              <a:t>01</a:t>
            </a:r>
            <a:endParaRPr lang="en-US" sz="800" dirty="0"/>
          </a:p>
        </p:txBody>
      </p:sp>
      <p:sp>
        <p:nvSpPr>
          <p:cNvPr id="14" name="Text 12"/>
          <p:cNvSpPr txBox="1"/>
          <p:nvPr/>
        </p:nvSpPr>
        <p:spPr>
          <a:xfrm>
            <a:off x="8156448" y="749808"/>
            <a:ext cx="2651760" cy="228600"/>
          </a:xfrm>
          <a:prstGeom prst="rect">
            <a:avLst/>
          </a:prstGeom>
          <a:noFill/>
          <a:ln/>
        </p:spPr>
        <p:txBody>
          <a:bodyPr wrap="square" lIns="0" tIns="0" rIns="0" bIns="0" rtlCol="0" anchor="ctr">
            <a:normAutofit/>
          </a:bodyPr>
          <a:lstStyle/>
          <a:p>
            <a:pPr algn="l" indent="0" marL="0">
              <a:buNone/>
            </a:pPr>
            <a:r>
              <a:rPr lang="en-US" sz="1100" b="1" spc="120" kern="0" dirty="0">
                <a:solidFill>
                  <a:srgbClr val="FFFFFF"/>
                </a:solidFill>
                <a:latin typeface="Inter" pitchFamily="34" charset="0"/>
                <a:ea typeface="Inter" pitchFamily="34" charset="-122"/>
                <a:cs typeface="Inter" pitchFamily="34" charset="-120"/>
              </a:rPr>
              <a:t>PLAN</a:t>
            </a:r>
            <a:endParaRPr lang="en-US" sz="1100" dirty="0"/>
          </a:p>
        </p:txBody>
      </p:sp>
      <p:sp>
        <p:nvSpPr>
          <p:cNvPr id="15" name="Text 13"/>
          <p:cNvSpPr txBox="1"/>
          <p:nvPr/>
        </p:nvSpPr>
        <p:spPr>
          <a:xfrm>
            <a:off x="8156448" y="1051560"/>
            <a:ext cx="3291840" cy="237744"/>
          </a:xfrm>
          <a:prstGeom prst="rect">
            <a:avLst/>
          </a:prstGeom>
          <a:noFill/>
          <a:ln/>
        </p:spPr>
        <p:txBody>
          <a:bodyPr wrap="square" lIns="0" tIns="0" rIns="0" bIns="0" rtlCol="0" anchor="ctr">
            <a:normAutofit/>
          </a:bodyPr>
          <a:lstStyle/>
          <a:p>
            <a:pPr algn="l" indent="0" marL="0">
              <a:buNone/>
            </a:pPr>
            <a:r>
              <a:rPr lang="en-US" sz="1000" dirty="0">
                <a:solidFill>
                  <a:srgbClr val="AABBD0"/>
                </a:solidFill>
                <a:latin typeface="Inter" pitchFamily="34" charset="0"/>
                <a:ea typeface="Inter" pitchFamily="34" charset="-122"/>
                <a:cs typeface="Inter" pitchFamily="34" charset="-120"/>
              </a:rPr>
              <a:t>Terraform</a:t>
            </a:r>
            <a:endParaRPr lang="en-US" sz="1000" dirty="0"/>
          </a:p>
        </p:txBody>
      </p:sp>
      <p:sp>
        <p:nvSpPr>
          <p:cNvPr id="16" name="Shape 14"/>
          <p:cNvSpPr/>
          <p:nvPr/>
        </p:nvSpPr>
        <p:spPr>
          <a:xfrm>
            <a:off x="7754112" y="2295144"/>
            <a:ext cx="0" cy="521208"/>
          </a:xfrm>
          <a:prstGeom prst="line">
            <a:avLst/>
          </a:prstGeom>
          <a:noFill/>
          <a:ln w="17780">
            <a:solidFill>
              <a:srgbClr val="3C536E"/>
            </a:solidFill>
            <a:prstDash val="solid"/>
            <a:tailEnd type="none"/>
          </a:ln>
        </p:spPr>
      </p:sp>
      <p:sp>
        <p:nvSpPr>
          <p:cNvPr id="17" name="Shape 15"/>
          <p:cNvSpPr/>
          <p:nvPr/>
        </p:nvSpPr>
        <p:spPr>
          <a:xfrm>
            <a:off x="7571232" y="1810512"/>
            <a:ext cx="365760" cy="365760"/>
          </a:xfrm>
          <a:prstGeom prst="ellipse">
            <a:avLst/>
          </a:prstGeom>
          <a:solidFill>
            <a:srgbClr val="3478F6"/>
          </a:solidFill>
          <a:ln w="12700">
            <a:solidFill>
              <a:srgbClr val="3478F6">
                <a:alpha val="0"/>
              </a:srgbClr>
            </a:solidFill>
            <a:prstDash val="solid"/>
          </a:ln>
        </p:spPr>
      </p:sp>
      <p:sp>
        <p:nvSpPr>
          <p:cNvPr id="18" name="Text 16"/>
          <p:cNvSpPr txBox="1"/>
          <p:nvPr/>
        </p:nvSpPr>
        <p:spPr>
          <a:xfrm>
            <a:off x="7571232" y="1828800"/>
            <a:ext cx="365760"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Inter" pitchFamily="34" charset="0"/>
                <a:ea typeface="Inter" pitchFamily="34" charset="-122"/>
                <a:cs typeface="Inter" pitchFamily="34" charset="-120"/>
              </a:rPr>
              <a:t>02</a:t>
            </a:r>
            <a:endParaRPr lang="en-US" sz="800" dirty="0"/>
          </a:p>
        </p:txBody>
      </p:sp>
      <p:sp>
        <p:nvSpPr>
          <p:cNvPr id="19" name="Text 17"/>
          <p:cNvSpPr txBox="1"/>
          <p:nvPr/>
        </p:nvSpPr>
        <p:spPr>
          <a:xfrm>
            <a:off x="8156448" y="1801368"/>
            <a:ext cx="2651760" cy="228600"/>
          </a:xfrm>
          <a:prstGeom prst="rect">
            <a:avLst/>
          </a:prstGeom>
          <a:noFill/>
          <a:ln/>
        </p:spPr>
        <p:txBody>
          <a:bodyPr wrap="square" lIns="0" tIns="0" rIns="0" bIns="0" rtlCol="0" anchor="ctr">
            <a:normAutofit/>
          </a:bodyPr>
          <a:lstStyle/>
          <a:p>
            <a:pPr algn="l" indent="0" marL="0">
              <a:buNone/>
            </a:pPr>
            <a:r>
              <a:rPr lang="en-US" sz="1100" b="1" spc="120" kern="0" dirty="0">
                <a:solidFill>
                  <a:srgbClr val="FFFFFF"/>
                </a:solidFill>
                <a:latin typeface="Inter" pitchFamily="34" charset="0"/>
                <a:ea typeface="Inter" pitchFamily="34" charset="-122"/>
                <a:cs typeface="Inter" pitchFamily="34" charset="-120"/>
              </a:rPr>
              <a:t>BUILD</a:t>
            </a:r>
            <a:endParaRPr lang="en-US" sz="1100" dirty="0"/>
          </a:p>
        </p:txBody>
      </p:sp>
      <p:sp>
        <p:nvSpPr>
          <p:cNvPr id="20" name="Text 18"/>
          <p:cNvSpPr txBox="1"/>
          <p:nvPr/>
        </p:nvSpPr>
        <p:spPr>
          <a:xfrm>
            <a:off x="8156448" y="2103120"/>
            <a:ext cx="3291840" cy="237744"/>
          </a:xfrm>
          <a:prstGeom prst="rect">
            <a:avLst/>
          </a:prstGeom>
          <a:noFill/>
          <a:ln/>
        </p:spPr>
        <p:txBody>
          <a:bodyPr wrap="square" lIns="0" tIns="0" rIns="0" bIns="0" rtlCol="0" anchor="ctr">
            <a:normAutofit/>
          </a:bodyPr>
          <a:lstStyle/>
          <a:p>
            <a:pPr algn="l" indent="0" marL="0">
              <a:buNone/>
            </a:pPr>
            <a:r>
              <a:rPr lang="en-US" sz="1000" dirty="0">
                <a:solidFill>
                  <a:srgbClr val="AABBD0"/>
                </a:solidFill>
                <a:latin typeface="Inter" pitchFamily="34" charset="0"/>
                <a:ea typeface="Inter" pitchFamily="34" charset="-122"/>
                <a:cs typeface="Inter" pitchFamily="34" charset="-120"/>
              </a:rPr>
              <a:t>GitHub Actions</a:t>
            </a:r>
            <a:endParaRPr lang="en-US" sz="1000" dirty="0"/>
          </a:p>
        </p:txBody>
      </p:sp>
      <p:sp>
        <p:nvSpPr>
          <p:cNvPr id="21" name="Shape 19"/>
          <p:cNvSpPr/>
          <p:nvPr/>
        </p:nvSpPr>
        <p:spPr>
          <a:xfrm>
            <a:off x="7754112" y="3346704"/>
            <a:ext cx="0" cy="521208"/>
          </a:xfrm>
          <a:prstGeom prst="line">
            <a:avLst/>
          </a:prstGeom>
          <a:noFill/>
          <a:ln w="17780">
            <a:solidFill>
              <a:srgbClr val="3C536E"/>
            </a:solidFill>
            <a:prstDash val="solid"/>
            <a:tailEnd type="none"/>
          </a:ln>
        </p:spPr>
      </p:sp>
      <p:sp>
        <p:nvSpPr>
          <p:cNvPr id="22" name="Shape 20"/>
          <p:cNvSpPr/>
          <p:nvPr/>
        </p:nvSpPr>
        <p:spPr>
          <a:xfrm>
            <a:off x="7571232" y="2862072"/>
            <a:ext cx="365760" cy="365760"/>
          </a:xfrm>
          <a:prstGeom prst="ellipse">
            <a:avLst/>
          </a:prstGeom>
          <a:solidFill>
            <a:srgbClr val="F28C52"/>
          </a:solidFill>
          <a:ln w="12700">
            <a:solidFill>
              <a:srgbClr val="F28C52">
                <a:alpha val="0"/>
              </a:srgbClr>
            </a:solidFill>
            <a:prstDash val="solid"/>
          </a:ln>
        </p:spPr>
      </p:sp>
      <p:sp>
        <p:nvSpPr>
          <p:cNvPr id="23" name="Text 21"/>
          <p:cNvSpPr txBox="1"/>
          <p:nvPr/>
        </p:nvSpPr>
        <p:spPr>
          <a:xfrm>
            <a:off x="7571232" y="2880360"/>
            <a:ext cx="365760"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Inter" pitchFamily="34" charset="0"/>
                <a:ea typeface="Inter" pitchFamily="34" charset="-122"/>
                <a:cs typeface="Inter" pitchFamily="34" charset="-120"/>
              </a:rPr>
              <a:t>03</a:t>
            </a:r>
            <a:endParaRPr lang="en-US" sz="800" dirty="0"/>
          </a:p>
        </p:txBody>
      </p:sp>
      <p:sp>
        <p:nvSpPr>
          <p:cNvPr id="24" name="Text 22"/>
          <p:cNvSpPr txBox="1"/>
          <p:nvPr/>
        </p:nvSpPr>
        <p:spPr>
          <a:xfrm>
            <a:off x="8156448" y="2852928"/>
            <a:ext cx="2651760" cy="228600"/>
          </a:xfrm>
          <a:prstGeom prst="rect">
            <a:avLst/>
          </a:prstGeom>
          <a:noFill/>
          <a:ln/>
        </p:spPr>
        <p:txBody>
          <a:bodyPr wrap="square" lIns="0" tIns="0" rIns="0" bIns="0" rtlCol="0" anchor="ctr">
            <a:normAutofit/>
          </a:bodyPr>
          <a:lstStyle/>
          <a:p>
            <a:pPr algn="l" indent="0" marL="0">
              <a:buNone/>
            </a:pPr>
            <a:r>
              <a:rPr lang="en-US" sz="1100" b="1" spc="120" kern="0" dirty="0">
                <a:solidFill>
                  <a:srgbClr val="FFFFFF"/>
                </a:solidFill>
                <a:latin typeface="Inter" pitchFamily="34" charset="0"/>
                <a:ea typeface="Inter" pitchFamily="34" charset="-122"/>
                <a:cs typeface="Inter" pitchFamily="34" charset="-120"/>
              </a:rPr>
              <a:t>SCAN</a:t>
            </a:r>
            <a:endParaRPr lang="en-US" sz="1100" dirty="0"/>
          </a:p>
        </p:txBody>
      </p:sp>
      <p:sp>
        <p:nvSpPr>
          <p:cNvPr id="25" name="Text 23"/>
          <p:cNvSpPr txBox="1"/>
          <p:nvPr/>
        </p:nvSpPr>
        <p:spPr>
          <a:xfrm>
            <a:off x="8156448" y="3154680"/>
            <a:ext cx="3291840" cy="237744"/>
          </a:xfrm>
          <a:prstGeom prst="rect">
            <a:avLst/>
          </a:prstGeom>
          <a:noFill/>
          <a:ln/>
        </p:spPr>
        <p:txBody>
          <a:bodyPr wrap="square" lIns="0" tIns="0" rIns="0" bIns="0" rtlCol="0" anchor="ctr">
            <a:normAutofit/>
          </a:bodyPr>
          <a:lstStyle/>
          <a:p>
            <a:pPr algn="l" indent="0" marL="0">
              <a:buNone/>
            </a:pPr>
            <a:r>
              <a:rPr lang="en-US" sz="1000" dirty="0">
                <a:solidFill>
                  <a:srgbClr val="AABBD0"/>
                </a:solidFill>
                <a:latin typeface="Inter" pitchFamily="34" charset="0"/>
                <a:ea typeface="Inter" pitchFamily="34" charset="-122"/>
                <a:cs typeface="Inter" pitchFamily="34" charset="-120"/>
              </a:rPr>
              <a:t>Trivy gate</a:t>
            </a:r>
            <a:endParaRPr lang="en-US" sz="1000" dirty="0"/>
          </a:p>
        </p:txBody>
      </p:sp>
      <p:sp>
        <p:nvSpPr>
          <p:cNvPr id="26" name="Shape 24"/>
          <p:cNvSpPr/>
          <p:nvPr/>
        </p:nvSpPr>
        <p:spPr>
          <a:xfrm>
            <a:off x="7754112" y="4398264"/>
            <a:ext cx="0" cy="521208"/>
          </a:xfrm>
          <a:prstGeom prst="line">
            <a:avLst/>
          </a:prstGeom>
          <a:noFill/>
          <a:ln w="17780">
            <a:solidFill>
              <a:srgbClr val="3C536E"/>
            </a:solidFill>
            <a:prstDash val="solid"/>
            <a:tailEnd type="none"/>
          </a:ln>
        </p:spPr>
      </p:sp>
      <p:sp>
        <p:nvSpPr>
          <p:cNvPr id="27" name="Shape 25"/>
          <p:cNvSpPr/>
          <p:nvPr/>
        </p:nvSpPr>
        <p:spPr>
          <a:xfrm>
            <a:off x="7571232" y="3913632"/>
            <a:ext cx="365760" cy="365760"/>
          </a:xfrm>
          <a:prstGeom prst="ellipse">
            <a:avLst/>
          </a:prstGeom>
          <a:solidFill>
            <a:srgbClr val="0FBAA6"/>
          </a:solidFill>
          <a:ln w="12700">
            <a:solidFill>
              <a:srgbClr val="0FBAA6">
                <a:alpha val="0"/>
              </a:srgbClr>
            </a:solidFill>
            <a:prstDash val="solid"/>
          </a:ln>
        </p:spPr>
      </p:sp>
      <p:sp>
        <p:nvSpPr>
          <p:cNvPr id="28" name="Text 26"/>
          <p:cNvSpPr txBox="1"/>
          <p:nvPr/>
        </p:nvSpPr>
        <p:spPr>
          <a:xfrm>
            <a:off x="7571232" y="3931920"/>
            <a:ext cx="365760"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Inter" pitchFamily="34" charset="0"/>
                <a:ea typeface="Inter" pitchFamily="34" charset="-122"/>
                <a:cs typeface="Inter" pitchFamily="34" charset="-120"/>
              </a:rPr>
              <a:t>04</a:t>
            </a:r>
            <a:endParaRPr lang="en-US" sz="800" dirty="0"/>
          </a:p>
        </p:txBody>
      </p:sp>
      <p:sp>
        <p:nvSpPr>
          <p:cNvPr id="29" name="Text 27"/>
          <p:cNvSpPr txBox="1"/>
          <p:nvPr/>
        </p:nvSpPr>
        <p:spPr>
          <a:xfrm>
            <a:off x="8156448" y="3904488"/>
            <a:ext cx="2651760" cy="228600"/>
          </a:xfrm>
          <a:prstGeom prst="rect">
            <a:avLst/>
          </a:prstGeom>
          <a:noFill/>
          <a:ln/>
        </p:spPr>
        <p:txBody>
          <a:bodyPr wrap="square" lIns="0" tIns="0" rIns="0" bIns="0" rtlCol="0" anchor="ctr">
            <a:normAutofit/>
          </a:bodyPr>
          <a:lstStyle/>
          <a:p>
            <a:pPr algn="l" indent="0" marL="0">
              <a:buNone/>
            </a:pPr>
            <a:r>
              <a:rPr lang="en-US" sz="1100" b="1" spc="120" kern="0" dirty="0">
                <a:solidFill>
                  <a:srgbClr val="FFFFFF"/>
                </a:solidFill>
                <a:latin typeface="Inter" pitchFamily="34" charset="0"/>
                <a:ea typeface="Inter" pitchFamily="34" charset="-122"/>
                <a:cs typeface="Inter" pitchFamily="34" charset="-120"/>
              </a:rPr>
              <a:t>SHIP</a:t>
            </a:r>
            <a:endParaRPr lang="en-US" sz="1100" dirty="0"/>
          </a:p>
        </p:txBody>
      </p:sp>
      <p:sp>
        <p:nvSpPr>
          <p:cNvPr id="30" name="Text 28"/>
          <p:cNvSpPr txBox="1"/>
          <p:nvPr/>
        </p:nvSpPr>
        <p:spPr>
          <a:xfrm>
            <a:off x="8156448" y="4206240"/>
            <a:ext cx="3291840" cy="237744"/>
          </a:xfrm>
          <a:prstGeom prst="rect">
            <a:avLst/>
          </a:prstGeom>
          <a:noFill/>
          <a:ln/>
        </p:spPr>
        <p:txBody>
          <a:bodyPr wrap="square" lIns="0" tIns="0" rIns="0" bIns="0" rtlCol="0" anchor="ctr">
            <a:normAutofit/>
          </a:bodyPr>
          <a:lstStyle/>
          <a:p>
            <a:pPr algn="l" indent="0" marL="0">
              <a:buNone/>
            </a:pPr>
            <a:r>
              <a:rPr lang="en-US" sz="1000" dirty="0">
                <a:solidFill>
                  <a:srgbClr val="AABBD0"/>
                </a:solidFill>
                <a:latin typeface="Inter" pitchFamily="34" charset="0"/>
                <a:ea typeface="Inter" pitchFamily="34" charset="-122"/>
                <a:cs typeface="Inter" pitchFamily="34" charset="-120"/>
              </a:rPr>
              <a:t>GHCR + Helm</a:t>
            </a:r>
            <a:endParaRPr lang="en-US" sz="1000" dirty="0"/>
          </a:p>
        </p:txBody>
      </p:sp>
      <p:sp>
        <p:nvSpPr>
          <p:cNvPr id="31" name="Shape 29"/>
          <p:cNvSpPr/>
          <p:nvPr/>
        </p:nvSpPr>
        <p:spPr>
          <a:xfrm>
            <a:off x="7571232" y="4965192"/>
            <a:ext cx="365760" cy="365760"/>
          </a:xfrm>
          <a:prstGeom prst="ellipse">
            <a:avLst/>
          </a:prstGeom>
          <a:solidFill>
            <a:srgbClr val="2CA779"/>
          </a:solidFill>
          <a:ln w="12700">
            <a:solidFill>
              <a:srgbClr val="2CA779">
                <a:alpha val="0"/>
              </a:srgbClr>
            </a:solidFill>
            <a:prstDash val="solid"/>
          </a:ln>
        </p:spPr>
      </p:sp>
      <p:sp>
        <p:nvSpPr>
          <p:cNvPr id="32" name="Text 30"/>
          <p:cNvSpPr txBox="1"/>
          <p:nvPr/>
        </p:nvSpPr>
        <p:spPr>
          <a:xfrm>
            <a:off x="7571232" y="4983480"/>
            <a:ext cx="365760"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Inter" pitchFamily="34" charset="0"/>
                <a:ea typeface="Inter" pitchFamily="34" charset="-122"/>
                <a:cs typeface="Inter" pitchFamily="34" charset="-120"/>
              </a:rPr>
              <a:t>05</a:t>
            </a:r>
            <a:endParaRPr lang="en-US" sz="800" dirty="0"/>
          </a:p>
        </p:txBody>
      </p:sp>
      <p:sp>
        <p:nvSpPr>
          <p:cNvPr id="33" name="Text 31"/>
          <p:cNvSpPr txBox="1"/>
          <p:nvPr/>
        </p:nvSpPr>
        <p:spPr>
          <a:xfrm>
            <a:off x="8156448" y="4956048"/>
            <a:ext cx="2651760" cy="228600"/>
          </a:xfrm>
          <a:prstGeom prst="rect">
            <a:avLst/>
          </a:prstGeom>
          <a:noFill/>
          <a:ln/>
        </p:spPr>
        <p:txBody>
          <a:bodyPr wrap="square" lIns="0" tIns="0" rIns="0" bIns="0" rtlCol="0" anchor="ctr">
            <a:normAutofit/>
          </a:bodyPr>
          <a:lstStyle/>
          <a:p>
            <a:pPr algn="l" indent="0" marL="0">
              <a:buNone/>
            </a:pPr>
            <a:r>
              <a:rPr lang="en-US" sz="1100" b="1" spc="120" kern="0" dirty="0">
                <a:solidFill>
                  <a:srgbClr val="FFFFFF"/>
                </a:solidFill>
                <a:latin typeface="Inter" pitchFamily="34" charset="0"/>
                <a:ea typeface="Inter" pitchFamily="34" charset="-122"/>
                <a:cs typeface="Inter" pitchFamily="34" charset="-120"/>
              </a:rPr>
              <a:t>OBSERVE</a:t>
            </a:r>
            <a:endParaRPr lang="en-US" sz="1100" dirty="0"/>
          </a:p>
        </p:txBody>
      </p:sp>
      <p:sp>
        <p:nvSpPr>
          <p:cNvPr id="34" name="Text 32"/>
          <p:cNvSpPr txBox="1"/>
          <p:nvPr/>
        </p:nvSpPr>
        <p:spPr>
          <a:xfrm>
            <a:off x="8156448" y="5257800"/>
            <a:ext cx="3291840" cy="237744"/>
          </a:xfrm>
          <a:prstGeom prst="rect">
            <a:avLst/>
          </a:prstGeom>
          <a:noFill/>
          <a:ln/>
        </p:spPr>
        <p:txBody>
          <a:bodyPr wrap="square" lIns="0" tIns="0" rIns="0" bIns="0" rtlCol="0" anchor="ctr">
            <a:normAutofit/>
          </a:bodyPr>
          <a:lstStyle/>
          <a:p>
            <a:pPr algn="l" indent="0" marL="0">
              <a:buNone/>
            </a:pPr>
            <a:r>
              <a:rPr lang="en-US" sz="1000" dirty="0">
                <a:solidFill>
                  <a:srgbClr val="AABBD0"/>
                </a:solidFill>
                <a:latin typeface="Inter" pitchFamily="34" charset="0"/>
                <a:ea typeface="Inter" pitchFamily="34" charset="-122"/>
                <a:cs typeface="Inter" pitchFamily="34" charset="-120"/>
              </a:rPr>
              <a:t>Prometheus / Grafana</a:t>
            </a:r>
            <a:endParaRPr lang="en-US" sz="1000" dirty="0"/>
          </a:p>
        </p:txBody>
      </p:sp>
      <p:sp>
        <p:nvSpPr>
          <p:cNvPr id="35" name="Text 33"/>
          <p:cNvSpPr txBox="1"/>
          <p:nvPr/>
        </p:nvSpPr>
        <p:spPr>
          <a:xfrm>
            <a:off x="7571232" y="6281928"/>
            <a:ext cx="4023360" cy="164592"/>
          </a:xfrm>
          <a:prstGeom prst="rect">
            <a:avLst/>
          </a:prstGeom>
          <a:noFill/>
          <a:ln/>
        </p:spPr>
        <p:txBody>
          <a:bodyPr wrap="square" lIns="0" tIns="0" rIns="0" bIns="0" rtlCol="0" anchor="ctr">
            <a:normAutofit/>
          </a:bodyPr>
          <a:lstStyle/>
          <a:p>
            <a:pPr algn="l" indent="0" marL="0">
              <a:buNone/>
            </a:pPr>
            <a:r>
              <a:rPr lang="en-US" sz="800" spc="100" kern="0" dirty="0">
                <a:solidFill>
                  <a:srgbClr val="7F93AD"/>
                </a:solidFill>
                <a:latin typeface="Inter" pitchFamily="34" charset="0"/>
                <a:ea typeface="Inter" pitchFamily="34" charset="-122"/>
                <a:cs typeface="Inter" pitchFamily="34" charset="-120"/>
              </a:rPr>
              <a:t>DOCUMENTATION DECK  |  OCTOBER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728216"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563624"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01  /  APPLICATION</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A small app, a complete delivery lifecycle</a:t>
            </a:r>
            <a:endParaRPr lang="en-US" sz="2400" dirty="0"/>
          </a:p>
        </p:txBody>
      </p:sp>
      <p:sp>
        <p:nvSpPr>
          <p:cNvPr id="5" name="Text 3"/>
          <p:cNvSpPr txBox="1"/>
          <p:nvPr/>
        </p:nvSpPr>
        <p:spPr>
          <a:xfrm>
            <a:off x="594360" y="1234440"/>
            <a:ext cx="10789920" cy="310896"/>
          </a:xfrm>
          <a:prstGeom prst="rect">
            <a:avLst/>
          </a:prstGeom>
          <a:noFill/>
          <a:ln/>
        </p:spPr>
        <p:txBody>
          <a:bodyPr wrap="square" lIns="0" tIns="0" rIns="0" bIns="0" rtlCol="0" anchor="ctr">
            <a:normAutofit/>
          </a:bodyPr>
          <a:lstStyle/>
          <a:p>
            <a:pPr algn="l" indent="0" marL="0">
              <a:buNone/>
            </a:pPr>
            <a:r>
              <a:rPr lang="en-US" sz="1400" dirty="0">
                <a:solidFill>
                  <a:srgbClr val="5E6B7C"/>
                </a:solidFill>
                <a:latin typeface="Inter" pitchFamily="34" charset="0"/>
                <a:ea typeface="Inter" pitchFamily="34" charset="-122"/>
                <a:cs typeface="Inter" pitchFamily="34" charset="-120"/>
              </a:rPr>
              <a:t>TaskBoard is the application used to demonstrate the platform—not the end goal by itself.</a:t>
            </a:r>
            <a:endParaRPr lang="en-US" sz="1400" dirty="0"/>
          </a:p>
        </p:txBody>
      </p:sp>
      <p:sp>
        <p:nvSpPr>
          <p:cNvPr id="6" name="Shape 4"/>
          <p:cNvSpPr/>
          <p:nvPr/>
        </p:nvSpPr>
        <p:spPr>
          <a:xfrm>
            <a:off x="603504" y="1783080"/>
            <a:ext cx="3456432" cy="1572768"/>
          </a:xfrm>
          <a:prstGeom prst="roundRect">
            <a:avLst>
              <a:gd name="adj" fmla="val 5814"/>
            </a:avLst>
          </a:prstGeom>
          <a:solidFill>
            <a:srgbClr val="FFFFFF"/>
          </a:solidFill>
          <a:ln w="10160">
            <a:solidFill>
              <a:srgbClr val="FFFFFF">
                <a:alpha val="0"/>
              </a:srgbClr>
            </a:solidFill>
            <a:prstDash val="solid"/>
          </a:ln>
        </p:spPr>
      </p:sp>
      <p:sp>
        <p:nvSpPr>
          <p:cNvPr id="7" name="Shape 5"/>
          <p:cNvSpPr/>
          <p:nvPr/>
        </p:nvSpPr>
        <p:spPr>
          <a:xfrm>
            <a:off x="603504" y="1783080"/>
            <a:ext cx="59436" cy="1572768"/>
          </a:xfrm>
          <a:prstGeom prst="rect">
            <a:avLst>
              <a:gd name="adj" fmla="val 153846"/>
            </a:avLst>
          </a:prstGeom>
          <a:solidFill>
            <a:srgbClr val="3478F6"/>
          </a:solidFill>
          <a:ln w="10160">
            <a:solidFill>
              <a:srgbClr val="3478F6">
                <a:alpha val="0"/>
              </a:srgbClr>
            </a:solidFill>
            <a:prstDash val="solid"/>
          </a:ln>
        </p:spPr>
      </p:sp>
      <p:sp>
        <p:nvSpPr>
          <p:cNvPr id="8" name="Shape 6"/>
          <p:cNvSpPr/>
          <p:nvPr/>
        </p:nvSpPr>
        <p:spPr>
          <a:xfrm>
            <a:off x="804672" y="1947672"/>
            <a:ext cx="868680" cy="256032"/>
          </a:xfrm>
          <a:prstGeom prst="roundRect">
            <a:avLst>
              <a:gd name="adj" fmla="val 35714"/>
            </a:avLst>
          </a:prstGeom>
          <a:solidFill>
            <a:srgbClr val="EAF1FF"/>
          </a:solidFill>
          <a:ln w="10160">
            <a:solidFill>
              <a:srgbClr val="EAF1FF">
                <a:alpha val="0"/>
              </a:srgbClr>
            </a:solidFill>
            <a:prstDash val="solid"/>
          </a:ln>
        </p:spPr>
      </p:sp>
      <p:sp>
        <p:nvSpPr>
          <p:cNvPr id="9" name="Text 7"/>
          <p:cNvSpPr txBox="1"/>
          <p:nvPr/>
        </p:nvSpPr>
        <p:spPr>
          <a:xfrm>
            <a:off x="886968" y="1961388"/>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WEB UI</a:t>
            </a:r>
            <a:endParaRPr lang="en-US" sz="770" dirty="0"/>
          </a:p>
        </p:txBody>
      </p:sp>
      <p:sp>
        <p:nvSpPr>
          <p:cNvPr id="10" name="Text 8"/>
          <p:cNvSpPr txBox="1"/>
          <p:nvPr/>
        </p:nvSpPr>
        <p:spPr>
          <a:xfrm>
            <a:off x="804672" y="2221992"/>
            <a:ext cx="307238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Frontend experience</a:t>
            </a:r>
            <a:endParaRPr lang="en-US" sz="1400" dirty="0"/>
          </a:p>
        </p:txBody>
      </p:sp>
      <p:sp>
        <p:nvSpPr>
          <p:cNvPr id="11" name="Text 9"/>
          <p:cNvSpPr txBox="1"/>
          <p:nvPr/>
        </p:nvSpPr>
        <p:spPr>
          <a:xfrm>
            <a:off x="804672" y="2551176"/>
            <a:ext cx="3063240" cy="731520"/>
          </a:xfrm>
          <a:prstGeom prst="rect">
            <a:avLst/>
          </a:prstGeom>
          <a:noFill/>
          <a:ln/>
        </p:spPr>
        <p:txBody>
          <a:bodyPr wrap="square" lIns="0" tIns="0" rIns="0" bIns="0" rtlCol="0" anchor="t">
            <a:normAutofit/>
          </a:bodyPr>
          <a:lstStyle/>
          <a:p>
            <a:pPr algn="l" indent="0" marL="0">
              <a:buNone/>
            </a:pPr>
            <a:r>
              <a:rPr lang="en-US" sz="1090" dirty="0">
                <a:solidFill>
                  <a:srgbClr val="5E6B7C"/>
                </a:solidFill>
                <a:latin typeface="Inter" pitchFamily="34" charset="0"/>
                <a:ea typeface="Inter" pitchFamily="34" charset="-122"/>
                <a:cs typeface="Inter" pitchFamily="34" charset="-120"/>
              </a:rPr>
              <a:t>React + Vite UI served by Nginx. A task dashboard supports listing, searching and viewing task status.</a:t>
            </a:r>
            <a:endParaRPr lang="en-US" sz="1090" dirty="0"/>
          </a:p>
        </p:txBody>
      </p:sp>
      <p:sp>
        <p:nvSpPr>
          <p:cNvPr id="12" name="Shape 10"/>
          <p:cNvSpPr/>
          <p:nvPr/>
        </p:nvSpPr>
        <p:spPr>
          <a:xfrm>
            <a:off x="4361688" y="1783080"/>
            <a:ext cx="3456432" cy="1572768"/>
          </a:xfrm>
          <a:prstGeom prst="roundRect">
            <a:avLst>
              <a:gd name="adj" fmla="val 5814"/>
            </a:avLst>
          </a:prstGeom>
          <a:solidFill>
            <a:srgbClr val="FFFFFF"/>
          </a:solidFill>
          <a:ln w="10160">
            <a:solidFill>
              <a:srgbClr val="FFFFFF">
                <a:alpha val="0"/>
              </a:srgbClr>
            </a:solidFill>
            <a:prstDash val="solid"/>
          </a:ln>
        </p:spPr>
      </p:sp>
      <p:sp>
        <p:nvSpPr>
          <p:cNvPr id="13" name="Shape 11"/>
          <p:cNvSpPr/>
          <p:nvPr/>
        </p:nvSpPr>
        <p:spPr>
          <a:xfrm>
            <a:off x="4361688" y="1783080"/>
            <a:ext cx="59436" cy="1572768"/>
          </a:xfrm>
          <a:prstGeom prst="rect">
            <a:avLst>
              <a:gd name="adj" fmla="val 153846"/>
            </a:avLst>
          </a:prstGeom>
          <a:solidFill>
            <a:srgbClr val="0FBAA6"/>
          </a:solidFill>
          <a:ln w="10160">
            <a:solidFill>
              <a:srgbClr val="0FBAA6">
                <a:alpha val="0"/>
              </a:srgbClr>
            </a:solidFill>
            <a:prstDash val="solid"/>
          </a:ln>
        </p:spPr>
      </p:sp>
      <p:sp>
        <p:nvSpPr>
          <p:cNvPr id="14" name="Shape 12"/>
          <p:cNvSpPr/>
          <p:nvPr/>
        </p:nvSpPr>
        <p:spPr>
          <a:xfrm>
            <a:off x="4562856" y="1947672"/>
            <a:ext cx="868680" cy="256032"/>
          </a:xfrm>
          <a:prstGeom prst="roundRect">
            <a:avLst>
              <a:gd name="adj" fmla="val 35714"/>
            </a:avLst>
          </a:prstGeom>
          <a:solidFill>
            <a:srgbClr val="E1F7F3"/>
          </a:solidFill>
          <a:ln w="10160">
            <a:solidFill>
              <a:srgbClr val="E1F7F3">
                <a:alpha val="0"/>
              </a:srgbClr>
            </a:solidFill>
            <a:prstDash val="solid"/>
          </a:ln>
        </p:spPr>
      </p:sp>
      <p:sp>
        <p:nvSpPr>
          <p:cNvPr id="15" name="Text 13"/>
          <p:cNvSpPr txBox="1"/>
          <p:nvPr/>
        </p:nvSpPr>
        <p:spPr>
          <a:xfrm>
            <a:off x="4645152" y="1961388"/>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0FBAA6"/>
                </a:solidFill>
                <a:latin typeface="Inter" pitchFamily="34" charset="0"/>
                <a:ea typeface="Inter" pitchFamily="34" charset="-122"/>
                <a:cs typeface="Inter" pitchFamily="34" charset="-120"/>
              </a:rPr>
              <a:t>API</a:t>
            </a:r>
            <a:endParaRPr lang="en-US" sz="770" dirty="0"/>
          </a:p>
        </p:txBody>
      </p:sp>
      <p:sp>
        <p:nvSpPr>
          <p:cNvPr id="16" name="Text 14"/>
          <p:cNvSpPr txBox="1"/>
          <p:nvPr/>
        </p:nvSpPr>
        <p:spPr>
          <a:xfrm>
            <a:off x="4562856" y="2221992"/>
            <a:ext cx="307238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REST API</a:t>
            </a:r>
            <a:endParaRPr lang="en-US" sz="1400" dirty="0"/>
          </a:p>
        </p:txBody>
      </p:sp>
      <p:sp>
        <p:nvSpPr>
          <p:cNvPr id="17" name="Text 15"/>
          <p:cNvSpPr txBox="1"/>
          <p:nvPr/>
        </p:nvSpPr>
        <p:spPr>
          <a:xfrm>
            <a:off x="4562856" y="2551176"/>
            <a:ext cx="3063240" cy="731520"/>
          </a:xfrm>
          <a:prstGeom prst="rect">
            <a:avLst/>
          </a:prstGeom>
          <a:noFill/>
          <a:ln/>
        </p:spPr>
        <p:txBody>
          <a:bodyPr wrap="square" lIns="0" tIns="0" rIns="0" bIns="0" rtlCol="0" anchor="t">
            <a:normAutofit/>
          </a:bodyPr>
          <a:lstStyle/>
          <a:p>
            <a:pPr algn="l" indent="0" marL="0">
              <a:buNone/>
            </a:pPr>
            <a:r>
              <a:rPr lang="en-US" sz="1090" dirty="0">
                <a:solidFill>
                  <a:srgbClr val="5E6B7C"/>
                </a:solidFill>
                <a:latin typeface="Inter" pitchFamily="34" charset="0"/>
                <a:ea typeface="Inter" pitchFamily="34" charset="-122"/>
                <a:cs typeface="Inter" pitchFamily="34" charset="-120"/>
              </a:rPr>
              <a:t>FastAPI endpoints provide task CRUD operations, health/readiness probes, task statistics and metrics.</a:t>
            </a:r>
            <a:endParaRPr lang="en-US" sz="1090" dirty="0"/>
          </a:p>
        </p:txBody>
      </p:sp>
      <p:sp>
        <p:nvSpPr>
          <p:cNvPr id="18" name="Shape 16"/>
          <p:cNvSpPr/>
          <p:nvPr/>
        </p:nvSpPr>
        <p:spPr>
          <a:xfrm>
            <a:off x="8119872" y="1783080"/>
            <a:ext cx="3456432" cy="1572768"/>
          </a:xfrm>
          <a:prstGeom prst="roundRect">
            <a:avLst>
              <a:gd name="adj" fmla="val 5814"/>
            </a:avLst>
          </a:prstGeom>
          <a:solidFill>
            <a:srgbClr val="FFFFFF"/>
          </a:solidFill>
          <a:ln w="10160">
            <a:solidFill>
              <a:srgbClr val="FFFFFF">
                <a:alpha val="0"/>
              </a:srgbClr>
            </a:solidFill>
            <a:prstDash val="solid"/>
          </a:ln>
        </p:spPr>
      </p:sp>
      <p:sp>
        <p:nvSpPr>
          <p:cNvPr id="19" name="Shape 17"/>
          <p:cNvSpPr/>
          <p:nvPr/>
        </p:nvSpPr>
        <p:spPr>
          <a:xfrm>
            <a:off x="8119872" y="1783080"/>
            <a:ext cx="59436" cy="1572768"/>
          </a:xfrm>
          <a:prstGeom prst="rect">
            <a:avLst>
              <a:gd name="adj" fmla="val 153846"/>
            </a:avLst>
          </a:prstGeom>
          <a:solidFill>
            <a:srgbClr val="F28C52"/>
          </a:solidFill>
          <a:ln w="10160">
            <a:solidFill>
              <a:srgbClr val="F28C52">
                <a:alpha val="0"/>
              </a:srgbClr>
            </a:solidFill>
            <a:prstDash val="solid"/>
          </a:ln>
        </p:spPr>
      </p:sp>
      <p:sp>
        <p:nvSpPr>
          <p:cNvPr id="20" name="Shape 18"/>
          <p:cNvSpPr/>
          <p:nvPr/>
        </p:nvSpPr>
        <p:spPr>
          <a:xfrm>
            <a:off x="8321040" y="1947672"/>
            <a:ext cx="868680" cy="256032"/>
          </a:xfrm>
          <a:prstGeom prst="roundRect">
            <a:avLst>
              <a:gd name="adj" fmla="val 35714"/>
            </a:avLst>
          </a:prstGeom>
          <a:solidFill>
            <a:srgbClr val="FFF0E7"/>
          </a:solidFill>
          <a:ln w="10160">
            <a:solidFill>
              <a:srgbClr val="FFF0E7">
                <a:alpha val="0"/>
              </a:srgbClr>
            </a:solidFill>
            <a:prstDash val="solid"/>
          </a:ln>
        </p:spPr>
      </p:sp>
      <p:sp>
        <p:nvSpPr>
          <p:cNvPr id="21" name="Text 19"/>
          <p:cNvSpPr txBox="1"/>
          <p:nvPr/>
        </p:nvSpPr>
        <p:spPr>
          <a:xfrm>
            <a:off x="8403336" y="1961388"/>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F28C52"/>
                </a:solidFill>
                <a:latin typeface="Inter" pitchFamily="34" charset="0"/>
                <a:ea typeface="Inter" pitchFamily="34" charset="-122"/>
                <a:cs typeface="Inter" pitchFamily="34" charset="-120"/>
              </a:rPr>
              <a:t>DATA</a:t>
            </a:r>
            <a:endParaRPr lang="en-US" sz="770" dirty="0"/>
          </a:p>
        </p:txBody>
      </p:sp>
      <p:sp>
        <p:nvSpPr>
          <p:cNvPr id="22" name="Text 20"/>
          <p:cNvSpPr txBox="1"/>
          <p:nvPr/>
        </p:nvSpPr>
        <p:spPr>
          <a:xfrm>
            <a:off x="8321040" y="2221992"/>
            <a:ext cx="307238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Persistence</a:t>
            </a:r>
            <a:endParaRPr lang="en-US" sz="1400" dirty="0"/>
          </a:p>
        </p:txBody>
      </p:sp>
      <p:sp>
        <p:nvSpPr>
          <p:cNvPr id="23" name="Text 21"/>
          <p:cNvSpPr txBox="1"/>
          <p:nvPr/>
        </p:nvSpPr>
        <p:spPr>
          <a:xfrm>
            <a:off x="8321040" y="2551176"/>
            <a:ext cx="3063240" cy="731520"/>
          </a:xfrm>
          <a:prstGeom prst="rect">
            <a:avLst/>
          </a:prstGeom>
          <a:noFill/>
          <a:ln/>
        </p:spPr>
        <p:txBody>
          <a:bodyPr wrap="square" lIns="0" tIns="0" rIns="0" bIns="0" rtlCol="0" anchor="t">
            <a:normAutofit/>
          </a:bodyPr>
          <a:lstStyle/>
          <a:p>
            <a:pPr algn="l" indent="0" marL="0">
              <a:buNone/>
            </a:pPr>
            <a:r>
              <a:rPr lang="en-US" sz="1090" dirty="0">
                <a:solidFill>
                  <a:srgbClr val="5E6B7C"/>
                </a:solidFill>
                <a:latin typeface="Inter" pitchFamily="34" charset="0"/>
                <a:ea typeface="Inter" pitchFamily="34" charset="-122"/>
                <a:cs typeface="Inter" pitchFamily="34" charset="-120"/>
              </a:rPr>
              <a:t>PostgreSQL stores application data. SQLAlchemy models and Alembic migrations manage the data layer.</a:t>
            </a:r>
            <a:endParaRPr lang="en-US" sz="1090" dirty="0"/>
          </a:p>
        </p:txBody>
      </p:sp>
      <p:sp>
        <p:nvSpPr>
          <p:cNvPr id="24" name="Text 22"/>
          <p:cNvSpPr txBox="1"/>
          <p:nvPr/>
        </p:nvSpPr>
        <p:spPr>
          <a:xfrm>
            <a:off x="612648" y="3822192"/>
            <a:ext cx="4937760" cy="274320"/>
          </a:xfrm>
          <a:prstGeom prst="rect">
            <a:avLst/>
          </a:prstGeom>
          <a:noFill/>
          <a:ln/>
        </p:spPr>
        <p:txBody>
          <a:bodyPr wrap="square" lIns="0" tIns="0" rIns="0" bIns="0" rtlCol="0" anchor="ctr">
            <a:normAutofit/>
          </a:bodyPr>
          <a:lstStyle/>
          <a:p>
            <a:pPr algn="l" indent="0" marL="0">
              <a:buNone/>
            </a:pPr>
            <a:r>
              <a:rPr lang="en-US" sz="1300" b="1" dirty="0">
                <a:solidFill>
                  <a:srgbClr val="172337"/>
                </a:solidFill>
                <a:latin typeface="Inter" pitchFamily="34" charset="0"/>
                <a:ea typeface="Inter" pitchFamily="34" charset="-122"/>
                <a:cs typeface="Inter" pitchFamily="34" charset="-120"/>
              </a:rPr>
              <a:t>API surface documented by the repository</a:t>
            </a:r>
            <a:endParaRPr lang="en-US" sz="1300" dirty="0"/>
          </a:p>
        </p:txBody>
      </p:sp>
      <p:sp>
        <p:nvSpPr>
          <p:cNvPr id="25" name="Shape 23"/>
          <p:cNvSpPr/>
          <p:nvPr/>
        </p:nvSpPr>
        <p:spPr>
          <a:xfrm>
            <a:off x="612648" y="4251960"/>
            <a:ext cx="3429000" cy="438912"/>
          </a:xfrm>
          <a:prstGeom prst="roundRect">
            <a:avLst>
              <a:gd name="adj" fmla="val 20833"/>
            </a:avLst>
          </a:prstGeom>
          <a:solidFill>
            <a:srgbClr val="FFFFFF"/>
          </a:solidFill>
          <a:ln w="10160">
            <a:solidFill>
              <a:srgbClr val="D9E0EA"/>
            </a:solidFill>
            <a:prstDash val="solid"/>
          </a:ln>
        </p:spPr>
      </p:sp>
      <p:sp>
        <p:nvSpPr>
          <p:cNvPr id="26" name="Shape 24"/>
          <p:cNvSpPr/>
          <p:nvPr/>
        </p:nvSpPr>
        <p:spPr>
          <a:xfrm>
            <a:off x="704088" y="4343400"/>
            <a:ext cx="676656" cy="256032"/>
          </a:xfrm>
          <a:prstGeom prst="roundRect">
            <a:avLst>
              <a:gd name="adj" fmla="val 35714"/>
            </a:avLst>
          </a:prstGeom>
          <a:solidFill>
            <a:srgbClr val="EAF1FF"/>
          </a:solidFill>
          <a:ln w="10160">
            <a:solidFill>
              <a:srgbClr val="EAF1FF">
                <a:alpha val="0"/>
              </a:srgbClr>
            </a:solidFill>
            <a:prstDash val="solid"/>
          </a:ln>
        </p:spPr>
      </p:sp>
      <p:sp>
        <p:nvSpPr>
          <p:cNvPr id="27" name="Text 25"/>
          <p:cNvSpPr txBox="1"/>
          <p:nvPr/>
        </p:nvSpPr>
        <p:spPr>
          <a:xfrm>
            <a:off x="722376" y="4347972"/>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3478F6"/>
                </a:solidFill>
                <a:latin typeface="Inter" pitchFamily="34" charset="0"/>
                <a:ea typeface="Inter" pitchFamily="34" charset="-122"/>
                <a:cs typeface="Inter" pitchFamily="34" charset="-120"/>
              </a:rPr>
              <a:t>GET</a:t>
            </a:r>
            <a:endParaRPr lang="en-US" sz="880" dirty="0"/>
          </a:p>
        </p:txBody>
      </p:sp>
      <p:sp>
        <p:nvSpPr>
          <p:cNvPr id="28" name="Text 26"/>
          <p:cNvSpPr txBox="1"/>
          <p:nvPr/>
        </p:nvSpPr>
        <p:spPr>
          <a:xfrm>
            <a:off x="1508760" y="4315968"/>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a:t>
            </a:r>
            <a:endParaRPr lang="en-US" sz="950" dirty="0"/>
          </a:p>
        </p:txBody>
      </p:sp>
      <p:sp>
        <p:nvSpPr>
          <p:cNvPr id="29" name="Shape 27"/>
          <p:cNvSpPr/>
          <p:nvPr/>
        </p:nvSpPr>
        <p:spPr>
          <a:xfrm>
            <a:off x="4361688" y="4251960"/>
            <a:ext cx="3429000" cy="438912"/>
          </a:xfrm>
          <a:prstGeom prst="roundRect">
            <a:avLst>
              <a:gd name="adj" fmla="val 20833"/>
            </a:avLst>
          </a:prstGeom>
          <a:solidFill>
            <a:srgbClr val="FFFFFF"/>
          </a:solidFill>
          <a:ln w="10160">
            <a:solidFill>
              <a:srgbClr val="D9E0EA"/>
            </a:solidFill>
            <a:prstDash val="solid"/>
          </a:ln>
        </p:spPr>
      </p:sp>
      <p:sp>
        <p:nvSpPr>
          <p:cNvPr id="30" name="Shape 28"/>
          <p:cNvSpPr/>
          <p:nvPr/>
        </p:nvSpPr>
        <p:spPr>
          <a:xfrm>
            <a:off x="4453128" y="4343400"/>
            <a:ext cx="676656" cy="256032"/>
          </a:xfrm>
          <a:prstGeom prst="roundRect">
            <a:avLst>
              <a:gd name="adj" fmla="val 35714"/>
            </a:avLst>
          </a:prstGeom>
          <a:solidFill>
            <a:srgbClr val="EAF1FF"/>
          </a:solidFill>
          <a:ln w="10160">
            <a:solidFill>
              <a:srgbClr val="EAF1FF">
                <a:alpha val="0"/>
              </a:srgbClr>
            </a:solidFill>
            <a:prstDash val="solid"/>
          </a:ln>
        </p:spPr>
      </p:sp>
      <p:sp>
        <p:nvSpPr>
          <p:cNvPr id="31" name="Text 29"/>
          <p:cNvSpPr txBox="1"/>
          <p:nvPr/>
        </p:nvSpPr>
        <p:spPr>
          <a:xfrm>
            <a:off x="4471416" y="4347972"/>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3478F6"/>
                </a:solidFill>
                <a:latin typeface="Inter" pitchFamily="34" charset="0"/>
                <a:ea typeface="Inter" pitchFamily="34" charset="-122"/>
                <a:cs typeface="Inter" pitchFamily="34" charset="-120"/>
              </a:rPr>
              <a:t>GET</a:t>
            </a:r>
            <a:endParaRPr lang="en-US" sz="880" dirty="0"/>
          </a:p>
        </p:txBody>
      </p:sp>
      <p:sp>
        <p:nvSpPr>
          <p:cNvPr id="32" name="Text 30"/>
          <p:cNvSpPr txBox="1"/>
          <p:nvPr/>
        </p:nvSpPr>
        <p:spPr>
          <a:xfrm>
            <a:off x="5257800" y="4315968"/>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/api/tasks/{id}</a:t>
            </a:r>
            <a:endParaRPr lang="en-US" sz="950" dirty="0"/>
          </a:p>
        </p:txBody>
      </p:sp>
      <p:sp>
        <p:nvSpPr>
          <p:cNvPr id="33" name="Shape 31"/>
          <p:cNvSpPr/>
          <p:nvPr/>
        </p:nvSpPr>
        <p:spPr>
          <a:xfrm>
            <a:off x="8110728" y="4251960"/>
            <a:ext cx="3429000" cy="438912"/>
          </a:xfrm>
          <a:prstGeom prst="roundRect">
            <a:avLst>
              <a:gd name="adj" fmla="val 20833"/>
            </a:avLst>
          </a:prstGeom>
          <a:solidFill>
            <a:srgbClr val="FFFFFF"/>
          </a:solidFill>
          <a:ln w="10160">
            <a:solidFill>
              <a:srgbClr val="D9E0EA"/>
            </a:solidFill>
            <a:prstDash val="solid"/>
          </a:ln>
        </p:spPr>
      </p:sp>
      <p:sp>
        <p:nvSpPr>
          <p:cNvPr id="34" name="Shape 32"/>
          <p:cNvSpPr/>
          <p:nvPr/>
        </p:nvSpPr>
        <p:spPr>
          <a:xfrm>
            <a:off x="8202168" y="4343400"/>
            <a:ext cx="676656" cy="256032"/>
          </a:xfrm>
          <a:prstGeom prst="roundRect">
            <a:avLst>
              <a:gd name="adj" fmla="val 35714"/>
            </a:avLst>
          </a:prstGeom>
          <a:solidFill>
            <a:srgbClr val="E1F7F3"/>
          </a:solidFill>
          <a:ln w="10160">
            <a:solidFill>
              <a:srgbClr val="E1F7F3">
                <a:alpha val="0"/>
              </a:srgbClr>
            </a:solidFill>
            <a:prstDash val="solid"/>
          </a:ln>
        </p:spPr>
      </p:sp>
      <p:sp>
        <p:nvSpPr>
          <p:cNvPr id="35" name="Text 33"/>
          <p:cNvSpPr txBox="1"/>
          <p:nvPr/>
        </p:nvSpPr>
        <p:spPr>
          <a:xfrm>
            <a:off x="8220456" y="4347972"/>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0FBAA6"/>
                </a:solidFill>
                <a:latin typeface="Inter" pitchFamily="34" charset="0"/>
                <a:ea typeface="Inter" pitchFamily="34" charset="-122"/>
                <a:cs typeface="Inter" pitchFamily="34" charset="-120"/>
              </a:rPr>
              <a:t>POST</a:t>
            </a:r>
            <a:endParaRPr lang="en-US" sz="880" dirty="0"/>
          </a:p>
        </p:txBody>
      </p:sp>
      <p:sp>
        <p:nvSpPr>
          <p:cNvPr id="36" name="Text 34"/>
          <p:cNvSpPr txBox="1"/>
          <p:nvPr/>
        </p:nvSpPr>
        <p:spPr>
          <a:xfrm>
            <a:off x="9006840" y="4315968"/>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a:t>
            </a:r>
            <a:endParaRPr lang="en-US" sz="950" dirty="0"/>
          </a:p>
        </p:txBody>
      </p:sp>
      <p:sp>
        <p:nvSpPr>
          <p:cNvPr id="37" name="Shape 35"/>
          <p:cNvSpPr/>
          <p:nvPr/>
        </p:nvSpPr>
        <p:spPr>
          <a:xfrm>
            <a:off x="612648" y="4864608"/>
            <a:ext cx="3429000" cy="438912"/>
          </a:xfrm>
          <a:prstGeom prst="roundRect">
            <a:avLst>
              <a:gd name="adj" fmla="val 20833"/>
            </a:avLst>
          </a:prstGeom>
          <a:solidFill>
            <a:srgbClr val="FFFFFF"/>
          </a:solidFill>
          <a:ln w="10160">
            <a:solidFill>
              <a:srgbClr val="D9E0EA"/>
            </a:solidFill>
            <a:prstDash val="solid"/>
          </a:ln>
        </p:spPr>
      </p:sp>
      <p:sp>
        <p:nvSpPr>
          <p:cNvPr id="38" name="Shape 36"/>
          <p:cNvSpPr/>
          <p:nvPr/>
        </p:nvSpPr>
        <p:spPr>
          <a:xfrm>
            <a:off x="704088" y="4956048"/>
            <a:ext cx="676656" cy="256032"/>
          </a:xfrm>
          <a:prstGeom prst="roundRect">
            <a:avLst>
              <a:gd name="adj" fmla="val 35714"/>
            </a:avLst>
          </a:prstGeom>
          <a:solidFill>
            <a:srgbClr val="FFF0E7"/>
          </a:solidFill>
          <a:ln w="10160">
            <a:solidFill>
              <a:srgbClr val="FFF0E7">
                <a:alpha val="0"/>
              </a:srgbClr>
            </a:solidFill>
            <a:prstDash val="solid"/>
          </a:ln>
        </p:spPr>
      </p:sp>
      <p:sp>
        <p:nvSpPr>
          <p:cNvPr id="39" name="Text 37"/>
          <p:cNvSpPr txBox="1"/>
          <p:nvPr/>
        </p:nvSpPr>
        <p:spPr>
          <a:xfrm>
            <a:off x="722376" y="4960620"/>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F28C52"/>
                </a:solidFill>
                <a:latin typeface="Inter" pitchFamily="34" charset="0"/>
                <a:ea typeface="Inter" pitchFamily="34" charset="-122"/>
                <a:cs typeface="Inter" pitchFamily="34" charset="-120"/>
              </a:rPr>
              <a:t>PUT</a:t>
            </a:r>
            <a:endParaRPr lang="en-US" sz="880" dirty="0"/>
          </a:p>
        </p:txBody>
      </p:sp>
      <p:sp>
        <p:nvSpPr>
          <p:cNvPr id="40" name="Text 38"/>
          <p:cNvSpPr txBox="1"/>
          <p:nvPr/>
        </p:nvSpPr>
        <p:spPr>
          <a:xfrm>
            <a:off x="1508760" y="4928616"/>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/api/tasks/{id}</a:t>
            </a:r>
            <a:endParaRPr lang="en-US" sz="950" dirty="0"/>
          </a:p>
        </p:txBody>
      </p:sp>
      <p:sp>
        <p:nvSpPr>
          <p:cNvPr id="41" name="Shape 39"/>
          <p:cNvSpPr/>
          <p:nvPr/>
        </p:nvSpPr>
        <p:spPr>
          <a:xfrm>
            <a:off x="4361688" y="4864608"/>
            <a:ext cx="3429000" cy="438912"/>
          </a:xfrm>
          <a:prstGeom prst="roundRect">
            <a:avLst>
              <a:gd name="adj" fmla="val 20833"/>
            </a:avLst>
          </a:prstGeom>
          <a:solidFill>
            <a:srgbClr val="FFFFFF"/>
          </a:solidFill>
          <a:ln w="10160">
            <a:solidFill>
              <a:srgbClr val="D9E0EA"/>
            </a:solidFill>
            <a:prstDash val="solid"/>
          </a:ln>
        </p:spPr>
      </p:sp>
      <p:sp>
        <p:nvSpPr>
          <p:cNvPr id="42" name="Shape 40"/>
          <p:cNvSpPr/>
          <p:nvPr/>
        </p:nvSpPr>
        <p:spPr>
          <a:xfrm>
            <a:off x="4453128" y="4956048"/>
            <a:ext cx="676656" cy="256032"/>
          </a:xfrm>
          <a:prstGeom prst="roundRect">
            <a:avLst>
              <a:gd name="adj" fmla="val 35714"/>
            </a:avLst>
          </a:prstGeom>
          <a:solidFill>
            <a:srgbClr val="FCE9ED"/>
          </a:solidFill>
          <a:ln w="10160">
            <a:solidFill>
              <a:srgbClr val="FCE9ED">
                <a:alpha val="0"/>
              </a:srgbClr>
            </a:solidFill>
            <a:prstDash val="solid"/>
          </a:ln>
        </p:spPr>
      </p:sp>
      <p:sp>
        <p:nvSpPr>
          <p:cNvPr id="43" name="Text 41"/>
          <p:cNvSpPr txBox="1"/>
          <p:nvPr/>
        </p:nvSpPr>
        <p:spPr>
          <a:xfrm>
            <a:off x="4471416" y="4960620"/>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D94B61"/>
                </a:solidFill>
                <a:latin typeface="Inter" pitchFamily="34" charset="0"/>
                <a:ea typeface="Inter" pitchFamily="34" charset="-122"/>
                <a:cs typeface="Inter" pitchFamily="34" charset="-120"/>
              </a:rPr>
              <a:t>DELETE</a:t>
            </a:r>
            <a:endParaRPr lang="en-US" sz="880" dirty="0"/>
          </a:p>
        </p:txBody>
      </p:sp>
      <p:sp>
        <p:nvSpPr>
          <p:cNvPr id="44" name="Text 42"/>
          <p:cNvSpPr txBox="1"/>
          <p:nvPr/>
        </p:nvSpPr>
        <p:spPr>
          <a:xfrm>
            <a:off x="5257800" y="4928616"/>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/api/tasks/{id}</a:t>
            </a:r>
            <a:endParaRPr lang="en-US" sz="950" dirty="0"/>
          </a:p>
        </p:txBody>
      </p:sp>
      <p:sp>
        <p:nvSpPr>
          <p:cNvPr id="45" name="Shape 43"/>
          <p:cNvSpPr/>
          <p:nvPr/>
        </p:nvSpPr>
        <p:spPr>
          <a:xfrm>
            <a:off x="8110728" y="4864608"/>
            <a:ext cx="3429000" cy="438912"/>
          </a:xfrm>
          <a:prstGeom prst="roundRect">
            <a:avLst>
              <a:gd name="adj" fmla="val 20833"/>
            </a:avLst>
          </a:prstGeom>
          <a:solidFill>
            <a:srgbClr val="FFFFFF"/>
          </a:solidFill>
          <a:ln w="10160">
            <a:solidFill>
              <a:srgbClr val="D9E0EA"/>
            </a:solidFill>
            <a:prstDash val="solid"/>
          </a:ln>
        </p:spPr>
      </p:sp>
      <p:sp>
        <p:nvSpPr>
          <p:cNvPr id="46" name="Shape 44"/>
          <p:cNvSpPr/>
          <p:nvPr/>
        </p:nvSpPr>
        <p:spPr>
          <a:xfrm>
            <a:off x="8202168" y="4956048"/>
            <a:ext cx="676656" cy="256032"/>
          </a:xfrm>
          <a:prstGeom prst="roundRect">
            <a:avLst>
              <a:gd name="adj" fmla="val 35714"/>
            </a:avLst>
          </a:prstGeom>
          <a:solidFill>
            <a:srgbClr val="F0ECFF"/>
          </a:solidFill>
          <a:ln w="10160">
            <a:solidFill>
              <a:srgbClr val="F0ECFF">
                <a:alpha val="0"/>
              </a:srgbClr>
            </a:solidFill>
            <a:prstDash val="solid"/>
          </a:ln>
        </p:spPr>
      </p:sp>
      <p:sp>
        <p:nvSpPr>
          <p:cNvPr id="47" name="Text 45"/>
          <p:cNvSpPr txBox="1"/>
          <p:nvPr/>
        </p:nvSpPr>
        <p:spPr>
          <a:xfrm>
            <a:off x="8220456" y="4960620"/>
            <a:ext cx="640080" cy="237744"/>
          </a:xfrm>
          <a:prstGeom prst="rect">
            <a:avLst/>
          </a:prstGeom>
          <a:noFill/>
          <a:ln/>
        </p:spPr>
        <p:txBody>
          <a:bodyPr wrap="square" lIns="0" tIns="0" rIns="0" bIns="0" rtlCol="0" anchor="ctr">
            <a:normAutofit/>
          </a:bodyPr>
          <a:lstStyle/>
          <a:p>
            <a:pPr algn="ctr" indent="0" marL="0">
              <a:buNone/>
            </a:pPr>
            <a:r>
              <a:rPr lang="en-US" sz="880" b="1" dirty="0">
                <a:solidFill>
                  <a:srgbClr val="8467E8"/>
                </a:solidFill>
                <a:latin typeface="Inter" pitchFamily="34" charset="0"/>
                <a:ea typeface="Inter" pitchFamily="34" charset="-122"/>
                <a:cs typeface="Inter" pitchFamily="34" charset="-120"/>
              </a:rPr>
              <a:t>GET</a:t>
            </a:r>
            <a:endParaRPr lang="en-US" sz="880" dirty="0"/>
          </a:p>
        </p:txBody>
      </p:sp>
      <p:sp>
        <p:nvSpPr>
          <p:cNvPr id="48" name="Text 46"/>
          <p:cNvSpPr txBox="1"/>
          <p:nvPr/>
        </p:nvSpPr>
        <p:spPr>
          <a:xfrm>
            <a:off x="9006840" y="4928616"/>
            <a:ext cx="2395728" cy="292608"/>
          </a:xfrm>
          <a:prstGeom prst="rect">
            <a:avLst/>
          </a:prstGeom>
          <a:noFill/>
          <a:ln/>
        </p:spPr>
        <p:txBody>
          <a:bodyPr wrap="square" lIns="0" tIns="0" rIns="0" bIns="0" rtlCol="0" anchor="ctr">
            <a:normAutofit/>
          </a:bodyPr>
          <a:lstStyle/>
          <a:p>
            <a:pPr algn="l" indent="0" marL="0">
              <a:buNone/>
            </a:pPr>
            <a:r>
              <a:rPr lang="en-US" sz="950" dirty="0">
                <a:solidFill>
                  <a:srgbClr val="172337"/>
                </a:solidFill>
                <a:latin typeface="DejaVu Sans Mono" pitchFamily="34" charset="0"/>
                <a:ea typeface="DejaVu Sans Mono" pitchFamily="34" charset="-122"/>
                <a:cs typeface="DejaVu Sans Mono" pitchFamily="34" charset="-120"/>
              </a:rPr>
              <a:t>/api/tasks/stats</a:t>
            </a:r>
            <a:endParaRPr lang="en-US" sz="950" dirty="0"/>
          </a:p>
        </p:txBody>
      </p:sp>
      <p:sp>
        <p:nvSpPr>
          <p:cNvPr id="49" name="Text 47">
            <a:hlinkClick r:id="rId1" tooltip=""/>
          </p:cNvPr>
          <p:cNvSpPr txBox="1"/>
          <p:nvPr/>
        </p:nvSpPr>
        <p:spPr>
          <a:xfrm>
            <a:off x="8183880" y="5897880"/>
            <a:ext cx="210312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Application screenshot</a:t>
            </a:r>
            <a:endParaRPr lang="en-US" sz="840" dirty="0"/>
          </a:p>
        </p:txBody>
      </p:sp>
      <p:sp>
        <p:nvSpPr>
          <p:cNvPr id="50" name="Text 48">
            <a:hlinkClick r:id="rId2" tooltip=""/>
          </p:cNvPr>
          <p:cNvSpPr txBox="1"/>
          <p:nvPr/>
        </p:nvSpPr>
        <p:spPr>
          <a:xfrm>
            <a:off x="9921240" y="5897880"/>
            <a:ext cx="15544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OpenAPI docs</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824228"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659636"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02  /  ARCHITECTURE</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End-to-end architecture</a:t>
            </a:r>
            <a:endParaRPr lang="en-US" sz="2400" dirty="0"/>
          </a:p>
        </p:txBody>
      </p:sp>
      <p:sp>
        <p:nvSpPr>
          <p:cNvPr id="5" name="Text 3"/>
          <p:cNvSpPr txBox="1"/>
          <p:nvPr/>
        </p:nvSpPr>
        <p:spPr>
          <a:xfrm>
            <a:off x="612648" y="1207008"/>
            <a:ext cx="9326880" cy="256032"/>
          </a:xfrm>
          <a:prstGeom prst="rect">
            <a:avLst/>
          </a:prstGeom>
          <a:noFill/>
          <a:ln/>
        </p:spPr>
        <p:txBody>
          <a:bodyPr wrap="square" lIns="0" tIns="0" rIns="0" bIns="0" rtlCol="0" anchor="ctr">
            <a:normAutofit/>
          </a:bodyPr>
          <a:lstStyle/>
          <a:p>
            <a:pPr algn="l" indent="0" marL="0">
              <a:buNone/>
            </a:pPr>
            <a:r>
              <a:rPr lang="en-US" sz="1300" dirty="0">
                <a:solidFill>
                  <a:srgbClr val="5E6B7C"/>
                </a:solidFill>
                <a:latin typeface="Inter" pitchFamily="34" charset="0"/>
                <a:ea typeface="Inter" pitchFamily="34" charset="-122"/>
                <a:cs typeface="Inter" pitchFamily="34" charset="-120"/>
              </a:rPr>
              <a:t>Two connected planes: delivery automation and the runtime platform.</a:t>
            </a:r>
            <a:endParaRPr lang="en-US" sz="1300" dirty="0"/>
          </a:p>
        </p:txBody>
      </p:sp>
      <p:sp>
        <p:nvSpPr>
          <p:cNvPr id="6" name="Shape 4"/>
          <p:cNvSpPr/>
          <p:nvPr/>
        </p:nvSpPr>
        <p:spPr>
          <a:xfrm>
            <a:off x="640080" y="1755648"/>
            <a:ext cx="1572768" cy="841248"/>
          </a:xfrm>
          <a:prstGeom prst="roundRect">
            <a:avLst>
              <a:gd name="adj" fmla="val 10870"/>
            </a:avLst>
          </a:prstGeom>
          <a:solidFill>
            <a:srgbClr val="FFFFFF"/>
          </a:solidFill>
          <a:ln w="10160">
            <a:solidFill>
              <a:srgbClr val="D9E0EA"/>
            </a:solidFill>
            <a:prstDash val="solid"/>
          </a:ln>
        </p:spPr>
      </p:sp>
      <p:sp>
        <p:nvSpPr>
          <p:cNvPr id="7" name="Shape 5"/>
          <p:cNvSpPr/>
          <p:nvPr/>
        </p:nvSpPr>
        <p:spPr>
          <a:xfrm>
            <a:off x="640080" y="1755648"/>
            <a:ext cx="1572768" cy="73152"/>
          </a:xfrm>
          <a:prstGeom prst="rect">
            <a:avLst>
              <a:gd name="adj" fmla="val 125000"/>
            </a:avLst>
          </a:prstGeom>
          <a:solidFill>
            <a:srgbClr val="1B2B43"/>
          </a:solidFill>
          <a:ln w="10160">
            <a:solidFill>
              <a:srgbClr val="1B2B43">
                <a:alpha val="0"/>
              </a:srgbClr>
            </a:solidFill>
            <a:prstDash val="solid"/>
          </a:ln>
        </p:spPr>
      </p:sp>
      <p:sp>
        <p:nvSpPr>
          <p:cNvPr id="8" name="Text 6"/>
          <p:cNvSpPr txBox="1"/>
          <p:nvPr/>
        </p:nvSpPr>
        <p:spPr>
          <a:xfrm>
            <a:off x="749808" y="1911096"/>
            <a:ext cx="1353312" cy="173736"/>
          </a:xfrm>
          <a:prstGeom prst="rect">
            <a:avLst/>
          </a:prstGeom>
          <a:noFill/>
          <a:ln/>
        </p:spPr>
        <p:txBody>
          <a:bodyPr wrap="square" lIns="0" tIns="0" rIns="0" bIns="0" rtlCol="0" anchor="ctr">
            <a:normAutofit/>
          </a:bodyPr>
          <a:lstStyle/>
          <a:p>
            <a:pPr algn="ctr" indent="0" marL="0">
              <a:buNone/>
            </a:pPr>
            <a:r>
              <a:rPr lang="en-US" sz="800" b="1" spc="100" kern="0" dirty="0">
                <a:solidFill>
                  <a:srgbClr val="1B2B43"/>
                </a:solidFill>
                <a:latin typeface="Inter" pitchFamily="34" charset="0"/>
                <a:ea typeface="Inter" pitchFamily="34" charset="-122"/>
                <a:cs typeface="Inter" pitchFamily="34" charset="-120"/>
              </a:rPr>
              <a:t>SOURCE</a:t>
            </a:r>
            <a:endParaRPr lang="en-US" sz="800" dirty="0"/>
          </a:p>
        </p:txBody>
      </p:sp>
      <p:sp>
        <p:nvSpPr>
          <p:cNvPr id="9" name="Text 7"/>
          <p:cNvSpPr txBox="1"/>
          <p:nvPr/>
        </p:nvSpPr>
        <p:spPr>
          <a:xfrm>
            <a:off x="731520" y="2148840"/>
            <a:ext cx="1389888" cy="246888"/>
          </a:xfrm>
          <a:prstGeom prst="rect">
            <a:avLst/>
          </a:prstGeom>
          <a:noFill/>
          <a:ln/>
        </p:spPr>
        <p:txBody>
          <a:bodyPr wrap="square" lIns="0" tIns="0" rIns="0" bIns="0" rtlCol="0" anchor="ctr">
            <a:normAutofit/>
          </a:bodyPr>
          <a:lstStyle/>
          <a:p>
            <a:pPr algn="ctr" indent="0" marL="0">
              <a:buNone/>
            </a:pPr>
            <a:r>
              <a:rPr lang="en-US" sz="1020" b="1" dirty="0">
                <a:solidFill>
                  <a:srgbClr val="172337"/>
                </a:solidFill>
                <a:latin typeface="Inter" pitchFamily="34" charset="0"/>
                <a:ea typeface="Inter" pitchFamily="34" charset="-122"/>
                <a:cs typeface="Inter" pitchFamily="34" charset="-120"/>
              </a:rPr>
              <a:t>GitHub repo</a:t>
            </a:r>
            <a:endParaRPr lang="en-US" sz="1020" dirty="0"/>
          </a:p>
        </p:txBody>
      </p:sp>
      <p:sp>
        <p:nvSpPr>
          <p:cNvPr id="10" name="Shape 8"/>
          <p:cNvSpPr/>
          <p:nvPr/>
        </p:nvSpPr>
        <p:spPr>
          <a:xfrm>
            <a:off x="2249424" y="2176272"/>
            <a:ext cx="192024" cy="0"/>
          </a:xfrm>
          <a:prstGeom prst="line">
            <a:avLst/>
          </a:prstGeom>
          <a:noFill/>
          <a:ln w="19050">
            <a:solidFill>
              <a:srgbClr val="A8B4C4"/>
            </a:solidFill>
            <a:prstDash val="solid"/>
            <a:tailEnd type="triangle"/>
          </a:ln>
        </p:spPr>
      </p:sp>
      <p:sp>
        <p:nvSpPr>
          <p:cNvPr id="11" name="Shape 9"/>
          <p:cNvSpPr/>
          <p:nvPr/>
        </p:nvSpPr>
        <p:spPr>
          <a:xfrm>
            <a:off x="2523744" y="1755648"/>
            <a:ext cx="1572768" cy="841248"/>
          </a:xfrm>
          <a:prstGeom prst="roundRect">
            <a:avLst>
              <a:gd name="adj" fmla="val 10870"/>
            </a:avLst>
          </a:prstGeom>
          <a:solidFill>
            <a:srgbClr val="FFFFFF"/>
          </a:solidFill>
          <a:ln w="10160">
            <a:solidFill>
              <a:srgbClr val="D9E0EA"/>
            </a:solidFill>
            <a:prstDash val="solid"/>
          </a:ln>
        </p:spPr>
      </p:sp>
      <p:sp>
        <p:nvSpPr>
          <p:cNvPr id="12" name="Shape 10"/>
          <p:cNvSpPr/>
          <p:nvPr/>
        </p:nvSpPr>
        <p:spPr>
          <a:xfrm>
            <a:off x="2523744" y="1755648"/>
            <a:ext cx="1572768" cy="73152"/>
          </a:xfrm>
          <a:prstGeom prst="rect">
            <a:avLst>
              <a:gd name="adj" fmla="val 125000"/>
            </a:avLst>
          </a:prstGeom>
          <a:solidFill>
            <a:srgbClr val="3478F6"/>
          </a:solidFill>
          <a:ln w="10160">
            <a:solidFill>
              <a:srgbClr val="3478F6">
                <a:alpha val="0"/>
              </a:srgbClr>
            </a:solidFill>
            <a:prstDash val="solid"/>
          </a:ln>
        </p:spPr>
      </p:sp>
      <p:sp>
        <p:nvSpPr>
          <p:cNvPr id="13" name="Text 11"/>
          <p:cNvSpPr txBox="1"/>
          <p:nvPr/>
        </p:nvSpPr>
        <p:spPr>
          <a:xfrm>
            <a:off x="2633472" y="1911096"/>
            <a:ext cx="1353312" cy="173736"/>
          </a:xfrm>
          <a:prstGeom prst="rect">
            <a:avLst/>
          </a:prstGeom>
          <a:noFill/>
          <a:ln/>
        </p:spPr>
        <p:txBody>
          <a:bodyPr wrap="square" lIns="0" tIns="0" rIns="0" bIns="0" rtlCol="0" anchor="ctr">
            <a:normAutofit/>
          </a:bodyPr>
          <a:lstStyle/>
          <a:p>
            <a:pPr algn="ctr" indent="0" marL="0">
              <a:buNone/>
            </a:pPr>
            <a:r>
              <a:rPr lang="en-US" sz="800" b="1" spc="100" kern="0" dirty="0">
                <a:solidFill>
                  <a:srgbClr val="3478F6"/>
                </a:solidFill>
                <a:latin typeface="Inter" pitchFamily="34" charset="0"/>
                <a:ea typeface="Inter" pitchFamily="34" charset="-122"/>
                <a:cs typeface="Inter" pitchFamily="34" charset="-120"/>
              </a:rPr>
              <a:t>VALIDATE</a:t>
            </a:r>
            <a:endParaRPr lang="en-US" sz="800" dirty="0"/>
          </a:p>
        </p:txBody>
      </p:sp>
      <p:sp>
        <p:nvSpPr>
          <p:cNvPr id="14" name="Text 12"/>
          <p:cNvSpPr txBox="1"/>
          <p:nvPr/>
        </p:nvSpPr>
        <p:spPr>
          <a:xfrm>
            <a:off x="2615184" y="2148840"/>
            <a:ext cx="1389888" cy="246888"/>
          </a:xfrm>
          <a:prstGeom prst="rect">
            <a:avLst/>
          </a:prstGeom>
          <a:noFill/>
          <a:ln/>
        </p:spPr>
        <p:txBody>
          <a:bodyPr wrap="square" lIns="0" tIns="0" rIns="0" bIns="0" rtlCol="0" anchor="ctr">
            <a:normAutofit/>
          </a:bodyPr>
          <a:lstStyle/>
          <a:p>
            <a:pPr algn="ctr" indent="0" marL="0">
              <a:buNone/>
            </a:pPr>
            <a:r>
              <a:rPr lang="en-US" sz="1020" b="1" dirty="0">
                <a:solidFill>
                  <a:srgbClr val="172337"/>
                </a:solidFill>
                <a:latin typeface="Inter" pitchFamily="34" charset="0"/>
                <a:ea typeface="Inter" pitchFamily="34" charset="-122"/>
                <a:cs typeface="Inter" pitchFamily="34" charset="-120"/>
              </a:rPr>
              <a:t>Pytest + UI build</a:t>
            </a:r>
            <a:endParaRPr lang="en-US" sz="1020" dirty="0"/>
          </a:p>
        </p:txBody>
      </p:sp>
      <p:sp>
        <p:nvSpPr>
          <p:cNvPr id="15" name="Shape 13"/>
          <p:cNvSpPr/>
          <p:nvPr/>
        </p:nvSpPr>
        <p:spPr>
          <a:xfrm>
            <a:off x="4133088" y="2176272"/>
            <a:ext cx="192024" cy="0"/>
          </a:xfrm>
          <a:prstGeom prst="line">
            <a:avLst/>
          </a:prstGeom>
          <a:noFill/>
          <a:ln w="19050">
            <a:solidFill>
              <a:srgbClr val="A8B4C4"/>
            </a:solidFill>
            <a:prstDash val="solid"/>
            <a:tailEnd type="triangle"/>
          </a:ln>
        </p:spPr>
      </p:sp>
      <p:sp>
        <p:nvSpPr>
          <p:cNvPr id="16" name="Shape 14"/>
          <p:cNvSpPr/>
          <p:nvPr/>
        </p:nvSpPr>
        <p:spPr>
          <a:xfrm>
            <a:off x="4407408" y="1755648"/>
            <a:ext cx="1572768" cy="841248"/>
          </a:xfrm>
          <a:prstGeom prst="roundRect">
            <a:avLst>
              <a:gd name="adj" fmla="val 10870"/>
            </a:avLst>
          </a:prstGeom>
          <a:solidFill>
            <a:srgbClr val="FFFFFF"/>
          </a:solidFill>
          <a:ln w="10160">
            <a:solidFill>
              <a:srgbClr val="D9E0EA"/>
            </a:solidFill>
            <a:prstDash val="solid"/>
          </a:ln>
        </p:spPr>
      </p:sp>
      <p:sp>
        <p:nvSpPr>
          <p:cNvPr id="17" name="Shape 15"/>
          <p:cNvSpPr/>
          <p:nvPr/>
        </p:nvSpPr>
        <p:spPr>
          <a:xfrm>
            <a:off x="4407408" y="1755648"/>
            <a:ext cx="1572768" cy="73152"/>
          </a:xfrm>
          <a:prstGeom prst="rect">
            <a:avLst>
              <a:gd name="adj" fmla="val 125000"/>
            </a:avLst>
          </a:prstGeom>
          <a:solidFill>
            <a:srgbClr val="F28C52"/>
          </a:solidFill>
          <a:ln w="10160">
            <a:solidFill>
              <a:srgbClr val="F28C52">
                <a:alpha val="0"/>
              </a:srgbClr>
            </a:solidFill>
            <a:prstDash val="solid"/>
          </a:ln>
        </p:spPr>
      </p:sp>
      <p:sp>
        <p:nvSpPr>
          <p:cNvPr id="18" name="Text 16"/>
          <p:cNvSpPr txBox="1"/>
          <p:nvPr/>
        </p:nvSpPr>
        <p:spPr>
          <a:xfrm>
            <a:off x="4517136" y="1911096"/>
            <a:ext cx="1353312" cy="173736"/>
          </a:xfrm>
          <a:prstGeom prst="rect">
            <a:avLst/>
          </a:prstGeom>
          <a:noFill/>
          <a:ln/>
        </p:spPr>
        <p:txBody>
          <a:bodyPr wrap="square" lIns="0" tIns="0" rIns="0" bIns="0" rtlCol="0" anchor="ctr">
            <a:normAutofit/>
          </a:bodyPr>
          <a:lstStyle/>
          <a:p>
            <a:pPr algn="ctr" indent="0" marL="0">
              <a:buNone/>
            </a:pPr>
            <a:r>
              <a:rPr lang="en-US" sz="800" b="1" spc="100" kern="0" dirty="0">
                <a:solidFill>
                  <a:srgbClr val="F28C52"/>
                </a:solidFill>
                <a:latin typeface="Inter" pitchFamily="34" charset="0"/>
                <a:ea typeface="Inter" pitchFamily="34" charset="-122"/>
                <a:cs typeface="Inter" pitchFamily="34" charset="-120"/>
              </a:rPr>
              <a:t>SECURE</a:t>
            </a:r>
            <a:endParaRPr lang="en-US" sz="800" dirty="0"/>
          </a:p>
        </p:txBody>
      </p:sp>
      <p:sp>
        <p:nvSpPr>
          <p:cNvPr id="19" name="Text 17"/>
          <p:cNvSpPr txBox="1"/>
          <p:nvPr/>
        </p:nvSpPr>
        <p:spPr>
          <a:xfrm>
            <a:off x="4498848" y="2148840"/>
            <a:ext cx="1389888" cy="246888"/>
          </a:xfrm>
          <a:prstGeom prst="rect">
            <a:avLst/>
          </a:prstGeom>
          <a:noFill/>
          <a:ln/>
        </p:spPr>
        <p:txBody>
          <a:bodyPr wrap="square" lIns="0" tIns="0" rIns="0" bIns="0" rtlCol="0" anchor="ctr">
            <a:normAutofit/>
          </a:bodyPr>
          <a:lstStyle/>
          <a:p>
            <a:pPr algn="ctr" indent="0" marL="0">
              <a:buNone/>
            </a:pPr>
            <a:r>
              <a:rPr lang="en-US" sz="1020" b="1" dirty="0">
                <a:solidFill>
                  <a:srgbClr val="172337"/>
                </a:solidFill>
                <a:latin typeface="Inter" pitchFamily="34" charset="0"/>
                <a:ea typeface="Inter" pitchFamily="34" charset="-122"/>
                <a:cs typeface="Inter" pitchFamily="34" charset="-120"/>
              </a:rPr>
              <a:t>Trivy gate</a:t>
            </a:r>
            <a:endParaRPr lang="en-US" sz="1020" dirty="0"/>
          </a:p>
        </p:txBody>
      </p:sp>
      <p:sp>
        <p:nvSpPr>
          <p:cNvPr id="20" name="Shape 18"/>
          <p:cNvSpPr/>
          <p:nvPr/>
        </p:nvSpPr>
        <p:spPr>
          <a:xfrm>
            <a:off x="6016752" y="2176272"/>
            <a:ext cx="192024" cy="0"/>
          </a:xfrm>
          <a:prstGeom prst="line">
            <a:avLst/>
          </a:prstGeom>
          <a:noFill/>
          <a:ln w="19050">
            <a:solidFill>
              <a:srgbClr val="A8B4C4"/>
            </a:solidFill>
            <a:prstDash val="solid"/>
            <a:tailEnd type="triangle"/>
          </a:ln>
        </p:spPr>
      </p:sp>
      <p:sp>
        <p:nvSpPr>
          <p:cNvPr id="21" name="Shape 19"/>
          <p:cNvSpPr/>
          <p:nvPr/>
        </p:nvSpPr>
        <p:spPr>
          <a:xfrm>
            <a:off x="6291072" y="1755648"/>
            <a:ext cx="1572768" cy="841248"/>
          </a:xfrm>
          <a:prstGeom prst="roundRect">
            <a:avLst>
              <a:gd name="adj" fmla="val 10870"/>
            </a:avLst>
          </a:prstGeom>
          <a:solidFill>
            <a:srgbClr val="FFFFFF"/>
          </a:solidFill>
          <a:ln w="10160">
            <a:solidFill>
              <a:srgbClr val="D9E0EA"/>
            </a:solidFill>
            <a:prstDash val="solid"/>
          </a:ln>
        </p:spPr>
      </p:sp>
      <p:sp>
        <p:nvSpPr>
          <p:cNvPr id="22" name="Shape 20"/>
          <p:cNvSpPr/>
          <p:nvPr/>
        </p:nvSpPr>
        <p:spPr>
          <a:xfrm>
            <a:off x="6291072" y="1755648"/>
            <a:ext cx="1572768" cy="73152"/>
          </a:xfrm>
          <a:prstGeom prst="rect">
            <a:avLst>
              <a:gd name="adj" fmla="val 125000"/>
            </a:avLst>
          </a:prstGeom>
          <a:solidFill>
            <a:srgbClr val="0FBAA6"/>
          </a:solidFill>
          <a:ln w="10160">
            <a:solidFill>
              <a:srgbClr val="0FBAA6">
                <a:alpha val="0"/>
              </a:srgbClr>
            </a:solidFill>
            <a:prstDash val="solid"/>
          </a:ln>
        </p:spPr>
      </p:sp>
      <p:sp>
        <p:nvSpPr>
          <p:cNvPr id="23" name="Text 21"/>
          <p:cNvSpPr txBox="1"/>
          <p:nvPr/>
        </p:nvSpPr>
        <p:spPr>
          <a:xfrm>
            <a:off x="6400800" y="1911096"/>
            <a:ext cx="1353312" cy="173736"/>
          </a:xfrm>
          <a:prstGeom prst="rect">
            <a:avLst/>
          </a:prstGeom>
          <a:noFill/>
          <a:ln/>
        </p:spPr>
        <p:txBody>
          <a:bodyPr wrap="square" lIns="0" tIns="0" rIns="0" bIns="0" rtlCol="0" anchor="ctr">
            <a:normAutofit/>
          </a:bodyPr>
          <a:lstStyle/>
          <a:p>
            <a:pPr algn="ctr" indent="0" marL="0">
              <a:buNone/>
            </a:pPr>
            <a:r>
              <a:rPr lang="en-US" sz="800" b="1" spc="100" kern="0" dirty="0">
                <a:solidFill>
                  <a:srgbClr val="0FBAA6"/>
                </a:solidFill>
                <a:latin typeface="Inter" pitchFamily="34" charset="0"/>
                <a:ea typeface="Inter" pitchFamily="34" charset="-122"/>
                <a:cs typeface="Inter" pitchFamily="34" charset="-120"/>
              </a:rPr>
              <a:t>PUBLISH</a:t>
            </a:r>
            <a:endParaRPr lang="en-US" sz="800" dirty="0"/>
          </a:p>
        </p:txBody>
      </p:sp>
      <p:sp>
        <p:nvSpPr>
          <p:cNvPr id="24" name="Text 22"/>
          <p:cNvSpPr txBox="1"/>
          <p:nvPr/>
        </p:nvSpPr>
        <p:spPr>
          <a:xfrm>
            <a:off x="6382512" y="2148840"/>
            <a:ext cx="1389888" cy="246888"/>
          </a:xfrm>
          <a:prstGeom prst="rect">
            <a:avLst/>
          </a:prstGeom>
          <a:noFill/>
          <a:ln/>
        </p:spPr>
        <p:txBody>
          <a:bodyPr wrap="square" lIns="0" tIns="0" rIns="0" bIns="0" rtlCol="0" anchor="ctr">
            <a:normAutofit/>
          </a:bodyPr>
          <a:lstStyle/>
          <a:p>
            <a:pPr algn="ctr" indent="0" marL="0">
              <a:buNone/>
            </a:pPr>
            <a:r>
              <a:rPr lang="en-US" sz="1020" b="1" dirty="0">
                <a:solidFill>
                  <a:srgbClr val="172337"/>
                </a:solidFill>
                <a:latin typeface="Inter" pitchFamily="34" charset="0"/>
                <a:ea typeface="Inter" pitchFamily="34" charset="-122"/>
                <a:cs typeface="Inter" pitchFamily="34" charset="-120"/>
              </a:rPr>
              <a:t>GHCR / SHA tags</a:t>
            </a:r>
            <a:endParaRPr lang="en-US" sz="1020" dirty="0"/>
          </a:p>
        </p:txBody>
      </p:sp>
      <p:sp>
        <p:nvSpPr>
          <p:cNvPr id="25" name="Shape 23"/>
          <p:cNvSpPr/>
          <p:nvPr/>
        </p:nvSpPr>
        <p:spPr>
          <a:xfrm>
            <a:off x="7900416" y="2176272"/>
            <a:ext cx="192024" cy="0"/>
          </a:xfrm>
          <a:prstGeom prst="line">
            <a:avLst/>
          </a:prstGeom>
          <a:noFill/>
          <a:ln w="19050">
            <a:solidFill>
              <a:srgbClr val="A8B4C4"/>
            </a:solidFill>
            <a:prstDash val="solid"/>
            <a:tailEnd type="triangle"/>
          </a:ln>
        </p:spPr>
      </p:sp>
      <p:sp>
        <p:nvSpPr>
          <p:cNvPr id="26" name="Shape 24"/>
          <p:cNvSpPr/>
          <p:nvPr/>
        </p:nvSpPr>
        <p:spPr>
          <a:xfrm>
            <a:off x="8174736" y="1755648"/>
            <a:ext cx="1572768" cy="841248"/>
          </a:xfrm>
          <a:prstGeom prst="roundRect">
            <a:avLst>
              <a:gd name="adj" fmla="val 10870"/>
            </a:avLst>
          </a:prstGeom>
          <a:solidFill>
            <a:srgbClr val="FFFFFF"/>
          </a:solidFill>
          <a:ln w="10160">
            <a:solidFill>
              <a:srgbClr val="D9E0EA"/>
            </a:solidFill>
            <a:prstDash val="solid"/>
          </a:ln>
        </p:spPr>
      </p:sp>
      <p:sp>
        <p:nvSpPr>
          <p:cNvPr id="27" name="Shape 25"/>
          <p:cNvSpPr/>
          <p:nvPr/>
        </p:nvSpPr>
        <p:spPr>
          <a:xfrm>
            <a:off x="8174736" y="1755648"/>
            <a:ext cx="1572768" cy="73152"/>
          </a:xfrm>
          <a:prstGeom prst="rect">
            <a:avLst>
              <a:gd name="adj" fmla="val 125000"/>
            </a:avLst>
          </a:prstGeom>
          <a:solidFill>
            <a:srgbClr val="8467E8"/>
          </a:solidFill>
          <a:ln w="10160">
            <a:solidFill>
              <a:srgbClr val="8467E8">
                <a:alpha val="0"/>
              </a:srgbClr>
            </a:solidFill>
            <a:prstDash val="solid"/>
          </a:ln>
        </p:spPr>
      </p:sp>
      <p:sp>
        <p:nvSpPr>
          <p:cNvPr id="28" name="Text 26"/>
          <p:cNvSpPr txBox="1"/>
          <p:nvPr/>
        </p:nvSpPr>
        <p:spPr>
          <a:xfrm>
            <a:off x="8284464" y="1911096"/>
            <a:ext cx="1353312" cy="173736"/>
          </a:xfrm>
          <a:prstGeom prst="rect">
            <a:avLst/>
          </a:prstGeom>
          <a:noFill/>
          <a:ln/>
        </p:spPr>
        <p:txBody>
          <a:bodyPr wrap="square" lIns="0" tIns="0" rIns="0" bIns="0" rtlCol="0" anchor="ctr">
            <a:normAutofit/>
          </a:bodyPr>
          <a:lstStyle/>
          <a:p>
            <a:pPr algn="ctr" indent="0" marL="0">
              <a:buNone/>
            </a:pPr>
            <a:r>
              <a:rPr lang="en-US" sz="800" b="1" spc="100" kern="0" dirty="0">
                <a:solidFill>
                  <a:srgbClr val="8467E8"/>
                </a:solidFill>
                <a:latin typeface="Inter" pitchFamily="34" charset="0"/>
                <a:ea typeface="Inter" pitchFamily="34" charset="-122"/>
                <a:cs typeface="Inter" pitchFamily="34" charset="-120"/>
              </a:rPr>
              <a:t>PROVISION</a:t>
            </a:r>
            <a:endParaRPr lang="en-US" sz="800" dirty="0"/>
          </a:p>
        </p:txBody>
      </p:sp>
      <p:sp>
        <p:nvSpPr>
          <p:cNvPr id="29" name="Text 27"/>
          <p:cNvSpPr txBox="1"/>
          <p:nvPr/>
        </p:nvSpPr>
        <p:spPr>
          <a:xfrm>
            <a:off x="8266176" y="2148840"/>
            <a:ext cx="1389888" cy="246888"/>
          </a:xfrm>
          <a:prstGeom prst="rect">
            <a:avLst/>
          </a:prstGeom>
          <a:noFill/>
          <a:ln/>
        </p:spPr>
        <p:txBody>
          <a:bodyPr wrap="square" lIns="0" tIns="0" rIns="0" bIns="0" rtlCol="0" anchor="ctr">
            <a:normAutofit/>
          </a:bodyPr>
          <a:lstStyle/>
          <a:p>
            <a:pPr algn="ctr" indent="0" marL="0">
              <a:buNone/>
            </a:pPr>
            <a:r>
              <a:rPr lang="en-US" sz="1020" b="1" dirty="0">
                <a:solidFill>
                  <a:srgbClr val="172337"/>
                </a:solidFill>
                <a:latin typeface="Inter" pitchFamily="34" charset="0"/>
                <a:ea typeface="Inter" pitchFamily="34" charset="-122"/>
                <a:cs typeface="Inter" pitchFamily="34" charset="-120"/>
              </a:rPr>
              <a:t>Terraform / EKS</a:t>
            </a:r>
            <a:endParaRPr lang="en-US" sz="1020" dirty="0"/>
          </a:p>
        </p:txBody>
      </p:sp>
      <p:sp>
        <p:nvSpPr>
          <p:cNvPr id="30" name="Text 28"/>
          <p:cNvSpPr txBox="1"/>
          <p:nvPr/>
        </p:nvSpPr>
        <p:spPr>
          <a:xfrm>
            <a:off x="640080" y="3072384"/>
            <a:ext cx="2011680" cy="201168"/>
          </a:xfrm>
          <a:prstGeom prst="rect">
            <a:avLst/>
          </a:prstGeom>
          <a:noFill/>
          <a:ln/>
        </p:spPr>
        <p:txBody>
          <a:bodyPr wrap="square" lIns="0" tIns="0" rIns="0" bIns="0" rtlCol="0" anchor="ctr">
            <a:normAutofit/>
          </a:bodyPr>
          <a:lstStyle/>
          <a:p>
            <a:pPr algn="l" indent="0" marL="0">
              <a:buNone/>
            </a:pPr>
            <a:r>
              <a:rPr lang="en-US" sz="850" b="1" spc="110" kern="0" dirty="0">
                <a:solidFill>
                  <a:srgbClr val="5E6B7C"/>
                </a:solidFill>
                <a:latin typeface="Inter" pitchFamily="34" charset="0"/>
                <a:ea typeface="Inter" pitchFamily="34" charset="-122"/>
                <a:cs typeface="Inter" pitchFamily="34" charset="-120"/>
              </a:rPr>
              <a:t>RUNTIME ON EKS</a:t>
            </a:r>
            <a:endParaRPr lang="en-US" sz="850" dirty="0"/>
          </a:p>
        </p:txBody>
      </p:sp>
      <p:sp>
        <p:nvSpPr>
          <p:cNvPr id="31" name="Shape 29"/>
          <p:cNvSpPr/>
          <p:nvPr/>
        </p:nvSpPr>
        <p:spPr>
          <a:xfrm>
            <a:off x="640080" y="3429000"/>
            <a:ext cx="7360920" cy="1956816"/>
          </a:xfrm>
          <a:prstGeom prst="roundRect">
            <a:avLst>
              <a:gd name="adj" fmla="val 4673"/>
            </a:avLst>
          </a:prstGeom>
          <a:solidFill>
            <a:srgbClr val="FFFFFF"/>
          </a:solidFill>
          <a:ln w="10160">
            <a:solidFill>
              <a:srgbClr val="D9E0EA"/>
            </a:solidFill>
            <a:prstDash val="solid"/>
          </a:ln>
        </p:spPr>
      </p:sp>
      <p:sp>
        <p:nvSpPr>
          <p:cNvPr id="32" name="Shape 30"/>
          <p:cNvSpPr/>
          <p:nvPr/>
        </p:nvSpPr>
        <p:spPr>
          <a:xfrm>
            <a:off x="832104" y="3657600"/>
            <a:ext cx="6976872" cy="1463040"/>
          </a:xfrm>
          <a:prstGeom prst="roundRect">
            <a:avLst>
              <a:gd name="adj" fmla="val 6250"/>
            </a:avLst>
          </a:prstGeom>
          <a:solidFill>
            <a:srgbClr val="F4F7FC"/>
          </a:solidFill>
          <a:ln w="10160">
            <a:solidFill>
              <a:srgbClr val="F4F7FC">
                <a:alpha val="0"/>
              </a:srgbClr>
            </a:solidFill>
            <a:prstDash val="solid"/>
          </a:ln>
        </p:spPr>
      </p:sp>
      <p:sp>
        <p:nvSpPr>
          <p:cNvPr id="33" name="Shape 31"/>
          <p:cNvSpPr/>
          <p:nvPr/>
        </p:nvSpPr>
        <p:spPr>
          <a:xfrm>
            <a:off x="1033272" y="4005072"/>
            <a:ext cx="1353312" cy="804672"/>
          </a:xfrm>
          <a:prstGeom prst="roundRect">
            <a:avLst>
              <a:gd name="adj" fmla="val 11364"/>
            </a:avLst>
          </a:prstGeom>
          <a:solidFill>
            <a:srgbClr val="FFFFFF"/>
          </a:solidFill>
          <a:ln w="10160">
            <a:solidFill>
              <a:srgbClr val="FFFFFF">
                <a:alpha val="0"/>
              </a:srgbClr>
            </a:solidFill>
            <a:prstDash val="solid"/>
          </a:ln>
        </p:spPr>
      </p:sp>
      <p:sp>
        <p:nvSpPr>
          <p:cNvPr id="34" name="Shape 32"/>
          <p:cNvSpPr/>
          <p:nvPr/>
        </p:nvSpPr>
        <p:spPr>
          <a:xfrm>
            <a:off x="1033272" y="4005072"/>
            <a:ext cx="50292" cy="804672"/>
          </a:xfrm>
          <a:prstGeom prst="rect">
            <a:avLst>
              <a:gd name="adj" fmla="val 181818"/>
            </a:avLst>
          </a:prstGeom>
          <a:solidFill>
            <a:srgbClr val="8467E8"/>
          </a:solidFill>
          <a:ln w="10160">
            <a:solidFill>
              <a:srgbClr val="8467E8">
                <a:alpha val="0"/>
              </a:srgbClr>
            </a:solidFill>
            <a:prstDash val="solid"/>
          </a:ln>
        </p:spPr>
      </p:sp>
      <p:sp>
        <p:nvSpPr>
          <p:cNvPr id="35" name="Text 33"/>
          <p:cNvSpPr txBox="1"/>
          <p:nvPr/>
        </p:nvSpPr>
        <p:spPr>
          <a:xfrm>
            <a:off x="1161288" y="4096512"/>
            <a:ext cx="1115568" cy="210312"/>
          </a:xfrm>
          <a:prstGeom prst="rect">
            <a:avLst/>
          </a:prstGeom>
          <a:noFill/>
          <a:ln/>
        </p:spPr>
        <p:txBody>
          <a:bodyPr wrap="square" lIns="0" tIns="0" rIns="0" bIns="0" rtlCol="0" anchor="ctr">
            <a:normAutofit/>
          </a:bodyPr>
          <a:lstStyle/>
          <a:p>
            <a:pPr algn="ctr" indent="0" marL="0">
              <a:buNone/>
            </a:pPr>
            <a:r>
              <a:rPr lang="en-US" sz="1030" b="1" dirty="0">
                <a:solidFill>
                  <a:srgbClr val="172337"/>
                </a:solidFill>
                <a:latin typeface="Inter" pitchFamily="34" charset="0"/>
                <a:ea typeface="Inter" pitchFamily="34" charset="-122"/>
                <a:cs typeface="Inter" pitchFamily="34" charset="-120"/>
              </a:rPr>
              <a:t>Ingress</a:t>
            </a:r>
            <a:endParaRPr lang="en-US" sz="1030" dirty="0"/>
          </a:p>
        </p:txBody>
      </p:sp>
      <p:sp>
        <p:nvSpPr>
          <p:cNvPr id="36" name="Text 34"/>
          <p:cNvSpPr txBox="1"/>
          <p:nvPr/>
        </p:nvSpPr>
        <p:spPr>
          <a:xfrm>
            <a:off x="1143000" y="4343400"/>
            <a:ext cx="1143000"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Nginx controller</a:t>
            </a:r>
            <a:endParaRPr lang="en-US" sz="830" dirty="0"/>
          </a:p>
        </p:txBody>
      </p:sp>
      <p:sp>
        <p:nvSpPr>
          <p:cNvPr id="37" name="Shape 35"/>
          <p:cNvSpPr/>
          <p:nvPr/>
        </p:nvSpPr>
        <p:spPr>
          <a:xfrm>
            <a:off x="2670048" y="4005072"/>
            <a:ext cx="1353312" cy="804672"/>
          </a:xfrm>
          <a:prstGeom prst="roundRect">
            <a:avLst>
              <a:gd name="adj" fmla="val 11364"/>
            </a:avLst>
          </a:prstGeom>
          <a:solidFill>
            <a:srgbClr val="FFFFFF"/>
          </a:solidFill>
          <a:ln w="10160">
            <a:solidFill>
              <a:srgbClr val="FFFFFF">
                <a:alpha val="0"/>
              </a:srgbClr>
            </a:solidFill>
            <a:prstDash val="solid"/>
          </a:ln>
        </p:spPr>
      </p:sp>
      <p:sp>
        <p:nvSpPr>
          <p:cNvPr id="38" name="Shape 36"/>
          <p:cNvSpPr/>
          <p:nvPr/>
        </p:nvSpPr>
        <p:spPr>
          <a:xfrm>
            <a:off x="2670048" y="4005072"/>
            <a:ext cx="50292" cy="804672"/>
          </a:xfrm>
          <a:prstGeom prst="rect">
            <a:avLst>
              <a:gd name="adj" fmla="val 181818"/>
            </a:avLst>
          </a:prstGeom>
          <a:solidFill>
            <a:srgbClr val="3478F6"/>
          </a:solidFill>
          <a:ln w="10160">
            <a:solidFill>
              <a:srgbClr val="3478F6">
                <a:alpha val="0"/>
              </a:srgbClr>
            </a:solidFill>
            <a:prstDash val="solid"/>
          </a:ln>
        </p:spPr>
      </p:sp>
      <p:sp>
        <p:nvSpPr>
          <p:cNvPr id="39" name="Text 37"/>
          <p:cNvSpPr txBox="1"/>
          <p:nvPr/>
        </p:nvSpPr>
        <p:spPr>
          <a:xfrm>
            <a:off x="2798064" y="4096512"/>
            <a:ext cx="1115568" cy="210312"/>
          </a:xfrm>
          <a:prstGeom prst="rect">
            <a:avLst/>
          </a:prstGeom>
          <a:noFill/>
          <a:ln/>
        </p:spPr>
        <p:txBody>
          <a:bodyPr wrap="square" lIns="0" tIns="0" rIns="0" bIns="0" rtlCol="0" anchor="ctr">
            <a:normAutofit/>
          </a:bodyPr>
          <a:lstStyle/>
          <a:p>
            <a:pPr algn="ctr" indent="0" marL="0">
              <a:buNone/>
            </a:pPr>
            <a:r>
              <a:rPr lang="en-US" sz="1030" b="1" dirty="0">
                <a:solidFill>
                  <a:srgbClr val="172337"/>
                </a:solidFill>
                <a:latin typeface="Inter" pitchFamily="34" charset="0"/>
                <a:ea typeface="Inter" pitchFamily="34" charset="-122"/>
                <a:cs typeface="Inter" pitchFamily="34" charset="-120"/>
              </a:rPr>
              <a:t>Frontend</a:t>
            </a:r>
            <a:endParaRPr lang="en-US" sz="1030" dirty="0"/>
          </a:p>
        </p:txBody>
      </p:sp>
      <p:sp>
        <p:nvSpPr>
          <p:cNvPr id="40" name="Text 38"/>
          <p:cNvSpPr txBox="1"/>
          <p:nvPr/>
        </p:nvSpPr>
        <p:spPr>
          <a:xfrm>
            <a:off x="2779776" y="4343400"/>
            <a:ext cx="1143000"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React + Nginx</a:t>
            </a:r>
            <a:endParaRPr lang="en-US" sz="830" dirty="0"/>
          </a:p>
        </p:txBody>
      </p:sp>
      <p:sp>
        <p:nvSpPr>
          <p:cNvPr id="41" name="Shape 39"/>
          <p:cNvSpPr/>
          <p:nvPr/>
        </p:nvSpPr>
        <p:spPr>
          <a:xfrm>
            <a:off x="4306824" y="4005072"/>
            <a:ext cx="1353312" cy="804672"/>
          </a:xfrm>
          <a:prstGeom prst="roundRect">
            <a:avLst>
              <a:gd name="adj" fmla="val 11364"/>
            </a:avLst>
          </a:prstGeom>
          <a:solidFill>
            <a:srgbClr val="FFFFFF"/>
          </a:solidFill>
          <a:ln w="10160">
            <a:solidFill>
              <a:srgbClr val="FFFFFF">
                <a:alpha val="0"/>
              </a:srgbClr>
            </a:solidFill>
            <a:prstDash val="solid"/>
          </a:ln>
        </p:spPr>
      </p:sp>
      <p:sp>
        <p:nvSpPr>
          <p:cNvPr id="42" name="Shape 40"/>
          <p:cNvSpPr/>
          <p:nvPr/>
        </p:nvSpPr>
        <p:spPr>
          <a:xfrm>
            <a:off x="4306824" y="4005072"/>
            <a:ext cx="50292" cy="804672"/>
          </a:xfrm>
          <a:prstGeom prst="rect">
            <a:avLst>
              <a:gd name="adj" fmla="val 181818"/>
            </a:avLst>
          </a:prstGeom>
          <a:solidFill>
            <a:srgbClr val="0FBAA6"/>
          </a:solidFill>
          <a:ln w="10160">
            <a:solidFill>
              <a:srgbClr val="0FBAA6">
                <a:alpha val="0"/>
              </a:srgbClr>
            </a:solidFill>
            <a:prstDash val="solid"/>
          </a:ln>
        </p:spPr>
      </p:sp>
      <p:sp>
        <p:nvSpPr>
          <p:cNvPr id="43" name="Text 41"/>
          <p:cNvSpPr txBox="1"/>
          <p:nvPr/>
        </p:nvSpPr>
        <p:spPr>
          <a:xfrm>
            <a:off x="4434840" y="4096512"/>
            <a:ext cx="1115568" cy="210312"/>
          </a:xfrm>
          <a:prstGeom prst="rect">
            <a:avLst/>
          </a:prstGeom>
          <a:noFill/>
          <a:ln/>
        </p:spPr>
        <p:txBody>
          <a:bodyPr wrap="square" lIns="0" tIns="0" rIns="0" bIns="0" rtlCol="0" anchor="ctr">
            <a:normAutofit/>
          </a:bodyPr>
          <a:lstStyle/>
          <a:p>
            <a:pPr algn="ctr" indent="0" marL="0">
              <a:buNone/>
            </a:pPr>
            <a:r>
              <a:rPr lang="en-US" sz="1030" b="1" dirty="0">
                <a:solidFill>
                  <a:srgbClr val="172337"/>
                </a:solidFill>
                <a:latin typeface="Inter" pitchFamily="34" charset="0"/>
                <a:ea typeface="Inter" pitchFamily="34" charset="-122"/>
                <a:cs typeface="Inter" pitchFamily="34" charset="-120"/>
              </a:rPr>
              <a:t>Backend</a:t>
            </a:r>
            <a:endParaRPr lang="en-US" sz="1030" dirty="0"/>
          </a:p>
        </p:txBody>
      </p:sp>
      <p:sp>
        <p:nvSpPr>
          <p:cNvPr id="44" name="Text 42"/>
          <p:cNvSpPr txBox="1"/>
          <p:nvPr/>
        </p:nvSpPr>
        <p:spPr>
          <a:xfrm>
            <a:off x="4416552" y="4343400"/>
            <a:ext cx="1143000"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FastAPI</a:t>
            </a:r>
            <a:endParaRPr lang="en-US" sz="830" dirty="0"/>
          </a:p>
        </p:txBody>
      </p:sp>
      <p:sp>
        <p:nvSpPr>
          <p:cNvPr id="45" name="Shape 43"/>
          <p:cNvSpPr/>
          <p:nvPr/>
        </p:nvSpPr>
        <p:spPr>
          <a:xfrm>
            <a:off x="5943600" y="4005072"/>
            <a:ext cx="1353312" cy="804672"/>
          </a:xfrm>
          <a:prstGeom prst="roundRect">
            <a:avLst>
              <a:gd name="adj" fmla="val 11364"/>
            </a:avLst>
          </a:prstGeom>
          <a:solidFill>
            <a:srgbClr val="FFFFFF"/>
          </a:solidFill>
          <a:ln w="10160">
            <a:solidFill>
              <a:srgbClr val="FFFFFF">
                <a:alpha val="0"/>
              </a:srgbClr>
            </a:solidFill>
            <a:prstDash val="solid"/>
          </a:ln>
        </p:spPr>
      </p:sp>
      <p:sp>
        <p:nvSpPr>
          <p:cNvPr id="46" name="Shape 44"/>
          <p:cNvSpPr/>
          <p:nvPr/>
        </p:nvSpPr>
        <p:spPr>
          <a:xfrm>
            <a:off x="5943600" y="4005072"/>
            <a:ext cx="50292" cy="804672"/>
          </a:xfrm>
          <a:prstGeom prst="rect">
            <a:avLst>
              <a:gd name="adj" fmla="val 181818"/>
            </a:avLst>
          </a:prstGeom>
          <a:solidFill>
            <a:srgbClr val="F28C52"/>
          </a:solidFill>
          <a:ln w="10160">
            <a:solidFill>
              <a:srgbClr val="F28C52">
                <a:alpha val="0"/>
              </a:srgbClr>
            </a:solidFill>
            <a:prstDash val="solid"/>
          </a:ln>
        </p:spPr>
      </p:sp>
      <p:sp>
        <p:nvSpPr>
          <p:cNvPr id="47" name="Text 45"/>
          <p:cNvSpPr txBox="1"/>
          <p:nvPr/>
        </p:nvSpPr>
        <p:spPr>
          <a:xfrm>
            <a:off x="6071616" y="4096512"/>
            <a:ext cx="1115568" cy="210312"/>
          </a:xfrm>
          <a:prstGeom prst="rect">
            <a:avLst/>
          </a:prstGeom>
          <a:noFill/>
          <a:ln/>
        </p:spPr>
        <p:txBody>
          <a:bodyPr wrap="square" lIns="0" tIns="0" rIns="0" bIns="0" rtlCol="0" anchor="ctr">
            <a:normAutofit/>
          </a:bodyPr>
          <a:lstStyle/>
          <a:p>
            <a:pPr algn="ctr" indent="0" marL="0">
              <a:buNone/>
            </a:pPr>
            <a:r>
              <a:rPr lang="en-US" sz="1030" b="1" dirty="0">
                <a:solidFill>
                  <a:srgbClr val="172337"/>
                </a:solidFill>
                <a:latin typeface="Inter" pitchFamily="34" charset="0"/>
                <a:ea typeface="Inter" pitchFamily="34" charset="-122"/>
                <a:cs typeface="Inter" pitchFamily="34" charset="-120"/>
              </a:rPr>
              <a:t>Database</a:t>
            </a:r>
            <a:endParaRPr lang="en-US" sz="1030" dirty="0"/>
          </a:p>
        </p:txBody>
      </p:sp>
      <p:sp>
        <p:nvSpPr>
          <p:cNvPr id="48" name="Text 46"/>
          <p:cNvSpPr txBox="1"/>
          <p:nvPr/>
        </p:nvSpPr>
        <p:spPr>
          <a:xfrm>
            <a:off x="6053328" y="4343400"/>
            <a:ext cx="1143000"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PostgreSQL</a:t>
            </a:r>
            <a:endParaRPr lang="en-US" sz="830" dirty="0"/>
          </a:p>
        </p:txBody>
      </p:sp>
      <p:sp>
        <p:nvSpPr>
          <p:cNvPr id="49" name="Shape 47"/>
          <p:cNvSpPr/>
          <p:nvPr/>
        </p:nvSpPr>
        <p:spPr>
          <a:xfrm>
            <a:off x="2395728" y="4407408"/>
            <a:ext cx="246888" cy="0"/>
          </a:xfrm>
          <a:prstGeom prst="line">
            <a:avLst/>
          </a:prstGeom>
          <a:noFill/>
          <a:ln w="16510">
            <a:solidFill>
              <a:srgbClr val="A8B4C4"/>
            </a:solidFill>
            <a:prstDash val="solid"/>
            <a:tailEnd type="triangle"/>
          </a:ln>
        </p:spPr>
      </p:sp>
      <p:sp>
        <p:nvSpPr>
          <p:cNvPr id="50" name="Shape 48"/>
          <p:cNvSpPr/>
          <p:nvPr/>
        </p:nvSpPr>
        <p:spPr>
          <a:xfrm>
            <a:off x="4032504" y="4407408"/>
            <a:ext cx="246888" cy="0"/>
          </a:xfrm>
          <a:prstGeom prst="line">
            <a:avLst/>
          </a:prstGeom>
          <a:noFill/>
          <a:ln w="16510">
            <a:solidFill>
              <a:srgbClr val="A8B4C4"/>
            </a:solidFill>
            <a:prstDash val="solid"/>
            <a:tailEnd type="triangle"/>
          </a:ln>
        </p:spPr>
      </p:sp>
      <p:sp>
        <p:nvSpPr>
          <p:cNvPr id="51" name="Shape 49"/>
          <p:cNvSpPr/>
          <p:nvPr/>
        </p:nvSpPr>
        <p:spPr>
          <a:xfrm>
            <a:off x="5669280" y="4407408"/>
            <a:ext cx="246888" cy="0"/>
          </a:xfrm>
          <a:prstGeom prst="line">
            <a:avLst/>
          </a:prstGeom>
          <a:noFill/>
          <a:ln w="16510">
            <a:solidFill>
              <a:srgbClr val="A8B4C4"/>
            </a:solidFill>
            <a:prstDash val="solid"/>
            <a:tailEnd type="triangle"/>
          </a:ln>
        </p:spPr>
      </p:sp>
      <p:sp>
        <p:nvSpPr>
          <p:cNvPr id="52" name="Shape 50"/>
          <p:cNvSpPr/>
          <p:nvPr/>
        </p:nvSpPr>
        <p:spPr>
          <a:xfrm>
            <a:off x="8302752" y="3429000"/>
            <a:ext cx="3209544" cy="1956816"/>
          </a:xfrm>
          <a:prstGeom prst="roundRect">
            <a:avLst>
              <a:gd name="adj" fmla="val 4673"/>
            </a:avLst>
          </a:prstGeom>
          <a:solidFill>
            <a:srgbClr val="E1F7F3"/>
          </a:solidFill>
          <a:ln w="10160">
            <a:solidFill>
              <a:srgbClr val="E1F7F3">
                <a:alpha val="0"/>
              </a:srgbClr>
            </a:solidFill>
            <a:prstDash val="solid"/>
          </a:ln>
        </p:spPr>
      </p:sp>
      <p:sp>
        <p:nvSpPr>
          <p:cNvPr id="53" name="Text 51"/>
          <p:cNvSpPr txBox="1"/>
          <p:nvPr/>
        </p:nvSpPr>
        <p:spPr>
          <a:xfrm>
            <a:off x="8540496" y="3657600"/>
            <a:ext cx="2697480" cy="201168"/>
          </a:xfrm>
          <a:prstGeom prst="rect">
            <a:avLst/>
          </a:prstGeom>
          <a:noFill/>
          <a:ln/>
        </p:spPr>
        <p:txBody>
          <a:bodyPr wrap="square" lIns="0" tIns="0" rIns="0" bIns="0" rtlCol="0" anchor="ctr">
            <a:normAutofit/>
          </a:bodyPr>
          <a:lstStyle/>
          <a:p>
            <a:pPr algn="ctr" indent="0" marL="0">
              <a:buNone/>
            </a:pPr>
            <a:r>
              <a:rPr lang="en-US" sz="880" b="1" spc="110" kern="0" dirty="0">
                <a:solidFill>
                  <a:srgbClr val="087F73"/>
                </a:solidFill>
                <a:latin typeface="Inter" pitchFamily="34" charset="0"/>
                <a:ea typeface="Inter" pitchFamily="34" charset="-122"/>
                <a:cs typeface="Inter" pitchFamily="34" charset="-120"/>
              </a:rPr>
              <a:t>OBSERVABILITY</a:t>
            </a:r>
            <a:endParaRPr lang="en-US" sz="880" dirty="0"/>
          </a:p>
        </p:txBody>
      </p:sp>
      <p:sp>
        <p:nvSpPr>
          <p:cNvPr id="54" name="Shape 52"/>
          <p:cNvSpPr/>
          <p:nvPr/>
        </p:nvSpPr>
        <p:spPr>
          <a:xfrm>
            <a:off x="8622792" y="4041648"/>
            <a:ext cx="1069848" cy="731520"/>
          </a:xfrm>
          <a:prstGeom prst="roundRect">
            <a:avLst>
              <a:gd name="adj" fmla="val 12500"/>
            </a:avLst>
          </a:prstGeom>
          <a:solidFill>
            <a:srgbClr val="FFFFFF"/>
          </a:solidFill>
          <a:ln w="10160">
            <a:solidFill>
              <a:srgbClr val="FFFFFF">
                <a:alpha val="0"/>
              </a:srgbClr>
            </a:solidFill>
            <a:prstDash val="solid"/>
          </a:ln>
        </p:spPr>
      </p:sp>
      <p:sp>
        <p:nvSpPr>
          <p:cNvPr id="55" name="Shape 53"/>
          <p:cNvSpPr/>
          <p:nvPr/>
        </p:nvSpPr>
        <p:spPr>
          <a:xfrm>
            <a:off x="8622792" y="4041648"/>
            <a:ext cx="50292" cy="731520"/>
          </a:xfrm>
          <a:prstGeom prst="rect">
            <a:avLst>
              <a:gd name="adj" fmla="val 181818"/>
            </a:avLst>
          </a:prstGeom>
          <a:solidFill>
            <a:srgbClr val="0FBAA6"/>
          </a:solidFill>
          <a:ln w="10160">
            <a:solidFill>
              <a:srgbClr val="0FBAA6">
                <a:alpha val="0"/>
              </a:srgbClr>
            </a:solidFill>
            <a:prstDash val="solid"/>
          </a:ln>
        </p:spPr>
      </p:sp>
      <p:sp>
        <p:nvSpPr>
          <p:cNvPr id="56" name="Text 54"/>
          <p:cNvSpPr txBox="1"/>
          <p:nvPr/>
        </p:nvSpPr>
        <p:spPr>
          <a:xfrm>
            <a:off x="8750808" y="4133088"/>
            <a:ext cx="832104" cy="210312"/>
          </a:xfrm>
          <a:prstGeom prst="rect">
            <a:avLst/>
          </a:prstGeom>
          <a:noFill/>
          <a:ln/>
        </p:spPr>
        <p:txBody>
          <a:bodyPr wrap="square" lIns="0" tIns="0" rIns="0" bIns="0" rtlCol="0" anchor="ctr">
            <a:normAutofit/>
          </a:bodyPr>
          <a:lstStyle/>
          <a:p>
            <a:pPr algn="ctr" indent="0" marL="0">
              <a:buNone/>
            </a:pPr>
            <a:r>
              <a:rPr lang="en-US" sz="920" b="1" dirty="0">
                <a:solidFill>
                  <a:srgbClr val="172337"/>
                </a:solidFill>
                <a:latin typeface="Inter" pitchFamily="34" charset="0"/>
                <a:ea typeface="Inter" pitchFamily="34" charset="-122"/>
                <a:cs typeface="Inter" pitchFamily="34" charset="-120"/>
              </a:rPr>
              <a:t>Metrics</a:t>
            </a:r>
            <a:endParaRPr lang="en-US" sz="920" dirty="0"/>
          </a:p>
        </p:txBody>
      </p:sp>
      <p:sp>
        <p:nvSpPr>
          <p:cNvPr id="57" name="Text 55"/>
          <p:cNvSpPr txBox="1"/>
          <p:nvPr/>
        </p:nvSpPr>
        <p:spPr>
          <a:xfrm>
            <a:off x="8732520" y="4379976"/>
            <a:ext cx="859536" cy="320040"/>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/metrics</a:t>
            </a:r>
            <a:endParaRPr lang="en-US" sz="830" dirty="0"/>
          </a:p>
        </p:txBody>
      </p:sp>
      <p:sp>
        <p:nvSpPr>
          <p:cNvPr id="58" name="Shape 56"/>
          <p:cNvSpPr/>
          <p:nvPr/>
        </p:nvSpPr>
        <p:spPr>
          <a:xfrm>
            <a:off x="9912096" y="4041648"/>
            <a:ext cx="1069848" cy="731520"/>
          </a:xfrm>
          <a:prstGeom prst="roundRect">
            <a:avLst>
              <a:gd name="adj" fmla="val 12500"/>
            </a:avLst>
          </a:prstGeom>
          <a:solidFill>
            <a:srgbClr val="FFFFFF"/>
          </a:solidFill>
          <a:ln w="10160">
            <a:solidFill>
              <a:srgbClr val="FFFFFF">
                <a:alpha val="0"/>
              </a:srgbClr>
            </a:solidFill>
            <a:prstDash val="solid"/>
          </a:ln>
        </p:spPr>
      </p:sp>
      <p:sp>
        <p:nvSpPr>
          <p:cNvPr id="59" name="Shape 57"/>
          <p:cNvSpPr/>
          <p:nvPr/>
        </p:nvSpPr>
        <p:spPr>
          <a:xfrm>
            <a:off x="9912096" y="4041648"/>
            <a:ext cx="50292" cy="731520"/>
          </a:xfrm>
          <a:prstGeom prst="rect">
            <a:avLst>
              <a:gd name="adj" fmla="val 181818"/>
            </a:avLst>
          </a:prstGeom>
          <a:solidFill>
            <a:srgbClr val="8467E8"/>
          </a:solidFill>
          <a:ln w="10160">
            <a:solidFill>
              <a:srgbClr val="8467E8">
                <a:alpha val="0"/>
              </a:srgbClr>
            </a:solidFill>
            <a:prstDash val="solid"/>
          </a:ln>
        </p:spPr>
      </p:sp>
      <p:sp>
        <p:nvSpPr>
          <p:cNvPr id="60" name="Text 58"/>
          <p:cNvSpPr txBox="1"/>
          <p:nvPr/>
        </p:nvSpPr>
        <p:spPr>
          <a:xfrm>
            <a:off x="10040112" y="4133088"/>
            <a:ext cx="832104" cy="210312"/>
          </a:xfrm>
          <a:prstGeom prst="rect">
            <a:avLst/>
          </a:prstGeom>
          <a:noFill/>
          <a:ln/>
        </p:spPr>
        <p:txBody>
          <a:bodyPr wrap="square" lIns="0" tIns="0" rIns="0" bIns="0" rtlCol="0" anchor="ctr">
            <a:normAutofit/>
          </a:bodyPr>
          <a:lstStyle/>
          <a:p>
            <a:pPr algn="ctr" indent="0" marL="0">
              <a:buNone/>
            </a:pPr>
            <a:r>
              <a:rPr lang="en-US" sz="850" b="1" dirty="0">
                <a:solidFill>
                  <a:srgbClr val="172337"/>
                </a:solidFill>
                <a:latin typeface="Inter" pitchFamily="34" charset="0"/>
                <a:ea typeface="Inter" pitchFamily="34" charset="-122"/>
                <a:cs typeface="Inter" pitchFamily="34" charset="-120"/>
              </a:rPr>
              <a:t>Prometheus</a:t>
            </a:r>
            <a:endParaRPr lang="en-US" sz="850" dirty="0"/>
          </a:p>
        </p:txBody>
      </p:sp>
      <p:sp>
        <p:nvSpPr>
          <p:cNvPr id="61" name="Text 59"/>
          <p:cNvSpPr txBox="1"/>
          <p:nvPr/>
        </p:nvSpPr>
        <p:spPr>
          <a:xfrm>
            <a:off x="10021824" y="4379976"/>
            <a:ext cx="859536" cy="320040"/>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Scrape target</a:t>
            </a:r>
            <a:endParaRPr lang="en-US" sz="830" dirty="0"/>
          </a:p>
        </p:txBody>
      </p:sp>
      <p:sp>
        <p:nvSpPr>
          <p:cNvPr id="62" name="Shape 60"/>
          <p:cNvSpPr/>
          <p:nvPr/>
        </p:nvSpPr>
        <p:spPr>
          <a:xfrm>
            <a:off x="9710928" y="4407408"/>
            <a:ext cx="173736" cy="0"/>
          </a:xfrm>
          <a:prstGeom prst="line">
            <a:avLst/>
          </a:prstGeom>
          <a:noFill/>
          <a:ln w="15240">
            <a:solidFill>
              <a:srgbClr val="78A89F"/>
            </a:solidFill>
            <a:prstDash val="solid"/>
            <a:tailEnd type="triangle"/>
          </a:ln>
        </p:spPr>
      </p:sp>
      <p:sp>
        <p:nvSpPr>
          <p:cNvPr id="63" name="Text 61"/>
          <p:cNvSpPr txBox="1"/>
          <p:nvPr/>
        </p:nvSpPr>
        <p:spPr>
          <a:xfrm>
            <a:off x="8705088" y="4901184"/>
            <a:ext cx="2286000" cy="201168"/>
          </a:xfrm>
          <a:prstGeom prst="rect">
            <a:avLst/>
          </a:prstGeom>
          <a:noFill/>
          <a:ln/>
        </p:spPr>
        <p:txBody>
          <a:bodyPr wrap="square" lIns="0" tIns="0" rIns="0" bIns="0" rtlCol="0" anchor="ctr">
            <a:normAutofit/>
          </a:bodyPr>
          <a:lstStyle/>
          <a:p>
            <a:pPr algn="ctr" indent="0" marL="0">
              <a:buNone/>
            </a:pPr>
            <a:r>
              <a:rPr lang="en-US" sz="900" b="1" dirty="0">
                <a:solidFill>
                  <a:srgbClr val="172337"/>
                </a:solidFill>
                <a:latin typeface="Inter" pitchFamily="34" charset="0"/>
                <a:ea typeface="Inter" pitchFamily="34" charset="-122"/>
                <a:cs typeface="Inter" pitchFamily="34" charset="-120"/>
              </a:rPr>
              <a:t>Grafana dashboards</a:t>
            </a:r>
            <a:endParaRPr lang="en-US" sz="900" dirty="0"/>
          </a:p>
        </p:txBody>
      </p:sp>
      <p:sp>
        <p:nvSpPr>
          <p:cNvPr id="64" name="Shape 62"/>
          <p:cNvSpPr/>
          <p:nvPr/>
        </p:nvSpPr>
        <p:spPr>
          <a:xfrm>
            <a:off x="4983480" y="3474720"/>
            <a:ext cx="0" cy="-685800"/>
          </a:xfrm>
          <a:prstGeom prst="line">
            <a:avLst/>
          </a:prstGeom>
          <a:noFill/>
          <a:ln w="15240">
            <a:solidFill>
              <a:srgbClr val="A8B4C4"/>
            </a:solidFill>
            <a:prstDash val="dash"/>
            <a:tailEnd type="triangle"/>
          </a:ln>
        </p:spPr>
      </p:sp>
      <p:sp>
        <p:nvSpPr>
          <p:cNvPr id="65" name="Text 63"/>
          <p:cNvSpPr txBox="1"/>
          <p:nvPr/>
        </p:nvSpPr>
        <p:spPr>
          <a:xfrm>
            <a:off x="658368" y="5742432"/>
            <a:ext cx="10835640" cy="246888"/>
          </a:xfrm>
          <a:prstGeom prst="rect">
            <a:avLst/>
          </a:prstGeom>
          <a:noFill/>
          <a:ln/>
        </p:spPr>
        <p:txBody>
          <a:bodyPr wrap="square" lIns="0" tIns="0" rIns="0" bIns="0" rtlCol="0" anchor="ctr">
            <a:normAutofit/>
          </a:bodyPr>
          <a:lstStyle/>
          <a:p>
            <a:pPr algn="l" indent="0" marL="0">
              <a:buNone/>
            </a:pPr>
            <a:r>
              <a:rPr lang="en-US" sz="1000" i="1" dirty="0">
                <a:solidFill>
                  <a:srgbClr val="5E6B7C"/>
                </a:solidFill>
                <a:latin typeface="Inter" pitchFamily="34" charset="0"/>
                <a:ea typeface="Inter" pitchFamily="34" charset="-122"/>
                <a:cs typeface="Inter" pitchFamily="34" charset="-120"/>
              </a:rPr>
              <a:t>Images published by CI are deployed by a separate Helm release in the currently documented workflow.</a:t>
            </a:r>
            <a:endParaRPr lang="en-US" sz="100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536192"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371600"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03  /  TOOLCHAIN</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Technology stack mapped to the repository</a:t>
            </a:r>
            <a:endParaRPr lang="en-US" sz="2400" dirty="0"/>
          </a:p>
        </p:txBody>
      </p:sp>
      <p:sp>
        <p:nvSpPr>
          <p:cNvPr id="5" name="Text 3"/>
          <p:cNvSpPr txBox="1"/>
          <p:nvPr/>
        </p:nvSpPr>
        <p:spPr>
          <a:xfrm>
            <a:off x="612648" y="1389888"/>
            <a:ext cx="2267712" cy="228600"/>
          </a:xfrm>
          <a:prstGeom prst="rect">
            <a:avLst/>
          </a:prstGeom>
          <a:noFill/>
          <a:ln/>
        </p:spPr>
        <p:txBody>
          <a:bodyPr wrap="square" lIns="0" tIns="0" rIns="0" bIns="0" rtlCol="0" anchor="ctr">
            <a:normAutofit/>
          </a:bodyPr>
          <a:lstStyle/>
          <a:p>
            <a:pPr algn="l" indent="0" marL="0">
              <a:buNone/>
            </a:pPr>
            <a:r>
              <a:rPr lang="en-US" sz="850" b="1" spc="100" kern="0" dirty="0">
                <a:solidFill>
                  <a:srgbClr val="3478F6"/>
                </a:solidFill>
                <a:latin typeface="Inter" pitchFamily="34" charset="0"/>
                <a:ea typeface="Inter" pitchFamily="34" charset="-122"/>
                <a:cs typeface="Inter" pitchFamily="34" charset="-120"/>
              </a:rPr>
              <a:t>APPLICATION</a:t>
            </a:r>
            <a:endParaRPr lang="en-US" sz="850" dirty="0"/>
          </a:p>
        </p:txBody>
      </p:sp>
      <p:sp>
        <p:nvSpPr>
          <p:cNvPr id="6" name="Shape 4"/>
          <p:cNvSpPr/>
          <p:nvPr/>
        </p:nvSpPr>
        <p:spPr>
          <a:xfrm>
            <a:off x="612648" y="1737360"/>
            <a:ext cx="2240280" cy="3401568"/>
          </a:xfrm>
          <a:prstGeom prst="roundRect">
            <a:avLst>
              <a:gd name="adj" fmla="val 4082"/>
            </a:avLst>
          </a:prstGeom>
          <a:solidFill>
            <a:srgbClr val="FFFFFF"/>
          </a:solidFill>
          <a:ln w="10160">
            <a:solidFill>
              <a:srgbClr val="D9E0EA"/>
            </a:solidFill>
            <a:prstDash val="solid"/>
          </a:ln>
        </p:spPr>
      </p:sp>
      <p:sp>
        <p:nvSpPr>
          <p:cNvPr id="7" name="Shape 5"/>
          <p:cNvSpPr/>
          <p:nvPr/>
        </p:nvSpPr>
        <p:spPr>
          <a:xfrm>
            <a:off x="768096" y="1984248"/>
            <a:ext cx="1929384" cy="749808"/>
          </a:xfrm>
          <a:prstGeom prst="roundRect">
            <a:avLst>
              <a:gd name="adj" fmla="val 12195"/>
            </a:avLst>
          </a:prstGeom>
          <a:solidFill>
            <a:srgbClr val="F6F8FC"/>
          </a:solidFill>
          <a:ln w="10160">
            <a:solidFill>
              <a:srgbClr val="F6F8FC">
                <a:alpha val="0"/>
              </a:srgbClr>
            </a:solidFill>
            <a:prstDash val="solid"/>
          </a:ln>
        </p:spPr>
      </p:sp>
      <p:sp>
        <p:nvSpPr>
          <p:cNvPr id="8" name="Shape 6"/>
          <p:cNvSpPr/>
          <p:nvPr/>
        </p:nvSpPr>
        <p:spPr>
          <a:xfrm>
            <a:off x="896112" y="2130552"/>
            <a:ext cx="91440" cy="91440"/>
          </a:xfrm>
          <a:prstGeom prst="ellipse">
            <a:avLst/>
          </a:prstGeom>
          <a:solidFill>
            <a:srgbClr val="3478F6"/>
          </a:solidFill>
          <a:ln w="12700">
            <a:solidFill>
              <a:srgbClr val="3478F6">
                <a:alpha val="0"/>
              </a:srgbClr>
            </a:solidFill>
            <a:prstDash val="solid"/>
          </a:ln>
        </p:spPr>
      </p:sp>
      <p:sp>
        <p:nvSpPr>
          <p:cNvPr id="9" name="Text 7"/>
          <p:cNvSpPr txBox="1"/>
          <p:nvPr/>
        </p:nvSpPr>
        <p:spPr>
          <a:xfrm>
            <a:off x="1088136" y="2075688"/>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React · Vite</a:t>
            </a:r>
            <a:endParaRPr lang="en-US" sz="1010" dirty="0"/>
          </a:p>
        </p:txBody>
      </p:sp>
      <p:sp>
        <p:nvSpPr>
          <p:cNvPr id="10" name="Text 8"/>
          <p:cNvSpPr txBox="1"/>
          <p:nvPr/>
        </p:nvSpPr>
        <p:spPr>
          <a:xfrm>
            <a:off x="896112" y="2414016"/>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frontend/</a:t>
            </a:r>
            <a:endParaRPr lang="en-US" sz="790" dirty="0"/>
          </a:p>
        </p:txBody>
      </p:sp>
      <p:sp>
        <p:nvSpPr>
          <p:cNvPr id="11" name="Shape 9"/>
          <p:cNvSpPr/>
          <p:nvPr/>
        </p:nvSpPr>
        <p:spPr>
          <a:xfrm>
            <a:off x="768096" y="2953512"/>
            <a:ext cx="1929384" cy="749808"/>
          </a:xfrm>
          <a:prstGeom prst="roundRect">
            <a:avLst>
              <a:gd name="adj" fmla="val 12195"/>
            </a:avLst>
          </a:prstGeom>
          <a:solidFill>
            <a:srgbClr val="F6F8FC"/>
          </a:solidFill>
          <a:ln w="10160">
            <a:solidFill>
              <a:srgbClr val="F6F8FC">
                <a:alpha val="0"/>
              </a:srgbClr>
            </a:solidFill>
            <a:prstDash val="solid"/>
          </a:ln>
        </p:spPr>
      </p:sp>
      <p:sp>
        <p:nvSpPr>
          <p:cNvPr id="12" name="Shape 10"/>
          <p:cNvSpPr/>
          <p:nvPr/>
        </p:nvSpPr>
        <p:spPr>
          <a:xfrm>
            <a:off x="896112" y="3099816"/>
            <a:ext cx="91440" cy="91440"/>
          </a:xfrm>
          <a:prstGeom prst="ellipse">
            <a:avLst/>
          </a:prstGeom>
          <a:solidFill>
            <a:srgbClr val="3478F6"/>
          </a:solidFill>
          <a:ln w="12700">
            <a:solidFill>
              <a:srgbClr val="3478F6">
                <a:alpha val="0"/>
              </a:srgbClr>
            </a:solidFill>
            <a:prstDash val="solid"/>
          </a:ln>
        </p:spPr>
      </p:sp>
      <p:sp>
        <p:nvSpPr>
          <p:cNvPr id="13" name="Text 11"/>
          <p:cNvSpPr txBox="1"/>
          <p:nvPr/>
        </p:nvSpPr>
        <p:spPr>
          <a:xfrm>
            <a:off x="1088136" y="3044952"/>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FastAPI · SQLAlchemy</a:t>
            </a:r>
            <a:endParaRPr lang="en-US" sz="1010" dirty="0"/>
          </a:p>
        </p:txBody>
      </p:sp>
      <p:sp>
        <p:nvSpPr>
          <p:cNvPr id="14" name="Text 12"/>
          <p:cNvSpPr txBox="1"/>
          <p:nvPr/>
        </p:nvSpPr>
        <p:spPr>
          <a:xfrm>
            <a:off x="896112" y="3383280"/>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backend/</a:t>
            </a:r>
            <a:endParaRPr lang="en-US" sz="790" dirty="0"/>
          </a:p>
        </p:txBody>
      </p:sp>
      <p:sp>
        <p:nvSpPr>
          <p:cNvPr id="15" name="Shape 13"/>
          <p:cNvSpPr/>
          <p:nvPr/>
        </p:nvSpPr>
        <p:spPr>
          <a:xfrm>
            <a:off x="768096" y="3922776"/>
            <a:ext cx="1929384" cy="749808"/>
          </a:xfrm>
          <a:prstGeom prst="roundRect">
            <a:avLst>
              <a:gd name="adj" fmla="val 12195"/>
            </a:avLst>
          </a:prstGeom>
          <a:solidFill>
            <a:srgbClr val="F6F8FC"/>
          </a:solidFill>
          <a:ln w="10160">
            <a:solidFill>
              <a:srgbClr val="F6F8FC">
                <a:alpha val="0"/>
              </a:srgbClr>
            </a:solidFill>
            <a:prstDash val="solid"/>
          </a:ln>
        </p:spPr>
      </p:sp>
      <p:sp>
        <p:nvSpPr>
          <p:cNvPr id="16" name="Shape 14"/>
          <p:cNvSpPr/>
          <p:nvPr/>
        </p:nvSpPr>
        <p:spPr>
          <a:xfrm>
            <a:off x="896112" y="4069080"/>
            <a:ext cx="91440" cy="91440"/>
          </a:xfrm>
          <a:prstGeom prst="ellipse">
            <a:avLst/>
          </a:prstGeom>
          <a:solidFill>
            <a:srgbClr val="3478F6"/>
          </a:solidFill>
          <a:ln w="12700">
            <a:solidFill>
              <a:srgbClr val="3478F6">
                <a:alpha val="0"/>
              </a:srgbClr>
            </a:solidFill>
            <a:prstDash val="solid"/>
          </a:ln>
        </p:spPr>
      </p:sp>
      <p:sp>
        <p:nvSpPr>
          <p:cNvPr id="17" name="Text 15"/>
          <p:cNvSpPr txBox="1"/>
          <p:nvPr/>
        </p:nvSpPr>
        <p:spPr>
          <a:xfrm>
            <a:off x="1088136" y="4014216"/>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PostgreSQL · Alembic</a:t>
            </a:r>
            <a:endParaRPr lang="en-US" sz="1010" dirty="0"/>
          </a:p>
        </p:txBody>
      </p:sp>
      <p:sp>
        <p:nvSpPr>
          <p:cNvPr id="18" name="Text 16"/>
          <p:cNvSpPr txBox="1"/>
          <p:nvPr/>
        </p:nvSpPr>
        <p:spPr>
          <a:xfrm>
            <a:off x="896112" y="4352544"/>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backend/alembic/</a:t>
            </a:r>
            <a:endParaRPr lang="en-US" sz="790" dirty="0"/>
          </a:p>
        </p:txBody>
      </p:sp>
      <p:sp>
        <p:nvSpPr>
          <p:cNvPr id="19" name="Text 17"/>
          <p:cNvSpPr txBox="1"/>
          <p:nvPr/>
        </p:nvSpPr>
        <p:spPr>
          <a:xfrm>
            <a:off x="3529584" y="1389888"/>
            <a:ext cx="2267712" cy="228600"/>
          </a:xfrm>
          <a:prstGeom prst="rect">
            <a:avLst/>
          </a:prstGeom>
          <a:noFill/>
          <a:ln/>
        </p:spPr>
        <p:txBody>
          <a:bodyPr wrap="square" lIns="0" tIns="0" rIns="0" bIns="0" rtlCol="0" anchor="ctr">
            <a:normAutofit/>
          </a:bodyPr>
          <a:lstStyle/>
          <a:p>
            <a:pPr algn="l" indent="0" marL="0">
              <a:buNone/>
            </a:pPr>
            <a:r>
              <a:rPr lang="en-US" sz="850" b="1" spc="100" kern="0" dirty="0">
                <a:solidFill>
                  <a:srgbClr val="0FBAA6"/>
                </a:solidFill>
                <a:latin typeface="Inter" pitchFamily="34" charset="0"/>
                <a:ea typeface="Inter" pitchFamily="34" charset="-122"/>
                <a:cs typeface="Inter" pitchFamily="34" charset="-120"/>
              </a:rPr>
              <a:t>QUALITY + DELIVERY</a:t>
            </a:r>
            <a:endParaRPr lang="en-US" sz="850" dirty="0"/>
          </a:p>
        </p:txBody>
      </p:sp>
      <p:sp>
        <p:nvSpPr>
          <p:cNvPr id="20" name="Shape 18"/>
          <p:cNvSpPr/>
          <p:nvPr/>
        </p:nvSpPr>
        <p:spPr>
          <a:xfrm>
            <a:off x="3529584" y="1737360"/>
            <a:ext cx="2240280" cy="3401568"/>
          </a:xfrm>
          <a:prstGeom prst="roundRect">
            <a:avLst>
              <a:gd name="adj" fmla="val 4082"/>
            </a:avLst>
          </a:prstGeom>
          <a:solidFill>
            <a:srgbClr val="FFFFFF"/>
          </a:solidFill>
          <a:ln w="10160">
            <a:solidFill>
              <a:srgbClr val="D9E0EA"/>
            </a:solidFill>
            <a:prstDash val="solid"/>
          </a:ln>
        </p:spPr>
      </p:sp>
      <p:sp>
        <p:nvSpPr>
          <p:cNvPr id="21" name="Shape 19"/>
          <p:cNvSpPr/>
          <p:nvPr/>
        </p:nvSpPr>
        <p:spPr>
          <a:xfrm>
            <a:off x="3685032" y="1984248"/>
            <a:ext cx="1929384" cy="749808"/>
          </a:xfrm>
          <a:prstGeom prst="roundRect">
            <a:avLst>
              <a:gd name="adj" fmla="val 12195"/>
            </a:avLst>
          </a:prstGeom>
          <a:solidFill>
            <a:srgbClr val="F6F8FC"/>
          </a:solidFill>
          <a:ln w="10160">
            <a:solidFill>
              <a:srgbClr val="F6F8FC">
                <a:alpha val="0"/>
              </a:srgbClr>
            </a:solidFill>
            <a:prstDash val="solid"/>
          </a:ln>
        </p:spPr>
      </p:sp>
      <p:sp>
        <p:nvSpPr>
          <p:cNvPr id="22" name="Shape 20"/>
          <p:cNvSpPr/>
          <p:nvPr/>
        </p:nvSpPr>
        <p:spPr>
          <a:xfrm>
            <a:off x="3813048" y="2130552"/>
            <a:ext cx="91440" cy="91440"/>
          </a:xfrm>
          <a:prstGeom prst="ellipse">
            <a:avLst/>
          </a:prstGeom>
          <a:solidFill>
            <a:srgbClr val="0FBAA6"/>
          </a:solidFill>
          <a:ln w="12700">
            <a:solidFill>
              <a:srgbClr val="0FBAA6">
                <a:alpha val="0"/>
              </a:srgbClr>
            </a:solidFill>
            <a:prstDash val="solid"/>
          </a:ln>
        </p:spPr>
      </p:sp>
      <p:sp>
        <p:nvSpPr>
          <p:cNvPr id="23" name="Text 21"/>
          <p:cNvSpPr txBox="1"/>
          <p:nvPr/>
        </p:nvSpPr>
        <p:spPr>
          <a:xfrm>
            <a:off x="4005072" y="2075688"/>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Pytest / SQLite</a:t>
            </a:r>
            <a:endParaRPr lang="en-US" sz="1010" dirty="0"/>
          </a:p>
        </p:txBody>
      </p:sp>
      <p:sp>
        <p:nvSpPr>
          <p:cNvPr id="24" name="Text 22"/>
          <p:cNvSpPr txBox="1"/>
          <p:nvPr/>
        </p:nvSpPr>
        <p:spPr>
          <a:xfrm>
            <a:off x="3813048" y="2414016"/>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backend/tests/</a:t>
            </a:r>
            <a:endParaRPr lang="en-US" sz="790" dirty="0"/>
          </a:p>
        </p:txBody>
      </p:sp>
      <p:sp>
        <p:nvSpPr>
          <p:cNvPr id="25" name="Shape 23"/>
          <p:cNvSpPr/>
          <p:nvPr/>
        </p:nvSpPr>
        <p:spPr>
          <a:xfrm>
            <a:off x="3685032" y="2953512"/>
            <a:ext cx="1929384" cy="749808"/>
          </a:xfrm>
          <a:prstGeom prst="roundRect">
            <a:avLst>
              <a:gd name="adj" fmla="val 12195"/>
            </a:avLst>
          </a:prstGeom>
          <a:solidFill>
            <a:srgbClr val="F6F8FC"/>
          </a:solidFill>
          <a:ln w="10160">
            <a:solidFill>
              <a:srgbClr val="F6F8FC">
                <a:alpha val="0"/>
              </a:srgbClr>
            </a:solidFill>
            <a:prstDash val="solid"/>
          </a:ln>
        </p:spPr>
      </p:sp>
      <p:sp>
        <p:nvSpPr>
          <p:cNvPr id="26" name="Shape 24"/>
          <p:cNvSpPr/>
          <p:nvPr/>
        </p:nvSpPr>
        <p:spPr>
          <a:xfrm>
            <a:off x="3813048" y="3099816"/>
            <a:ext cx="91440" cy="91440"/>
          </a:xfrm>
          <a:prstGeom prst="ellipse">
            <a:avLst/>
          </a:prstGeom>
          <a:solidFill>
            <a:srgbClr val="0FBAA6"/>
          </a:solidFill>
          <a:ln w="12700">
            <a:solidFill>
              <a:srgbClr val="0FBAA6">
                <a:alpha val="0"/>
              </a:srgbClr>
            </a:solidFill>
            <a:prstDash val="solid"/>
          </a:ln>
        </p:spPr>
      </p:sp>
      <p:sp>
        <p:nvSpPr>
          <p:cNvPr id="27" name="Text 25"/>
          <p:cNvSpPr txBox="1"/>
          <p:nvPr/>
        </p:nvSpPr>
        <p:spPr>
          <a:xfrm>
            <a:off x="4005072" y="3044952"/>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Docker / Compose</a:t>
            </a:r>
            <a:endParaRPr lang="en-US" sz="1010" dirty="0"/>
          </a:p>
        </p:txBody>
      </p:sp>
      <p:sp>
        <p:nvSpPr>
          <p:cNvPr id="28" name="Text 26"/>
          <p:cNvSpPr txBox="1"/>
          <p:nvPr/>
        </p:nvSpPr>
        <p:spPr>
          <a:xfrm>
            <a:off x="3813048" y="3383280"/>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docker-compose.yml</a:t>
            </a:r>
            <a:endParaRPr lang="en-US" sz="790" dirty="0"/>
          </a:p>
        </p:txBody>
      </p:sp>
      <p:sp>
        <p:nvSpPr>
          <p:cNvPr id="29" name="Shape 27"/>
          <p:cNvSpPr/>
          <p:nvPr/>
        </p:nvSpPr>
        <p:spPr>
          <a:xfrm>
            <a:off x="3685032" y="3922776"/>
            <a:ext cx="1929384" cy="749808"/>
          </a:xfrm>
          <a:prstGeom prst="roundRect">
            <a:avLst>
              <a:gd name="adj" fmla="val 12195"/>
            </a:avLst>
          </a:prstGeom>
          <a:solidFill>
            <a:srgbClr val="F6F8FC"/>
          </a:solidFill>
          <a:ln w="10160">
            <a:solidFill>
              <a:srgbClr val="F6F8FC">
                <a:alpha val="0"/>
              </a:srgbClr>
            </a:solidFill>
            <a:prstDash val="solid"/>
          </a:ln>
        </p:spPr>
      </p:sp>
      <p:sp>
        <p:nvSpPr>
          <p:cNvPr id="30" name="Shape 28"/>
          <p:cNvSpPr/>
          <p:nvPr/>
        </p:nvSpPr>
        <p:spPr>
          <a:xfrm>
            <a:off x="3813048" y="4069080"/>
            <a:ext cx="91440" cy="91440"/>
          </a:xfrm>
          <a:prstGeom prst="ellipse">
            <a:avLst/>
          </a:prstGeom>
          <a:solidFill>
            <a:srgbClr val="0FBAA6"/>
          </a:solidFill>
          <a:ln w="12700">
            <a:solidFill>
              <a:srgbClr val="0FBAA6">
                <a:alpha val="0"/>
              </a:srgbClr>
            </a:solidFill>
            <a:prstDash val="solid"/>
          </a:ln>
        </p:spPr>
      </p:sp>
      <p:sp>
        <p:nvSpPr>
          <p:cNvPr id="31" name="Text 29"/>
          <p:cNvSpPr txBox="1"/>
          <p:nvPr/>
        </p:nvSpPr>
        <p:spPr>
          <a:xfrm>
            <a:off x="4005072" y="4014216"/>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Actions / GHCR / Trivy</a:t>
            </a:r>
            <a:endParaRPr lang="en-US" sz="1010" dirty="0"/>
          </a:p>
        </p:txBody>
      </p:sp>
      <p:sp>
        <p:nvSpPr>
          <p:cNvPr id="32" name="Text 30"/>
          <p:cNvSpPr txBox="1"/>
          <p:nvPr/>
        </p:nvSpPr>
        <p:spPr>
          <a:xfrm>
            <a:off x="3813048" y="4352544"/>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.github/workflows/</a:t>
            </a:r>
            <a:endParaRPr lang="en-US" sz="790" dirty="0"/>
          </a:p>
        </p:txBody>
      </p:sp>
      <p:sp>
        <p:nvSpPr>
          <p:cNvPr id="33" name="Text 31"/>
          <p:cNvSpPr txBox="1"/>
          <p:nvPr/>
        </p:nvSpPr>
        <p:spPr>
          <a:xfrm>
            <a:off x="6446520" y="1389888"/>
            <a:ext cx="2267712" cy="228600"/>
          </a:xfrm>
          <a:prstGeom prst="rect">
            <a:avLst/>
          </a:prstGeom>
          <a:noFill/>
          <a:ln/>
        </p:spPr>
        <p:txBody>
          <a:bodyPr wrap="square" lIns="0" tIns="0" rIns="0" bIns="0" rtlCol="0" anchor="ctr">
            <a:normAutofit/>
          </a:bodyPr>
          <a:lstStyle/>
          <a:p>
            <a:pPr algn="l" indent="0" marL="0">
              <a:buNone/>
            </a:pPr>
            <a:r>
              <a:rPr lang="en-US" sz="850" b="1" spc="100" kern="0" dirty="0">
                <a:solidFill>
                  <a:srgbClr val="8467E8"/>
                </a:solidFill>
                <a:latin typeface="Inter" pitchFamily="34" charset="0"/>
                <a:ea typeface="Inter" pitchFamily="34" charset="-122"/>
                <a:cs typeface="Inter" pitchFamily="34" charset="-120"/>
              </a:rPr>
              <a:t>CLOUD PLATFORM</a:t>
            </a:r>
            <a:endParaRPr lang="en-US" sz="850" dirty="0"/>
          </a:p>
        </p:txBody>
      </p:sp>
      <p:sp>
        <p:nvSpPr>
          <p:cNvPr id="34" name="Shape 32"/>
          <p:cNvSpPr/>
          <p:nvPr/>
        </p:nvSpPr>
        <p:spPr>
          <a:xfrm>
            <a:off x="6446520" y="1737360"/>
            <a:ext cx="2240280" cy="3401568"/>
          </a:xfrm>
          <a:prstGeom prst="roundRect">
            <a:avLst>
              <a:gd name="adj" fmla="val 4082"/>
            </a:avLst>
          </a:prstGeom>
          <a:solidFill>
            <a:srgbClr val="FFFFFF"/>
          </a:solidFill>
          <a:ln w="10160">
            <a:solidFill>
              <a:srgbClr val="D9E0EA"/>
            </a:solidFill>
            <a:prstDash val="solid"/>
          </a:ln>
        </p:spPr>
      </p:sp>
      <p:sp>
        <p:nvSpPr>
          <p:cNvPr id="35" name="Shape 33"/>
          <p:cNvSpPr/>
          <p:nvPr/>
        </p:nvSpPr>
        <p:spPr>
          <a:xfrm>
            <a:off x="6601968" y="1984248"/>
            <a:ext cx="1929384" cy="749808"/>
          </a:xfrm>
          <a:prstGeom prst="roundRect">
            <a:avLst>
              <a:gd name="adj" fmla="val 12195"/>
            </a:avLst>
          </a:prstGeom>
          <a:solidFill>
            <a:srgbClr val="F6F8FC"/>
          </a:solidFill>
          <a:ln w="10160">
            <a:solidFill>
              <a:srgbClr val="F6F8FC">
                <a:alpha val="0"/>
              </a:srgbClr>
            </a:solidFill>
            <a:prstDash val="solid"/>
          </a:ln>
        </p:spPr>
      </p:sp>
      <p:sp>
        <p:nvSpPr>
          <p:cNvPr id="36" name="Shape 34"/>
          <p:cNvSpPr/>
          <p:nvPr/>
        </p:nvSpPr>
        <p:spPr>
          <a:xfrm>
            <a:off x="6729984" y="2130552"/>
            <a:ext cx="91440" cy="91440"/>
          </a:xfrm>
          <a:prstGeom prst="ellipse">
            <a:avLst/>
          </a:prstGeom>
          <a:solidFill>
            <a:srgbClr val="8467E8"/>
          </a:solidFill>
          <a:ln w="12700">
            <a:solidFill>
              <a:srgbClr val="8467E8">
                <a:alpha val="0"/>
              </a:srgbClr>
            </a:solidFill>
            <a:prstDash val="solid"/>
          </a:ln>
        </p:spPr>
      </p:sp>
      <p:sp>
        <p:nvSpPr>
          <p:cNvPr id="37" name="Text 35"/>
          <p:cNvSpPr txBox="1"/>
          <p:nvPr/>
        </p:nvSpPr>
        <p:spPr>
          <a:xfrm>
            <a:off x="6922008" y="2075688"/>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Terraform / AWS VPC + EKS</a:t>
            </a:r>
            <a:endParaRPr lang="en-US" sz="1010" dirty="0"/>
          </a:p>
        </p:txBody>
      </p:sp>
      <p:sp>
        <p:nvSpPr>
          <p:cNvPr id="38" name="Text 36"/>
          <p:cNvSpPr txBox="1"/>
          <p:nvPr/>
        </p:nvSpPr>
        <p:spPr>
          <a:xfrm>
            <a:off x="6729984" y="2414016"/>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terraform/</a:t>
            </a:r>
            <a:endParaRPr lang="en-US" sz="790" dirty="0"/>
          </a:p>
        </p:txBody>
      </p:sp>
      <p:sp>
        <p:nvSpPr>
          <p:cNvPr id="39" name="Shape 37"/>
          <p:cNvSpPr/>
          <p:nvPr/>
        </p:nvSpPr>
        <p:spPr>
          <a:xfrm>
            <a:off x="6601968" y="2953512"/>
            <a:ext cx="1929384" cy="749808"/>
          </a:xfrm>
          <a:prstGeom prst="roundRect">
            <a:avLst>
              <a:gd name="adj" fmla="val 12195"/>
            </a:avLst>
          </a:prstGeom>
          <a:solidFill>
            <a:srgbClr val="F6F8FC"/>
          </a:solidFill>
          <a:ln w="10160">
            <a:solidFill>
              <a:srgbClr val="F6F8FC">
                <a:alpha val="0"/>
              </a:srgbClr>
            </a:solidFill>
            <a:prstDash val="solid"/>
          </a:ln>
        </p:spPr>
      </p:sp>
      <p:sp>
        <p:nvSpPr>
          <p:cNvPr id="40" name="Shape 38"/>
          <p:cNvSpPr/>
          <p:nvPr/>
        </p:nvSpPr>
        <p:spPr>
          <a:xfrm>
            <a:off x="6729984" y="3099816"/>
            <a:ext cx="91440" cy="91440"/>
          </a:xfrm>
          <a:prstGeom prst="ellipse">
            <a:avLst/>
          </a:prstGeom>
          <a:solidFill>
            <a:srgbClr val="8467E8"/>
          </a:solidFill>
          <a:ln w="12700">
            <a:solidFill>
              <a:srgbClr val="8467E8">
                <a:alpha val="0"/>
              </a:srgbClr>
            </a:solidFill>
            <a:prstDash val="solid"/>
          </a:ln>
        </p:spPr>
      </p:sp>
      <p:sp>
        <p:nvSpPr>
          <p:cNvPr id="41" name="Text 39"/>
          <p:cNvSpPr txBox="1"/>
          <p:nvPr/>
        </p:nvSpPr>
        <p:spPr>
          <a:xfrm>
            <a:off x="6922008" y="3044952"/>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Kubernetes / Helm</a:t>
            </a:r>
            <a:endParaRPr lang="en-US" sz="1010" dirty="0"/>
          </a:p>
        </p:txBody>
      </p:sp>
      <p:sp>
        <p:nvSpPr>
          <p:cNvPr id="42" name="Text 40"/>
          <p:cNvSpPr txBox="1"/>
          <p:nvPr/>
        </p:nvSpPr>
        <p:spPr>
          <a:xfrm>
            <a:off x="6729984" y="3383280"/>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helm/taskboard/</a:t>
            </a:r>
            <a:endParaRPr lang="en-US" sz="790" dirty="0"/>
          </a:p>
        </p:txBody>
      </p:sp>
      <p:sp>
        <p:nvSpPr>
          <p:cNvPr id="43" name="Shape 41"/>
          <p:cNvSpPr/>
          <p:nvPr/>
        </p:nvSpPr>
        <p:spPr>
          <a:xfrm>
            <a:off x="6601968" y="3922776"/>
            <a:ext cx="1929384" cy="749808"/>
          </a:xfrm>
          <a:prstGeom prst="roundRect">
            <a:avLst>
              <a:gd name="adj" fmla="val 12195"/>
            </a:avLst>
          </a:prstGeom>
          <a:solidFill>
            <a:srgbClr val="F6F8FC"/>
          </a:solidFill>
          <a:ln w="10160">
            <a:solidFill>
              <a:srgbClr val="F6F8FC">
                <a:alpha val="0"/>
              </a:srgbClr>
            </a:solidFill>
            <a:prstDash val="solid"/>
          </a:ln>
        </p:spPr>
      </p:sp>
      <p:sp>
        <p:nvSpPr>
          <p:cNvPr id="44" name="Shape 42"/>
          <p:cNvSpPr/>
          <p:nvPr/>
        </p:nvSpPr>
        <p:spPr>
          <a:xfrm>
            <a:off x="6729984" y="4069080"/>
            <a:ext cx="91440" cy="91440"/>
          </a:xfrm>
          <a:prstGeom prst="ellipse">
            <a:avLst/>
          </a:prstGeom>
          <a:solidFill>
            <a:srgbClr val="8467E8"/>
          </a:solidFill>
          <a:ln w="12700">
            <a:solidFill>
              <a:srgbClr val="8467E8">
                <a:alpha val="0"/>
              </a:srgbClr>
            </a:solidFill>
            <a:prstDash val="solid"/>
          </a:ln>
        </p:spPr>
      </p:sp>
      <p:sp>
        <p:nvSpPr>
          <p:cNvPr id="45" name="Text 43"/>
          <p:cNvSpPr txBox="1"/>
          <p:nvPr/>
        </p:nvSpPr>
        <p:spPr>
          <a:xfrm>
            <a:off x="6922008" y="4014216"/>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Bootstrap manifests</a:t>
            </a:r>
            <a:endParaRPr lang="en-US" sz="1010" dirty="0"/>
          </a:p>
        </p:txBody>
      </p:sp>
      <p:sp>
        <p:nvSpPr>
          <p:cNvPr id="46" name="Text 44"/>
          <p:cNvSpPr txBox="1"/>
          <p:nvPr/>
        </p:nvSpPr>
        <p:spPr>
          <a:xfrm>
            <a:off x="6729984" y="4352544"/>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k8s/</a:t>
            </a:r>
            <a:endParaRPr lang="en-US" sz="790" dirty="0"/>
          </a:p>
        </p:txBody>
      </p:sp>
      <p:sp>
        <p:nvSpPr>
          <p:cNvPr id="47" name="Text 45"/>
          <p:cNvSpPr txBox="1"/>
          <p:nvPr/>
        </p:nvSpPr>
        <p:spPr>
          <a:xfrm>
            <a:off x="9363456" y="1389888"/>
            <a:ext cx="2267712" cy="228600"/>
          </a:xfrm>
          <a:prstGeom prst="rect">
            <a:avLst/>
          </a:prstGeom>
          <a:noFill/>
          <a:ln/>
        </p:spPr>
        <p:txBody>
          <a:bodyPr wrap="square" lIns="0" tIns="0" rIns="0" bIns="0" rtlCol="0" anchor="ctr">
            <a:normAutofit/>
          </a:bodyPr>
          <a:lstStyle/>
          <a:p>
            <a:pPr algn="l" indent="0" marL="0">
              <a:buNone/>
            </a:pPr>
            <a:r>
              <a:rPr lang="en-US" sz="850" b="1" spc="100" kern="0" dirty="0">
                <a:solidFill>
                  <a:srgbClr val="F28C52"/>
                </a:solidFill>
                <a:latin typeface="Inter" pitchFamily="34" charset="0"/>
                <a:ea typeface="Inter" pitchFamily="34" charset="-122"/>
                <a:cs typeface="Inter" pitchFamily="34" charset="-120"/>
              </a:rPr>
              <a:t>OPERATIONS</a:t>
            </a:r>
            <a:endParaRPr lang="en-US" sz="850" dirty="0"/>
          </a:p>
        </p:txBody>
      </p:sp>
      <p:sp>
        <p:nvSpPr>
          <p:cNvPr id="48" name="Shape 46"/>
          <p:cNvSpPr/>
          <p:nvPr/>
        </p:nvSpPr>
        <p:spPr>
          <a:xfrm>
            <a:off x="9363456" y="1737360"/>
            <a:ext cx="2240280" cy="3401568"/>
          </a:xfrm>
          <a:prstGeom prst="roundRect">
            <a:avLst>
              <a:gd name="adj" fmla="val 4082"/>
            </a:avLst>
          </a:prstGeom>
          <a:solidFill>
            <a:srgbClr val="FFFFFF"/>
          </a:solidFill>
          <a:ln w="10160">
            <a:solidFill>
              <a:srgbClr val="D9E0EA"/>
            </a:solidFill>
            <a:prstDash val="solid"/>
          </a:ln>
        </p:spPr>
      </p:sp>
      <p:sp>
        <p:nvSpPr>
          <p:cNvPr id="49" name="Shape 47"/>
          <p:cNvSpPr/>
          <p:nvPr/>
        </p:nvSpPr>
        <p:spPr>
          <a:xfrm>
            <a:off x="9518904" y="1984248"/>
            <a:ext cx="1929384" cy="749808"/>
          </a:xfrm>
          <a:prstGeom prst="roundRect">
            <a:avLst>
              <a:gd name="adj" fmla="val 12195"/>
            </a:avLst>
          </a:prstGeom>
          <a:solidFill>
            <a:srgbClr val="F6F8FC"/>
          </a:solidFill>
          <a:ln w="10160">
            <a:solidFill>
              <a:srgbClr val="F6F8FC">
                <a:alpha val="0"/>
              </a:srgbClr>
            </a:solidFill>
            <a:prstDash val="solid"/>
          </a:ln>
        </p:spPr>
      </p:sp>
      <p:sp>
        <p:nvSpPr>
          <p:cNvPr id="50" name="Shape 48"/>
          <p:cNvSpPr/>
          <p:nvPr/>
        </p:nvSpPr>
        <p:spPr>
          <a:xfrm>
            <a:off x="9646920" y="2130552"/>
            <a:ext cx="91440" cy="91440"/>
          </a:xfrm>
          <a:prstGeom prst="ellipse">
            <a:avLst/>
          </a:prstGeom>
          <a:solidFill>
            <a:srgbClr val="F28C52"/>
          </a:solidFill>
          <a:ln w="12700">
            <a:solidFill>
              <a:srgbClr val="F28C52">
                <a:alpha val="0"/>
              </a:srgbClr>
            </a:solidFill>
            <a:prstDash val="solid"/>
          </a:ln>
        </p:spPr>
      </p:sp>
      <p:sp>
        <p:nvSpPr>
          <p:cNvPr id="51" name="Text 49"/>
          <p:cNvSpPr txBox="1"/>
          <p:nvPr/>
        </p:nvSpPr>
        <p:spPr>
          <a:xfrm>
            <a:off x="9838944" y="2075688"/>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Prometheus values</a:t>
            </a:r>
            <a:endParaRPr lang="en-US" sz="1010" dirty="0"/>
          </a:p>
        </p:txBody>
      </p:sp>
      <p:sp>
        <p:nvSpPr>
          <p:cNvPr id="52" name="Text 50"/>
          <p:cNvSpPr txBox="1"/>
          <p:nvPr/>
        </p:nvSpPr>
        <p:spPr>
          <a:xfrm>
            <a:off x="9646920" y="2414016"/>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monitoring/</a:t>
            </a:r>
            <a:endParaRPr lang="en-US" sz="790" dirty="0"/>
          </a:p>
        </p:txBody>
      </p:sp>
      <p:sp>
        <p:nvSpPr>
          <p:cNvPr id="53" name="Shape 51"/>
          <p:cNvSpPr/>
          <p:nvPr/>
        </p:nvSpPr>
        <p:spPr>
          <a:xfrm>
            <a:off x="9518904" y="2953512"/>
            <a:ext cx="1929384" cy="749808"/>
          </a:xfrm>
          <a:prstGeom prst="roundRect">
            <a:avLst>
              <a:gd name="adj" fmla="val 12195"/>
            </a:avLst>
          </a:prstGeom>
          <a:solidFill>
            <a:srgbClr val="F6F8FC"/>
          </a:solidFill>
          <a:ln w="10160">
            <a:solidFill>
              <a:srgbClr val="F6F8FC">
                <a:alpha val="0"/>
              </a:srgbClr>
            </a:solidFill>
            <a:prstDash val="solid"/>
          </a:ln>
        </p:spPr>
      </p:sp>
      <p:sp>
        <p:nvSpPr>
          <p:cNvPr id="54" name="Shape 52"/>
          <p:cNvSpPr/>
          <p:nvPr/>
        </p:nvSpPr>
        <p:spPr>
          <a:xfrm>
            <a:off x="9646920" y="3099816"/>
            <a:ext cx="91440" cy="91440"/>
          </a:xfrm>
          <a:prstGeom prst="ellipse">
            <a:avLst/>
          </a:prstGeom>
          <a:solidFill>
            <a:srgbClr val="F28C52"/>
          </a:solidFill>
          <a:ln w="12700">
            <a:solidFill>
              <a:srgbClr val="F28C52">
                <a:alpha val="0"/>
              </a:srgbClr>
            </a:solidFill>
            <a:prstDash val="solid"/>
          </a:ln>
        </p:spPr>
      </p:sp>
      <p:sp>
        <p:nvSpPr>
          <p:cNvPr id="55" name="Text 53"/>
          <p:cNvSpPr txBox="1"/>
          <p:nvPr/>
        </p:nvSpPr>
        <p:spPr>
          <a:xfrm>
            <a:off x="9838944" y="3044952"/>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Metrics + ServiceMonitor</a:t>
            </a:r>
            <a:endParaRPr lang="en-US" sz="1010" dirty="0"/>
          </a:p>
        </p:txBody>
      </p:sp>
      <p:sp>
        <p:nvSpPr>
          <p:cNvPr id="56" name="Text 54"/>
          <p:cNvSpPr txBox="1"/>
          <p:nvPr/>
        </p:nvSpPr>
        <p:spPr>
          <a:xfrm>
            <a:off x="9646920" y="3383280"/>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helm/taskboard/</a:t>
            </a:r>
            <a:endParaRPr lang="en-US" sz="790" dirty="0"/>
          </a:p>
        </p:txBody>
      </p:sp>
      <p:sp>
        <p:nvSpPr>
          <p:cNvPr id="57" name="Shape 55"/>
          <p:cNvSpPr/>
          <p:nvPr/>
        </p:nvSpPr>
        <p:spPr>
          <a:xfrm>
            <a:off x="9518904" y="3922776"/>
            <a:ext cx="1929384" cy="749808"/>
          </a:xfrm>
          <a:prstGeom prst="roundRect">
            <a:avLst>
              <a:gd name="adj" fmla="val 12195"/>
            </a:avLst>
          </a:prstGeom>
          <a:solidFill>
            <a:srgbClr val="F6F8FC"/>
          </a:solidFill>
          <a:ln w="10160">
            <a:solidFill>
              <a:srgbClr val="F6F8FC">
                <a:alpha val="0"/>
              </a:srgbClr>
            </a:solidFill>
            <a:prstDash val="solid"/>
          </a:ln>
        </p:spPr>
      </p:sp>
      <p:sp>
        <p:nvSpPr>
          <p:cNvPr id="58" name="Shape 56"/>
          <p:cNvSpPr/>
          <p:nvPr/>
        </p:nvSpPr>
        <p:spPr>
          <a:xfrm>
            <a:off x="9646920" y="4069080"/>
            <a:ext cx="91440" cy="91440"/>
          </a:xfrm>
          <a:prstGeom prst="ellipse">
            <a:avLst/>
          </a:prstGeom>
          <a:solidFill>
            <a:srgbClr val="F28C52"/>
          </a:solidFill>
          <a:ln w="12700">
            <a:solidFill>
              <a:srgbClr val="F28C52">
                <a:alpha val="0"/>
              </a:srgbClr>
            </a:solidFill>
            <a:prstDash val="solid"/>
          </a:ln>
        </p:spPr>
      </p:sp>
      <p:sp>
        <p:nvSpPr>
          <p:cNvPr id="59" name="Text 57"/>
          <p:cNvSpPr txBox="1"/>
          <p:nvPr/>
        </p:nvSpPr>
        <p:spPr>
          <a:xfrm>
            <a:off x="9838944" y="4014216"/>
            <a:ext cx="1508760" cy="256032"/>
          </a:xfrm>
          <a:prstGeom prst="rect">
            <a:avLst/>
          </a:prstGeom>
          <a:noFill/>
          <a:ln/>
        </p:spPr>
        <p:txBody>
          <a:bodyPr wrap="square" lIns="0" tIns="0" rIns="0" bIns="0" rtlCol="0" anchor="ctr">
            <a:normAutofit/>
          </a:bodyPr>
          <a:lstStyle/>
          <a:p>
            <a:pPr algn="l" indent="0" marL="0">
              <a:buNone/>
            </a:pPr>
            <a:r>
              <a:rPr lang="en-US" sz="1010" b="1" dirty="0">
                <a:solidFill>
                  <a:srgbClr val="172337"/>
                </a:solidFill>
                <a:latin typeface="Inter" pitchFamily="34" charset="0"/>
                <a:ea typeface="Inter" pitchFamily="34" charset="-122"/>
                <a:cs typeface="Inter" pitchFamily="34" charset="-120"/>
              </a:rPr>
              <a:t>Evidence screenshots</a:t>
            </a:r>
            <a:endParaRPr lang="en-US" sz="1010" dirty="0"/>
          </a:p>
        </p:txBody>
      </p:sp>
      <p:sp>
        <p:nvSpPr>
          <p:cNvPr id="60" name="Text 58"/>
          <p:cNvSpPr txBox="1"/>
          <p:nvPr/>
        </p:nvSpPr>
        <p:spPr>
          <a:xfrm>
            <a:off x="9646920" y="4352544"/>
            <a:ext cx="1737360" cy="192024"/>
          </a:xfrm>
          <a:prstGeom prst="rect">
            <a:avLst/>
          </a:prstGeom>
          <a:noFill/>
          <a:ln/>
        </p:spPr>
        <p:txBody>
          <a:bodyPr wrap="square" lIns="0" tIns="0" rIns="0" bIns="0" rtlCol="0" anchor="ctr">
            <a:normAutofit/>
          </a:bodyPr>
          <a:lstStyle/>
          <a:p>
            <a:pPr algn="l" indent="0" marL="0">
              <a:buNone/>
            </a:pPr>
            <a:r>
              <a:rPr lang="en-US" sz="790" dirty="0">
                <a:solidFill>
                  <a:srgbClr val="5E6B7C"/>
                </a:solidFill>
                <a:latin typeface="DejaVu Sans Mono" pitchFamily="34" charset="0"/>
                <a:ea typeface="DejaVu Sans Mono" pitchFamily="34" charset="-122"/>
                <a:cs typeface="DejaVu Sans Mono" pitchFamily="34" charset="-120"/>
              </a:rPr>
              <a:t>docs/images/</a:t>
            </a:r>
            <a:endParaRPr lang="en-US" sz="790" dirty="0"/>
          </a:p>
        </p:txBody>
      </p:sp>
      <p:sp>
        <p:nvSpPr>
          <p:cNvPr id="61" name="Shape 59"/>
          <p:cNvSpPr/>
          <p:nvPr/>
        </p:nvSpPr>
        <p:spPr>
          <a:xfrm>
            <a:off x="612648" y="5440680"/>
            <a:ext cx="10991088" cy="676656"/>
          </a:xfrm>
          <a:prstGeom prst="roundRect">
            <a:avLst>
              <a:gd name="adj" fmla="val 13514"/>
            </a:avLst>
          </a:prstGeom>
          <a:solidFill>
            <a:srgbClr val="101B2D"/>
          </a:solidFill>
          <a:ln w="10160">
            <a:solidFill>
              <a:srgbClr val="101B2D">
                <a:alpha val="0"/>
              </a:srgbClr>
            </a:solidFill>
            <a:prstDash val="solid"/>
          </a:ln>
        </p:spPr>
      </p:sp>
      <p:sp>
        <p:nvSpPr>
          <p:cNvPr id="62" name="Text 60"/>
          <p:cNvSpPr txBox="1"/>
          <p:nvPr/>
        </p:nvSpPr>
        <p:spPr>
          <a:xfrm>
            <a:off x="859536" y="5596128"/>
            <a:ext cx="1325880" cy="228600"/>
          </a:xfrm>
          <a:prstGeom prst="rect">
            <a:avLst/>
          </a:prstGeom>
          <a:noFill/>
          <a:ln/>
        </p:spPr>
        <p:txBody>
          <a:bodyPr wrap="square" lIns="0" tIns="0" rIns="0" bIns="0" rtlCol="0" anchor="ctr">
            <a:normAutofit/>
          </a:bodyPr>
          <a:lstStyle/>
          <a:p>
            <a:pPr algn="l" indent="0" marL="0">
              <a:buNone/>
            </a:pPr>
            <a:r>
              <a:rPr lang="en-US" sz="1030" b="1" dirty="0">
                <a:solidFill>
                  <a:srgbClr val="0FBAA6"/>
                </a:solidFill>
                <a:latin typeface="Inter" pitchFamily="34" charset="0"/>
                <a:ea typeface="Inter" pitchFamily="34" charset="-122"/>
                <a:cs typeface="Inter" pitchFamily="34" charset="-120"/>
              </a:rPr>
              <a:t>Design principle</a:t>
            </a:r>
            <a:endParaRPr lang="en-US" sz="1030" dirty="0"/>
          </a:p>
        </p:txBody>
      </p:sp>
      <p:sp>
        <p:nvSpPr>
          <p:cNvPr id="63" name="Text 61"/>
          <p:cNvSpPr txBox="1"/>
          <p:nvPr/>
        </p:nvSpPr>
        <p:spPr>
          <a:xfrm>
            <a:off x="2286000" y="5596128"/>
            <a:ext cx="8823960" cy="228600"/>
          </a:xfrm>
          <a:prstGeom prst="rect">
            <a:avLst/>
          </a:prstGeom>
          <a:noFill/>
          <a:ln/>
        </p:spPr>
        <p:txBody>
          <a:bodyPr wrap="square" lIns="0" tIns="0" rIns="0" bIns="0" rtlCol="0" anchor="ctr">
            <a:normAutofit/>
          </a:bodyPr>
          <a:lstStyle/>
          <a:p>
            <a:pPr algn="l" indent="0" marL="0">
              <a:buNone/>
            </a:pPr>
            <a:r>
              <a:rPr lang="en-US" sz="1100" dirty="0">
                <a:solidFill>
                  <a:srgbClr val="FFFFFF"/>
                </a:solidFill>
                <a:latin typeface="Inter" pitchFamily="34" charset="0"/>
                <a:ea typeface="Inter" pitchFamily="34" charset="-122"/>
                <a:cs typeface="Inter" pitchFamily="34" charset="-120"/>
              </a:rPr>
              <a:t>Keep the workflow reproducible: code + configuration + versioned images + observable runtime.</a:t>
            </a:r>
            <a:endParaRPr lang="en-US" sz="110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04  /  DEVELOPER WORKFLOW</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Local run and test gates</a:t>
            </a:r>
            <a:endParaRPr lang="en-US" sz="2400" dirty="0"/>
          </a:p>
        </p:txBody>
      </p:sp>
      <p:sp>
        <p:nvSpPr>
          <p:cNvPr id="5" name="Shape 3"/>
          <p:cNvSpPr/>
          <p:nvPr/>
        </p:nvSpPr>
        <p:spPr>
          <a:xfrm>
            <a:off x="612648" y="1444752"/>
            <a:ext cx="3730752" cy="1316736"/>
          </a:xfrm>
          <a:prstGeom prst="roundRect">
            <a:avLst>
              <a:gd name="adj" fmla="val 6944"/>
            </a:avLst>
          </a:prstGeom>
          <a:solidFill>
            <a:srgbClr val="FFFFFF"/>
          </a:solidFill>
          <a:ln w="10160">
            <a:solidFill>
              <a:srgbClr val="FFFFFF">
                <a:alpha val="0"/>
              </a:srgbClr>
            </a:solidFill>
            <a:prstDash val="solid"/>
          </a:ln>
        </p:spPr>
      </p:sp>
      <p:sp>
        <p:nvSpPr>
          <p:cNvPr id="6" name="Shape 4"/>
          <p:cNvSpPr/>
          <p:nvPr/>
        </p:nvSpPr>
        <p:spPr>
          <a:xfrm>
            <a:off x="612648" y="1444752"/>
            <a:ext cx="59436" cy="1316736"/>
          </a:xfrm>
          <a:prstGeom prst="rect">
            <a:avLst>
              <a:gd name="adj" fmla="val 153846"/>
            </a:avLst>
          </a:prstGeom>
          <a:solidFill>
            <a:srgbClr val="3478F6"/>
          </a:solidFill>
          <a:ln w="10160">
            <a:solidFill>
              <a:srgbClr val="3478F6">
                <a:alpha val="0"/>
              </a:srgbClr>
            </a:solidFill>
            <a:prstDash val="solid"/>
          </a:ln>
        </p:spPr>
      </p:sp>
      <p:sp>
        <p:nvSpPr>
          <p:cNvPr id="7" name="Shape 5"/>
          <p:cNvSpPr/>
          <p:nvPr/>
        </p:nvSpPr>
        <p:spPr>
          <a:xfrm>
            <a:off x="813816" y="1609344"/>
            <a:ext cx="868680" cy="256032"/>
          </a:xfrm>
          <a:prstGeom prst="roundRect">
            <a:avLst>
              <a:gd name="adj" fmla="val 35714"/>
            </a:avLst>
          </a:prstGeom>
          <a:solidFill>
            <a:srgbClr val="EAF1FF"/>
          </a:solidFill>
          <a:ln w="10160">
            <a:solidFill>
              <a:srgbClr val="EAF1FF">
                <a:alpha val="0"/>
              </a:srgbClr>
            </a:solidFill>
            <a:prstDash val="solid"/>
          </a:ln>
        </p:spPr>
      </p:sp>
      <p:sp>
        <p:nvSpPr>
          <p:cNvPr id="8" name="Text 6"/>
          <p:cNvSpPr txBox="1"/>
          <p:nvPr/>
        </p:nvSpPr>
        <p:spPr>
          <a:xfrm>
            <a:off x="896112" y="1623060"/>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RUN</a:t>
            </a:r>
            <a:endParaRPr lang="en-US" sz="770" dirty="0"/>
          </a:p>
        </p:txBody>
      </p:sp>
      <p:sp>
        <p:nvSpPr>
          <p:cNvPr id="9" name="Text 7"/>
          <p:cNvSpPr txBox="1"/>
          <p:nvPr/>
        </p:nvSpPr>
        <p:spPr>
          <a:xfrm>
            <a:off x="813816" y="1883664"/>
            <a:ext cx="334670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One-command stack</a:t>
            </a:r>
            <a:endParaRPr lang="en-US" sz="1400" dirty="0"/>
          </a:p>
        </p:txBody>
      </p:sp>
      <p:sp>
        <p:nvSpPr>
          <p:cNvPr id="10" name="Text 8"/>
          <p:cNvSpPr txBox="1"/>
          <p:nvPr/>
        </p:nvSpPr>
        <p:spPr>
          <a:xfrm>
            <a:off x="813816" y="2212848"/>
            <a:ext cx="3337560" cy="475488"/>
          </a:xfrm>
          <a:prstGeom prst="rect">
            <a:avLst/>
          </a:prstGeom>
          <a:noFill/>
          <a:ln/>
        </p:spPr>
        <p:txBody>
          <a:bodyPr wrap="square" lIns="0" tIns="0" rIns="0" bIns="0" rtlCol="0" anchor="t">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docker compose up --build</a:t>
            </a:r>
            <a:endParaRPr lang="en-US" sz="1040" dirty="0"/>
          </a:p>
          <a:p>
            <a:pPr algn="l" indent="0" marL="0">
              <a:buNone/>
            </a:pPr>
            <a:r>
              <a:rPr lang="en-US" sz="1040" dirty="0">
                <a:solidFill>
                  <a:srgbClr val="5E6B7C"/>
                </a:solidFill>
                <a:latin typeface="Inter" pitchFamily="34" charset="0"/>
                <a:ea typeface="Inter" pitchFamily="34" charset="-122"/>
                <a:cs typeface="Inter" pitchFamily="34" charset="-120"/>
              </a:rPr>
              <a:t>Frontend: localhost:3000  ·  API: localhost:8000</a:t>
            </a:r>
            <a:endParaRPr lang="en-US" sz="1040" dirty="0"/>
          </a:p>
          <a:p>
            <a:pPr algn="l" indent="0" marL="0">
              <a:buNone/>
            </a:pPr>
            <a:r>
              <a:rPr lang="en-US" sz="1040" dirty="0">
                <a:solidFill>
                  <a:srgbClr val="5E6B7C"/>
                </a:solidFill>
                <a:latin typeface="Inter" pitchFamily="34" charset="0"/>
                <a:ea typeface="Inter" pitchFamily="34" charset="-122"/>
                <a:cs typeface="Inter" pitchFamily="34" charset="-120"/>
              </a:rPr>
              <a:t>PostgreSQL host port: 5433 → container 5432</a:t>
            </a:r>
            <a:endParaRPr lang="en-US" sz="1040" dirty="0"/>
          </a:p>
        </p:txBody>
      </p:sp>
      <p:sp>
        <p:nvSpPr>
          <p:cNvPr id="11" name="Shape 9"/>
          <p:cNvSpPr/>
          <p:nvPr/>
        </p:nvSpPr>
        <p:spPr>
          <a:xfrm>
            <a:off x="612648" y="2999232"/>
            <a:ext cx="3730752" cy="1316736"/>
          </a:xfrm>
          <a:prstGeom prst="roundRect">
            <a:avLst>
              <a:gd name="adj" fmla="val 6944"/>
            </a:avLst>
          </a:prstGeom>
          <a:solidFill>
            <a:srgbClr val="FFFFFF"/>
          </a:solidFill>
          <a:ln w="10160">
            <a:solidFill>
              <a:srgbClr val="FFFFFF">
                <a:alpha val="0"/>
              </a:srgbClr>
            </a:solidFill>
            <a:prstDash val="solid"/>
          </a:ln>
        </p:spPr>
      </p:sp>
      <p:sp>
        <p:nvSpPr>
          <p:cNvPr id="12" name="Shape 10"/>
          <p:cNvSpPr/>
          <p:nvPr/>
        </p:nvSpPr>
        <p:spPr>
          <a:xfrm>
            <a:off x="612648" y="2999232"/>
            <a:ext cx="59436" cy="1316736"/>
          </a:xfrm>
          <a:prstGeom prst="rect">
            <a:avLst>
              <a:gd name="adj" fmla="val 153846"/>
            </a:avLst>
          </a:prstGeom>
          <a:solidFill>
            <a:srgbClr val="0FBAA6"/>
          </a:solidFill>
          <a:ln w="10160">
            <a:solidFill>
              <a:srgbClr val="0FBAA6">
                <a:alpha val="0"/>
              </a:srgbClr>
            </a:solidFill>
            <a:prstDash val="solid"/>
          </a:ln>
        </p:spPr>
      </p:sp>
      <p:sp>
        <p:nvSpPr>
          <p:cNvPr id="13" name="Shape 11"/>
          <p:cNvSpPr/>
          <p:nvPr/>
        </p:nvSpPr>
        <p:spPr>
          <a:xfrm>
            <a:off x="813816" y="3163824"/>
            <a:ext cx="868680" cy="256032"/>
          </a:xfrm>
          <a:prstGeom prst="roundRect">
            <a:avLst>
              <a:gd name="adj" fmla="val 35714"/>
            </a:avLst>
          </a:prstGeom>
          <a:solidFill>
            <a:srgbClr val="E1F7F3"/>
          </a:solidFill>
          <a:ln w="10160">
            <a:solidFill>
              <a:srgbClr val="E1F7F3">
                <a:alpha val="0"/>
              </a:srgbClr>
            </a:solidFill>
            <a:prstDash val="solid"/>
          </a:ln>
        </p:spPr>
      </p:sp>
      <p:sp>
        <p:nvSpPr>
          <p:cNvPr id="14" name="Text 12"/>
          <p:cNvSpPr txBox="1"/>
          <p:nvPr/>
        </p:nvSpPr>
        <p:spPr>
          <a:xfrm>
            <a:off x="896112" y="3177540"/>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0FBAA6"/>
                </a:solidFill>
                <a:latin typeface="Inter" pitchFamily="34" charset="0"/>
                <a:ea typeface="Inter" pitchFamily="34" charset="-122"/>
                <a:cs typeface="Inter" pitchFamily="34" charset="-120"/>
              </a:rPr>
              <a:t>TEST</a:t>
            </a:r>
            <a:endParaRPr lang="en-US" sz="770" dirty="0"/>
          </a:p>
        </p:txBody>
      </p:sp>
      <p:sp>
        <p:nvSpPr>
          <p:cNvPr id="15" name="Text 13"/>
          <p:cNvSpPr txBox="1"/>
          <p:nvPr/>
        </p:nvSpPr>
        <p:spPr>
          <a:xfrm>
            <a:off x="813816" y="3438144"/>
            <a:ext cx="334670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Isolated test database</a:t>
            </a:r>
            <a:endParaRPr lang="en-US" sz="1400" dirty="0"/>
          </a:p>
        </p:txBody>
      </p:sp>
      <p:sp>
        <p:nvSpPr>
          <p:cNvPr id="16" name="Text 14"/>
          <p:cNvSpPr txBox="1"/>
          <p:nvPr/>
        </p:nvSpPr>
        <p:spPr>
          <a:xfrm>
            <a:off x="813816" y="3767328"/>
            <a:ext cx="3337560" cy="475488"/>
          </a:xfrm>
          <a:prstGeom prst="rect">
            <a:avLst/>
          </a:prstGeom>
          <a:noFill/>
          <a:ln/>
        </p:spPr>
        <p:txBody>
          <a:bodyPr wrap="square" lIns="0" tIns="0" rIns="0" bIns="0" rtlCol="0" anchor="t">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cd backend &amp;&amp; pytest -v</a:t>
            </a:r>
            <a:endParaRPr lang="en-US" sz="1040" dirty="0"/>
          </a:p>
          <a:p>
            <a:pPr algn="l" indent="0" marL="0">
              <a:buNone/>
            </a:pPr>
            <a:r>
              <a:rPr lang="en-US" sz="1040" dirty="0">
                <a:solidFill>
                  <a:srgbClr val="5E6B7C"/>
                </a:solidFill>
                <a:latin typeface="Inter" pitchFamily="34" charset="0"/>
                <a:ea typeface="Inter" pitchFamily="34" charset="-122"/>
                <a:cs typeface="Inter" pitchFamily="34" charset="-120"/>
              </a:rPr>
              <a:t>Tests use SQLite for the test session, not the Compose PostgreSQL database.</a:t>
            </a:r>
            <a:endParaRPr lang="en-US" sz="1040" dirty="0"/>
          </a:p>
        </p:txBody>
      </p:sp>
      <p:sp>
        <p:nvSpPr>
          <p:cNvPr id="17" name="Shape 15"/>
          <p:cNvSpPr/>
          <p:nvPr/>
        </p:nvSpPr>
        <p:spPr>
          <a:xfrm>
            <a:off x="612648" y="4553712"/>
            <a:ext cx="3730752" cy="1051560"/>
          </a:xfrm>
          <a:prstGeom prst="roundRect">
            <a:avLst>
              <a:gd name="adj" fmla="val 8696"/>
            </a:avLst>
          </a:prstGeom>
          <a:solidFill>
            <a:srgbClr val="FFFFFF"/>
          </a:solidFill>
          <a:ln w="10160">
            <a:solidFill>
              <a:srgbClr val="FFFFFF">
                <a:alpha val="0"/>
              </a:srgbClr>
            </a:solidFill>
            <a:prstDash val="solid"/>
          </a:ln>
        </p:spPr>
      </p:sp>
      <p:sp>
        <p:nvSpPr>
          <p:cNvPr id="18" name="Shape 16"/>
          <p:cNvSpPr/>
          <p:nvPr/>
        </p:nvSpPr>
        <p:spPr>
          <a:xfrm>
            <a:off x="612648" y="4553712"/>
            <a:ext cx="59436" cy="1051560"/>
          </a:xfrm>
          <a:prstGeom prst="rect">
            <a:avLst>
              <a:gd name="adj" fmla="val 153846"/>
            </a:avLst>
          </a:prstGeom>
          <a:solidFill>
            <a:srgbClr val="F28C52"/>
          </a:solidFill>
          <a:ln w="10160">
            <a:solidFill>
              <a:srgbClr val="F28C52">
                <a:alpha val="0"/>
              </a:srgbClr>
            </a:solidFill>
            <a:prstDash val="solid"/>
          </a:ln>
        </p:spPr>
      </p:sp>
      <p:sp>
        <p:nvSpPr>
          <p:cNvPr id="19" name="Shape 17"/>
          <p:cNvSpPr/>
          <p:nvPr/>
        </p:nvSpPr>
        <p:spPr>
          <a:xfrm>
            <a:off x="813816" y="4718304"/>
            <a:ext cx="868680" cy="256032"/>
          </a:xfrm>
          <a:prstGeom prst="roundRect">
            <a:avLst>
              <a:gd name="adj" fmla="val 35714"/>
            </a:avLst>
          </a:prstGeom>
          <a:solidFill>
            <a:srgbClr val="FFF0E7"/>
          </a:solidFill>
          <a:ln w="10160">
            <a:solidFill>
              <a:srgbClr val="FFF0E7">
                <a:alpha val="0"/>
              </a:srgbClr>
            </a:solidFill>
            <a:prstDash val="solid"/>
          </a:ln>
        </p:spPr>
      </p:sp>
      <p:sp>
        <p:nvSpPr>
          <p:cNvPr id="20" name="Text 18"/>
          <p:cNvSpPr txBox="1"/>
          <p:nvPr/>
        </p:nvSpPr>
        <p:spPr>
          <a:xfrm>
            <a:off x="896112" y="4732020"/>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F28C52"/>
                </a:solidFill>
                <a:latin typeface="Inter" pitchFamily="34" charset="0"/>
                <a:ea typeface="Inter" pitchFamily="34" charset="-122"/>
                <a:cs typeface="Inter" pitchFamily="34" charset="-120"/>
              </a:rPr>
              <a:t>BUILD</a:t>
            </a:r>
            <a:endParaRPr lang="en-US" sz="770" dirty="0"/>
          </a:p>
        </p:txBody>
      </p:sp>
      <p:sp>
        <p:nvSpPr>
          <p:cNvPr id="21" name="Text 19"/>
          <p:cNvSpPr txBox="1"/>
          <p:nvPr/>
        </p:nvSpPr>
        <p:spPr>
          <a:xfrm>
            <a:off x="813816" y="4992624"/>
            <a:ext cx="3346704"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Frontend build</a:t>
            </a:r>
            <a:endParaRPr lang="en-US" sz="1400" dirty="0"/>
          </a:p>
        </p:txBody>
      </p:sp>
      <p:sp>
        <p:nvSpPr>
          <p:cNvPr id="22" name="Text 20"/>
          <p:cNvSpPr txBox="1"/>
          <p:nvPr/>
        </p:nvSpPr>
        <p:spPr>
          <a:xfrm>
            <a:off x="813816" y="5321808"/>
            <a:ext cx="3337560" cy="210312"/>
          </a:xfrm>
          <a:prstGeom prst="rect">
            <a:avLst/>
          </a:prstGeom>
          <a:noFill/>
          <a:ln/>
        </p:spPr>
        <p:txBody>
          <a:bodyPr wrap="square" lIns="0" tIns="0" rIns="0" bIns="0" rtlCol="0" anchor="t">
            <a:normAutofit/>
          </a:bodyPr>
          <a:lstStyle/>
          <a:p>
            <a:pPr algn="l" indent="0" marL="0">
              <a:buNone/>
            </a:pPr>
            <a:r>
              <a:rPr lang="en-US" sz="1010" dirty="0">
                <a:solidFill>
                  <a:srgbClr val="5E6B7C"/>
                </a:solidFill>
                <a:latin typeface="Inter" pitchFamily="34" charset="0"/>
                <a:ea typeface="Inter" pitchFamily="34" charset="-122"/>
                <a:cs typeface="Inter" pitchFamily="34" charset="-120"/>
              </a:rPr>
              <a:t>cd frontend &amp;&amp; npm ci &amp;&amp; npm run build</a:t>
            </a:r>
            <a:endParaRPr lang="en-US" sz="1010" dirty="0"/>
          </a:p>
          <a:p>
            <a:pPr algn="l" indent="0" marL="0">
              <a:buNone/>
            </a:pPr>
            <a:r>
              <a:rPr lang="en-US" sz="1010" dirty="0">
                <a:solidFill>
                  <a:srgbClr val="5E6B7C"/>
                </a:solidFill>
                <a:latin typeface="Inter" pitchFamily="34" charset="0"/>
                <a:ea typeface="Inter" pitchFamily="34" charset="-122"/>
                <a:cs typeface="Inter" pitchFamily="34" charset="-120"/>
              </a:rPr>
              <a:t>The container uses Node build stage + Nginx runtime.</a:t>
            </a:r>
            <a:endParaRPr lang="en-US" sz="1010" dirty="0"/>
          </a:p>
        </p:txBody>
      </p:sp>
      <p:sp>
        <p:nvSpPr>
          <p:cNvPr id="23" name="Text 21"/>
          <p:cNvSpPr txBox="1"/>
          <p:nvPr/>
        </p:nvSpPr>
        <p:spPr>
          <a:xfrm>
            <a:off x="4828032" y="1472184"/>
            <a:ext cx="4114800" cy="27432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Inter" pitchFamily="34" charset="0"/>
                <a:ea typeface="Inter" pitchFamily="34" charset="-122"/>
                <a:cs typeface="Inter" pitchFamily="34" charset="-120"/>
              </a:rPr>
              <a:t>Useful service endpoints</a:t>
            </a:r>
            <a:endParaRPr lang="en-US" sz="1500" dirty="0"/>
          </a:p>
        </p:txBody>
      </p:sp>
      <p:sp>
        <p:nvSpPr>
          <p:cNvPr id="24" name="Shape 22"/>
          <p:cNvSpPr/>
          <p:nvPr/>
        </p:nvSpPr>
        <p:spPr>
          <a:xfrm>
            <a:off x="4846320" y="1920240"/>
            <a:ext cx="3044952" cy="539496"/>
          </a:xfrm>
          <a:prstGeom prst="roundRect">
            <a:avLst>
              <a:gd name="adj" fmla="val 16949"/>
            </a:avLst>
          </a:prstGeom>
          <a:solidFill>
            <a:srgbClr val="FFFFFF"/>
          </a:solidFill>
          <a:ln w="10160">
            <a:solidFill>
              <a:srgbClr val="D9E0EA"/>
            </a:solidFill>
            <a:prstDash val="solid"/>
          </a:ln>
        </p:spPr>
      </p:sp>
      <p:sp>
        <p:nvSpPr>
          <p:cNvPr id="25" name="Text 23"/>
          <p:cNvSpPr txBox="1"/>
          <p:nvPr/>
        </p:nvSpPr>
        <p:spPr>
          <a:xfrm>
            <a:off x="5029200" y="1993392"/>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3478F6"/>
                </a:solidFill>
                <a:latin typeface="DejaVu Sans Mono" pitchFamily="34" charset="0"/>
                <a:ea typeface="DejaVu Sans Mono" pitchFamily="34" charset="-122"/>
                <a:cs typeface="DejaVu Sans Mono" pitchFamily="34" charset="-120"/>
              </a:rPr>
              <a:t>/docs</a:t>
            </a:r>
            <a:endParaRPr lang="en-US" sz="950" dirty="0"/>
          </a:p>
        </p:txBody>
      </p:sp>
      <p:sp>
        <p:nvSpPr>
          <p:cNvPr id="26" name="Text 24"/>
          <p:cNvSpPr txBox="1"/>
          <p:nvPr/>
        </p:nvSpPr>
        <p:spPr>
          <a:xfrm>
            <a:off x="5980176" y="1993392"/>
            <a:ext cx="1737360" cy="219456"/>
          </a:xfrm>
          <a:prstGeom prst="rect">
            <a:avLst/>
          </a:prstGeom>
          <a:noFill/>
          <a:ln/>
        </p:spPr>
        <p:txBody>
          <a:bodyPr wrap="square" lIns="0" tIns="0" rIns="0" bIns="0" rtlCol="0" anchor="ctr">
            <a:normAutofit/>
          </a:bodyPr>
          <a:lstStyle/>
          <a:p>
            <a:pPr algn="l" indent="0" marL="0">
              <a:buNone/>
            </a:pPr>
            <a:r>
              <a:rPr lang="en-US" sz="920" dirty="0">
                <a:solidFill>
                  <a:srgbClr val="5E6B7C"/>
                </a:solidFill>
                <a:latin typeface="Inter" pitchFamily="34" charset="0"/>
                <a:ea typeface="Inter" pitchFamily="34" charset="-122"/>
                <a:cs typeface="Inter" pitchFamily="34" charset="-120"/>
              </a:rPr>
              <a:t>Interactive OpenAPI</a:t>
            </a:r>
            <a:endParaRPr lang="en-US" sz="920" dirty="0"/>
          </a:p>
        </p:txBody>
      </p:sp>
      <p:sp>
        <p:nvSpPr>
          <p:cNvPr id="27" name="Text 25">
            <a:hlinkClick r:id="rId1" tooltip=""/>
          </p:cNvPr>
          <p:cNvSpPr txBox="1"/>
          <p:nvPr/>
        </p:nvSpPr>
        <p:spPr>
          <a:xfrm>
            <a:off x="8101584" y="2075688"/>
            <a:ext cx="10058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evidence</a:t>
            </a:r>
            <a:endParaRPr lang="en-US" sz="840" dirty="0"/>
          </a:p>
        </p:txBody>
      </p:sp>
      <p:sp>
        <p:nvSpPr>
          <p:cNvPr id="28" name="Shape 26"/>
          <p:cNvSpPr/>
          <p:nvPr/>
        </p:nvSpPr>
        <p:spPr>
          <a:xfrm>
            <a:off x="4846320" y="2670048"/>
            <a:ext cx="3044952" cy="539496"/>
          </a:xfrm>
          <a:prstGeom prst="roundRect">
            <a:avLst>
              <a:gd name="adj" fmla="val 16949"/>
            </a:avLst>
          </a:prstGeom>
          <a:solidFill>
            <a:srgbClr val="FFFFFF"/>
          </a:solidFill>
          <a:ln w="10160">
            <a:solidFill>
              <a:srgbClr val="D9E0EA"/>
            </a:solidFill>
            <a:prstDash val="solid"/>
          </a:ln>
        </p:spPr>
      </p:sp>
      <p:sp>
        <p:nvSpPr>
          <p:cNvPr id="29" name="Text 27"/>
          <p:cNvSpPr txBox="1"/>
          <p:nvPr/>
        </p:nvSpPr>
        <p:spPr>
          <a:xfrm>
            <a:off x="5029200" y="2743200"/>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3478F6"/>
                </a:solidFill>
                <a:latin typeface="DejaVu Sans Mono" pitchFamily="34" charset="0"/>
                <a:ea typeface="DejaVu Sans Mono" pitchFamily="34" charset="-122"/>
                <a:cs typeface="DejaVu Sans Mono" pitchFamily="34" charset="-120"/>
              </a:rPr>
              <a:t>/health</a:t>
            </a:r>
            <a:endParaRPr lang="en-US" sz="950" dirty="0"/>
          </a:p>
        </p:txBody>
      </p:sp>
      <p:sp>
        <p:nvSpPr>
          <p:cNvPr id="30" name="Text 28"/>
          <p:cNvSpPr txBox="1"/>
          <p:nvPr/>
        </p:nvSpPr>
        <p:spPr>
          <a:xfrm>
            <a:off x="5980176" y="2743200"/>
            <a:ext cx="1737360" cy="219456"/>
          </a:xfrm>
          <a:prstGeom prst="rect">
            <a:avLst/>
          </a:prstGeom>
          <a:noFill/>
          <a:ln/>
        </p:spPr>
        <p:txBody>
          <a:bodyPr wrap="square" lIns="0" tIns="0" rIns="0" bIns="0" rtlCol="0" anchor="ctr">
            <a:normAutofit/>
          </a:bodyPr>
          <a:lstStyle/>
          <a:p>
            <a:pPr algn="l" indent="0" marL="0">
              <a:buNone/>
            </a:pPr>
            <a:r>
              <a:rPr lang="en-US" sz="920" dirty="0">
                <a:solidFill>
                  <a:srgbClr val="5E6B7C"/>
                </a:solidFill>
                <a:latin typeface="Inter" pitchFamily="34" charset="0"/>
                <a:ea typeface="Inter" pitchFamily="34" charset="-122"/>
                <a:cs typeface="Inter" pitchFamily="34" charset="-120"/>
              </a:rPr>
              <a:t>Liveness check</a:t>
            </a:r>
            <a:endParaRPr lang="en-US" sz="920" dirty="0"/>
          </a:p>
        </p:txBody>
      </p:sp>
      <p:sp>
        <p:nvSpPr>
          <p:cNvPr id="31" name="Text 29">
            <a:hlinkClick r:id="rId2" tooltip=""/>
          </p:cNvPr>
          <p:cNvSpPr txBox="1"/>
          <p:nvPr/>
        </p:nvSpPr>
        <p:spPr>
          <a:xfrm>
            <a:off x="8101584" y="2825496"/>
            <a:ext cx="10058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evidence</a:t>
            </a:r>
            <a:endParaRPr lang="en-US" sz="840" dirty="0"/>
          </a:p>
        </p:txBody>
      </p:sp>
      <p:sp>
        <p:nvSpPr>
          <p:cNvPr id="32" name="Shape 30"/>
          <p:cNvSpPr/>
          <p:nvPr/>
        </p:nvSpPr>
        <p:spPr>
          <a:xfrm>
            <a:off x="4846320" y="3419856"/>
            <a:ext cx="3044952" cy="539496"/>
          </a:xfrm>
          <a:prstGeom prst="roundRect">
            <a:avLst>
              <a:gd name="adj" fmla="val 16949"/>
            </a:avLst>
          </a:prstGeom>
          <a:solidFill>
            <a:srgbClr val="FFFFFF"/>
          </a:solidFill>
          <a:ln w="10160">
            <a:solidFill>
              <a:srgbClr val="D9E0EA"/>
            </a:solidFill>
            <a:prstDash val="solid"/>
          </a:ln>
        </p:spPr>
      </p:sp>
      <p:sp>
        <p:nvSpPr>
          <p:cNvPr id="33" name="Text 31"/>
          <p:cNvSpPr txBox="1"/>
          <p:nvPr/>
        </p:nvSpPr>
        <p:spPr>
          <a:xfrm>
            <a:off x="5029200" y="3493008"/>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3478F6"/>
                </a:solidFill>
                <a:latin typeface="DejaVu Sans Mono" pitchFamily="34" charset="0"/>
                <a:ea typeface="DejaVu Sans Mono" pitchFamily="34" charset="-122"/>
                <a:cs typeface="DejaVu Sans Mono" pitchFamily="34" charset="-120"/>
              </a:rPr>
              <a:t>/ready</a:t>
            </a:r>
            <a:endParaRPr lang="en-US" sz="950" dirty="0"/>
          </a:p>
        </p:txBody>
      </p:sp>
      <p:sp>
        <p:nvSpPr>
          <p:cNvPr id="34" name="Text 32"/>
          <p:cNvSpPr txBox="1"/>
          <p:nvPr/>
        </p:nvSpPr>
        <p:spPr>
          <a:xfrm>
            <a:off x="5980176" y="3493008"/>
            <a:ext cx="1737360" cy="219456"/>
          </a:xfrm>
          <a:prstGeom prst="rect">
            <a:avLst/>
          </a:prstGeom>
          <a:noFill/>
          <a:ln/>
        </p:spPr>
        <p:txBody>
          <a:bodyPr wrap="square" lIns="0" tIns="0" rIns="0" bIns="0" rtlCol="0" anchor="ctr">
            <a:normAutofit/>
          </a:bodyPr>
          <a:lstStyle/>
          <a:p>
            <a:pPr algn="l" indent="0" marL="0">
              <a:buNone/>
            </a:pPr>
            <a:r>
              <a:rPr lang="en-US" sz="920" dirty="0">
                <a:solidFill>
                  <a:srgbClr val="5E6B7C"/>
                </a:solidFill>
                <a:latin typeface="Inter" pitchFamily="34" charset="0"/>
                <a:ea typeface="Inter" pitchFamily="34" charset="-122"/>
                <a:cs typeface="Inter" pitchFamily="34" charset="-120"/>
              </a:rPr>
              <a:t>Database readiness</a:t>
            </a:r>
            <a:endParaRPr lang="en-US" sz="920" dirty="0"/>
          </a:p>
        </p:txBody>
      </p:sp>
      <p:sp>
        <p:nvSpPr>
          <p:cNvPr id="35" name="Shape 33"/>
          <p:cNvSpPr/>
          <p:nvPr/>
        </p:nvSpPr>
        <p:spPr>
          <a:xfrm>
            <a:off x="4846320" y="4169664"/>
            <a:ext cx="3044952" cy="539496"/>
          </a:xfrm>
          <a:prstGeom prst="roundRect">
            <a:avLst>
              <a:gd name="adj" fmla="val 16949"/>
            </a:avLst>
          </a:prstGeom>
          <a:solidFill>
            <a:srgbClr val="FFFFFF"/>
          </a:solidFill>
          <a:ln w="10160">
            <a:solidFill>
              <a:srgbClr val="D9E0EA"/>
            </a:solidFill>
            <a:prstDash val="solid"/>
          </a:ln>
        </p:spPr>
      </p:sp>
      <p:sp>
        <p:nvSpPr>
          <p:cNvPr id="36" name="Text 34"/>
          <p:cNvSpPr txBox="1"/>
          <p:nvPr/>
        </p:nvSpPr>
        <p:spPr>
          <a:xfrm>
            <a:off x="5029200" y="4242816"/>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3478F6"/>
                </a:solidFill>
                <a:latin typeface="DejaVu Sans Mono" pitchFamily="34" charset="0"/>
                <a:ea typeface="DejaVu Sans Mono" pitchFamily="34" charset="-122"/>
                <a:cs typeface="DejaVu Sans Mono" pitchFamily="34" charset="-120"/>
              </a:rPr>
              <a:t>/metrics</a:t>
            </a:r>
            <a:endParaRPr lang="en-US" sz="950" dirty="0"/>
          </a:p>
        </p:txBody>
      </p:sp>
      <p:sp>
        <p:nvSpPr>
          <p:cNvPr id="37" name="Text 35"/>
          <p:cNvSpPr txBox="1"/>
          <p:nvPr/>
        </p:nvSpPr>
        <p:spPr>
          <a:xfrm>
            <a:off x="5980176" y="4242816"/>
            <a:ext cx="1737360" cy="219456"/>
          </a:xfrm>
          <a:prstGeom prst="rect">
            <a:avLst/>
          </a:prstGeom>
          <a:noFill/>
          <a:ln/>
        </p:spPr>
        <p:txBody>
          <a:bodyPr wrap="square" lIns="0" tIns="0" rIns="0" bIns="0" rtlCol="0" anchor="ctr">
            <a:normAutofit/>
          </a:bodyPr>
          <a:lstStyle/>
          <a:p>
            <a:pPr algn="l" indent="0" marL="0">
              <a:buNone/>
            </a:pPr>
            <a:r>
              <a:rPr lang="en-US" sz="920" dirty="0">
                <a:solidFill>
                  <a:srgbClr val="5E6B7C"/>
                </a:solidFill>
                <a:latin typeface="Inter" pitchFamily="34" charset="0"/>
                <a:ea typeface="Inter" pitchFamily="34" charset="-122"/>
                <a:cs typeface="Inter" pitchFamily="34" charset="-120"/>
              </a:rPr>
              <a:t>Prometheus format</a:t>
            </a:r>
            <a:endParaRPr lang="en-US" sz="920" dirty="0"/>
          </a:p>
        </p:txBody>
      </p:sp>
      <p:sp>
        <p:nvSpPr>
          <p:cNvPr id="38" name="Text 36">
            <a:hlinkClick r:id="rId3" tooltip=""/>
          </p:cNvPr>
          <p:cNvSpPr txBox="1"/>
          <p:nvPr/>
        </p:nvSpPr>
        <p:spPr>
          <a:xfrm>
            <a:off x="8101584" y="4325112"/>
            <a:ext cx="10058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 evidence</a:t>
            </a:r>
            <a:endParaRPr lang="en-US" sz="840" dirty="0"/>
          </a:p>
        </p:txBody>
      </p:sp>
      <p:sp>
        <p:nvSpPr>
          <p:cNvPr id="39" name="Shape 37"/>
          <p:cNvSpPr/>
          <p:nvPr/>
        </p:nvSpPr>
        <p:spPr>
          <a:xfrm>
            <a:off x="9390888" y="1920240"/>
            <a:ext cx="2185416" cy="2788920"/>
          </a:xfrm>
          <a:prstGeom prst="roundRect">
            <a:avLst>
              <a:gd name="adj" fmla="val 4184"/>
            </a:avLst>
          </a:prstGeom>
          <a:solidFill>
            <a:srgbClr val="FFF0E7"/>
          </a:solidFill>
          <a:ln w="10160">
            <a:solidFill>
              <a:srgbClr val="FFF0E7">
                <a:alpha val="0"/>
              </a:srgbClr>
            </a:solidFill>
            <a:prstDash val="solid"/>
          </a:ln>
        </p:spPr>
      </p:sp>
      <p:sp>
        <p:nvSpPr>
          <p:cNvPr id="40" name="Text 38"/>
          <p:cNvSpPr txBox="1"/>
          <p:nvPr/>
        </p:nvSpPr>
        <p:spPr>
          <a:xfrm>
            <a:off x="9601200" y="2157984"/>
            <a:ext cx="1783080" cy="420624"/>
          </a:xfrm>
          <a:prstGeom prst="rect">
            <a:avLst/>
          </a:prstGeom>
          <a:noFill/>
          <a:ln/>
        </p:spPr>
        <p:txBody>
          <a:bodyPr wrap="square" lIns="0" tIns="0" rIns="0" bIns="0" rtlCol="0" anchor="ctr">
            <a:normAutofit/>
          </a:bodyPr>
          <a:lstStyle/>
          <a:p>
            <a:pPr algn="l" indent="0" marL="0">
              <a:buNone/>
            </a:pPr>
            <a:r>
              <a:rPr lang="en-US" sz="1300" b="1" dirty="0">
                <a:solidFill>
                  <a:srgbClr val="A74E19"/>
                </a:solidFill>
                <a:latin typeface="Inter" pitchFamily="34" charset="0"/>
                <a:ea typeface="Inter" pitchFamily="34" charset="-122"/>
                <a:cs typeface="Inter" pitchFamily="34" charset="-120"/>
              </a:rPr>
              <a:t>Reproducibility note</a:t>
            </a:r>
            <a:endParaRPr lang="en-US" sz="1300" dirty="0"/>
          </a:p>
        </p:txBody>
      </p:sp>
      <p:sp>
        <p:nvSpPr>
          <p:cNvPr id="41" name="Text 39"/>
          <p:cNvSpPr txBox="1"/>
          <p:nvPr/>
        </p:nvSpPr>
        <p:spPr>
          <a:xfrm>
            <a:off x="9601200" y="2752344"/>
            <a:ext cx="1719072" cy="1554480"/>
          </a:xfrm>
          <a:prstGeom prst="rect">
            <a:avLst/>
          </a:prstGeom>
          <a:noFill/>
          <a:ln/>
        </p:spPr>
        <p:txBody>
          <a:bodyPr wrap="square" lIns="0" tIns="0" rIns="0" bIns="0" rtlCol="0" anchor="t">
            <a:normAutofit/>
          </a:bodyPr>
          <a:lstStyle/>
          <a:p>
            <a:pPr algn="l" indent="0" marL="0">
              <a:buNone/>
            </a:pPr>
            <a:r>
              <a:rPr lang="en-US" sz="1000" dirty="0">
                <a:solidFill>
                  <a:srgbClr val="172337"/>
                </a:solidFill>
                <a:latin typeface="Inter" pitchFamily="34" charset="0"/>
                <a:ea typeface="Inter" pitchFamily="34" charset="-122"/>
                <a:cs typeface="Inter" pitchFamily="34" charset="-120"/>
              </a:rPr>
              <a:t>The screenshots in docs/images are useful evidence. Re-run commands during recording to demonstrate the current environment and avoid relying on screenshots alone.</a:t>
            </a:r>
            <a:endParaRPr lang="en-US" sz="1000" dirty="0"/>
          </a:p>
        </p:txBody>
      </p:sp>
      <p:sp>
        <p:nvSpPr>
          <p:cNvPr id="42" name="Text 40">
            <a:hlinkClick r:id="rId4" tooltip=""/>
          </p:cNvPr>
          <p:cNvSpPr txBox="1"/>
          <p:nvPr/>
        </p:nvSpPr>
        <p:spPr>
          <a:xfrm>
            <a:off x="4846320" y="5806440"/>
            <a:ext cx="164592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 App running</a:t>
            </a:r>
            <a:endParaRPr lang="en-US" sz="840" dirty="0"/>
          </a:p>
        </p:txBody>
      </p:sp>
      <p:sp>
        <p:nvSpPr>
          <p:cNvPr id="43" name="Text 41">
            <a:hlinkClick r:id="rId5" tooltip=""/>
          </p:cNvPr>
          <p:cNvSpPr txBox="1"/>
          <p:nvPr/>
        </p:nvSpPr>
        <p:spPr>
          <a:xfrm>
            <a:off x="6858000" y="5806440"/>
            <a:ext cx="14630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 Pytest output</a:t>
            </a:r>
            <a:endParaRPr lang="en-US" sz="840" dirty="0"/>
          </a:p>
        </p:txBody>
      </p:sp>
      <p:sp>
        <p:nvSpPr>
          <p:cNvPr id="44" name="Text 42">
            <a:hlinkClick r:id="rId6" tooltip=""/>
          </p:cNvPr>
          <p:cNvSpPr txBox="1"/>
          <p:nvPr/>
        </p:nvSpPr>
        <p:spPr>
          <a:xfrm>
            <a:off x="8595360" y="5806440"/>
            <a:ext cx="15544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 Compose build</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05  /  PIPELINE + SECURITY</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CI/CD: test first, scan before publish</a:t>
            </a:r>
            <a:endParaRPr lang="en-US" sz="2400" dirty="0"/>
          </a:p>
        </p:txBody>
      </p:sp>
      <p:sp>
        <p:nvSpPr>
          <p:cNvPr id="5" name="Text 3"/>
          <p:cNvSpPr txBox="1"/>
          <p:nvPr/>
        </p:nvSpPr>
        <p:spPr>
          <a:xfrm>
            <a:off x="612648" y="1225296"/>
            <a:ext cx="10698480" cy="384048"/>
          </a:xfrm>
          <a:prstGeom prst="rect">
            <a:avLst/>
          </a:prstGeom>
          <a:noFill/>
          <a:ln/>
        </p:spPr>
        <p:txBody>
          <a:bodyPr wrap="square" lIns="0" tIns="0" rIns="0" bIns="0" rtlCol="0" anchor="ctr">
            <a:normAutofit/>
          </a:bodyPr>
          <a:lstStyle/>
          <a:p>
            <a:pPr algn="l" indent="0" marL="0">
              <a:buNone/>
            </a:pPr>
            <a:r>
              <a:rPr lang="en-US" sz="1280" dirty="0">
                <a:solidFill>
                  <a:srgbClr val="5E6B7C"/>
                </a:solidFill>
                <a:latin typeface="Inter" pitchFamily="34" charset="0"/>
                <a:ea typeface="Inter" pitchFamily="34" charset="-122"/>
                <a:cs typeface="Inter" pitchFamily="34" charset="-120"/>
              </a:rPr>
              <a:t>The workflow separates fast validation from publishing. Main-branch image release is gated by tests, frontend build and Trivy.</a:t>
            </a:r>
            <a:endParaRPr lang="en-US" sz="1280" dirty="0"/>
          </a:p>
        </p:txBody>
      </p:sp>
      <p:sp>
        <p:nvSpPr>
          <p:cNvPr id="6" name="Shape 4"/>
          <p:cNvSpPr/>
          <p:nvPr/>
        </p:nvSpPr>
        <p:spPr>
          <a:xfrm>
            <a:off x="621792" y="1965960"/>
            <a:ext cx="1993392" cy="1051560"/>
          </a:xfrm>
          <a:prstGeom prst="roundRect">
            <a:avLst>
              <a:gd name="adj" fmla="val 8696"/>
            </a:avLst>
          </a:prstGeom>
          <a:solidFill>
            <a:srgbClr val="FFFFFF"/>
          </a:solidFill>
          <a:ln w="10160">
            <a:solidFill>
              <a:srgbClr val="D9E0EA"/>
            </a:solidFill>
            <a:prstDash val="solid"/>
          </a:ln>
        </p:spPr>
      </p:sp>
      <p:sp>
        <p:nvSpPr>
          <p:cNvPr id="7" name="Shape 5"/>
          <p:cNvSpPr/>
          <p:nvPr/>
        </p:nvSpPr>
        <p:spPr>
          <a:xfrm>
            <a:off x="621792" y="1965960"/>
            <a:ext cx="1993392" cy="68580"/>
          </a:xfrm>
          <a:prstGeom prst="rect">
            <a:avLst>
              <a:gd name="adj" fmla="val 133333"/>
            </a:avLst>
          </a:prstGeom>
          <a:solidFill>
            <a:srgbClr val="3478F6"/>
          </a:solidFill>
          <a:ln w="10160">
            <a:solidFill>
              <a:srgbClr val="3478F6">
                <a:alpha val="0"/>
              </a:srgbClr>
            </a:solidFill>
            <a:prstDash val="solid"/>
          </a:ln>
        </p:spPr>
      </p:sp>
      <p:sp>
        <p:nvSpPr>
          <p:cNvPr id="8" name="Text 6"/>
          <p:cNvSpPr txBox="1"/>
          <p:nvPr/>
        </p:nvSpPr>
        <p:spPr>
          <a:xfrm>
            <a:off x="749808" y="2212848"/>
            <a:ext cx="1737360" cy="237744"/>
          </a:xfrm>
          <a:prstGeom prst="rect">
            <a:avLst/>
          </a:prstGeom>
          <a:noFill/>
          <a:ln/>
        </p:spPr>
        <p:txBody>
          <a:bodyPr wrap="square" lIns="0" tIns="0" rIns="0" bIns="0" rtlCol="0" anchor="ctr">
            <a:normAutofit/>
          </a:bodyPr>
          <a:lstStyle/>
          <a:p>
            <a:pPr algn="ctr" indent="0" marL="0">
              <a:buNone/>
            </a:pPr>
            <a:r>
              <a:rPr lang="en-US" sz="1100" b="1" dirty="0">
                <a:solidFill>
                  <a:srgbClr val="172337"/>
                </a:solidFill>
                <a:latin typeface="Inter" pitchFamily="34" charset="0"/>
                <a:ea typeface="Inter" pitchFamily="34" charset="-122"/>
                <a:cs typeface="Inter" pitchFamily="34" charset="-120"/>
              </a:rPr>
              <a:t>1  Validate</a:t>
            </a:r>
            <a:endParaRPr lang="en-US" sz="1100" dirty="0"/>
          </a:p>
        </p:txBody>
      </p:sp>
      <p:sp>
        <p:nvSpPr>
          <p:cNvPr id="9" name="Text 7"/>
          <p:cNvSpPr txBox="1"/>
          <p:nvPr/>
        </p:nvSpPr>
        <p:spPr>
          <a:xfrm>
            <a:off x="758952" y="2560320"/>
            <a:ext cx="1719072" cy="265176"/>
          </a:xfrm>
          <a:prstGeom prst="rect">
            <a:avLst/>
          </a:prstGeom>
          <a:noFill/>
          <a:ln/>
        </p:spPr>
        <p:txBody>
          <a:bodyPr wrap="square" lIns="0" tIns="0" rIns="0" bIns="0" rtlCol="0" anchor="ctr">
            <a:normAutofit/>
          </a:bodyPr>
          <a:lstStyle/>
          <a:p>
            <a:pPr algn="ctr" indent="0" marL="0">
              <a:buNone/>
            </a:pPr>
            <a:r>
              <a:rPr lang="en-US" sz="940" dirty="0">
                <a:solidFill>
                  <a:srgbClr val="5E6B7C"/>
                </a:solidFill>
                <a:latin typeface="Inter" pitchFamily="34" charset="0"/>
                <a:ea typeface="Inter" pitchFamily="34" charset="-122"/>
                <a:cs typeface="Inter" pitchFamily="34" charset="-120"/>
              </a:rPr>
              <a:t>Pytest + frontend build</a:t>
            </a:r>
            <a:endParaRPr lang="en-US" sz="940" dirty="0"/>
          </a:p>
        </p:txBody>
      </p:sp>
      <p:sp>
        <p:nvSpPr>
          <p:cNvPr id="10" name="Shape 8"/>
          <p:cNvSpPr/>
          <p:nvPr/>
        </p:nvSpPr>
        <p:spPr>
          <a:xfrm>
            <a:off x="2651760" y="2487168"/>
            <a:ext cx="137160" cy="0"/>
          </a:xfrm>
          <a:prstGeom prst="line">
            <a:avLst/>
          </a:prstGeom>
          <a:noFill/>
          <a:ln w="19050">
            <a:solidFill>
              <a:srgbClr val="A8B4C4"/>
            </a:solidFill>
            <a:prstDash val="solid"/>
            <a:tailEnd type="triangle"/>
          </a:ln>
        </p:spPr>
      </p:sp>
      <p:sp>
        <p:nvSpPr>
          <p:cNvPr id="11" name="Shape 9"/>
          <p:cNvSpPr/>
          <p:nvPr/>
        </p:nvSpPr>
        <p:spPr>
          <a:xfrm>
            <a:off x="2862072" y="1965960"/>
            <a:ext cx="1993392" cy="1051560"/>
          </a:xfrm>
          <a:prstGeom prst="roundRect">
            <a:avLst>
              <a:gd name="adj" fmla="val 8696"/>
            </a:avLst>
          </a:prstGeom>
          <a:solidFill>
            <a:srgbClr val="FFFFFF"/>
          </a:solidFill>
          <a:ln w="10160">
            <a:solidFill>
              <a:srgbClr val="D9E0EA"/>
            </a:solidFill>
            <a:prstDash val="solid"/>
          </a:ln>
        </p:spPr>
      </p:sp>
      <p:sp>
        <p:nvSpPr>
          <p:cNvPr id="12" name="Shape 10"/>
          <p:cNvSpPr/>
          <p:nvPr/>
        </p:nvSpPr>
        <p:spPr>
          <a:xfrm>
            <a:off x="2862072" y="1965960"/>
            <a:ext cx="1993392" cy="68580"/>
          </a:xfrm>
          <a:prstGeom prst="rect">
            <a:avLst>
              <a:gd name="adj" fmla="val 133333"/>
            </a:avLst>
          </a:prstGeom>
          <a:solidFill>
            <a:srgbClr val="8467E8"/>
          </a:solidFill>
          <a:ln w="10160">
            <a:solidFill>
              <a:srgbClr val="8467E8">
                <a:alpha val="0"/>
              </a:srgbClr>
            </a:solidFill>
            <a:prstDash val="solid"/>
          </a:ln>
        </p:spPr>
      </p:sp>
      <p:sp>
        <p:nvSpPr>
          <p:cNvPr id="13" name="Text 11"/>
          <p:cNvSpPr txBox="1"/>
          <p:nvPr/>
        </p:nvSpPr>
        <p:spPr>
          <a:xfrm>
            <a:off x="2990088" y="2212848"/>
            <a:ext cx="1737360" cy="237744"/>
          </a:xfrm>
          <a:prstGeom prst="rect">
            <a:avLst/>
          </a:prstGeom>
          <a:noFill/>
          <a:ln/>
        </p:spPr>
        <p:txBody>
          <a:bodyPr wrap="square" lIns="0" tIns="0" rIns="0" bIns="0" rtlCol="0" anchor="ctr">
            <a:normAutofit/>
          </a:bodyPr>
          <a:lstStyle/>
          <a:p>
            <a:pPr algn="ctr" indent="0" marL="0">
              <a:buNone/>
            </a:pPr>
            <a:r>
              <a:rPr lang="en-US" sz="1100" b="1" dirty="0">
                <a:solidFill>
                  <a:srgbClr val="172337"/>
                </a:solidFill>
                <a:latin typeface="Inter" pitchFamily="34" charset="0"/>
                <a:ea typeface="Inter" pitchFamily="34" charset="-122"/>
                <a:cs typeface="Inter" pitchFamily="34" charset="-120"/>
              </a:rPr>
              <a:t>2  Build images</a:t>
            </a:r>
            <a:endParaRPr lang="en-US" sz="1100" dirty="0"/>
          </a:p>
        </p:txBody>
      </p:sp>
      <p:sp>
        <p:nvSpPr>
          <p:cNvPr id="14" name="Text 12"/>
          <p:cNvSpPr txBox="1"/>
          <p:nvPr/>
        </p:nvSpPr>
        <p:spPr>
          <a:xfrm>
            <a:off x="2999232" y="2560320"/>
            <a:ext cx="1719072" cy="265176"/>
          </a:xfrm>
          <a:prstGeom prst="rect">
            <a:avLst/>
          </a:prstGeom>
          <a:noFill/>
          <a:ln/>
        </p:spPr>
        <p:txBody>
          <a:bodyPr wrap="square" lIns="0" tIns="0" rIns="0" bIns="0" rtlCol="0" anchor="ctr">
            <a:normAutofit/>
          </a:bodyPr>
          <a:lstStyle/>
          <a:p>
            <a:pPr algn="ctr" indent="0" marL="0">
              <a:buNone/>
            </a:pPr>
            <a:r>
              <a:rPr lang="en-US" sz="940" dirty="0">
                <a:solidFill>
                  <a:srgbClr val="5E6B7C"/>
                </a:solidFill>
                <a:latin typeface="Inter" pitchFamily="34" charset="0"/>
                <a:ea typeface="Inter" pitchFamily="34" charset="-122"/>
                <a:cs typeface="Inter" pitchFamily="34" charset="-120"/>
              </a:rPr>
              <a:t>Frontend + backend Docker</a:t>
            </a:r>
            <a:endParaRPr lang="en-US" sz="940" dirty="0"/>
          </a:p>
        </p:txBody>
      </p:sp>
      <p:sp>
        <p:nvSpPr>
          <p:cNvPr id="15" name="Shape 13"/>
          <p:cNvSpPr/>
          <p:nvPr/>
        </p:nvSpPr>
        <p:spPr>
          <a:xfrm>
            <a:off x="4892040" y="2487168"/>
            <a:ext cx="137160" cy="0"/>
          </a:xfrm>
          <a:prstGeom prst="line">
            <a:avLst/>
          </a:prstGeom>
          <a:noFill/>
          <a:ln w="19050">
            <a:solidFill>
              <a:srgbClr val="A8B4C4"/>
            </a:solidFill>
            <a:prstDash val="solid"/>
            <a:tailEnd type="triangle"/>
          </a:ln>
        </p:spPr>
      </p:sp>
      <p:sp>
        <p:nvSpPr>
          <p:cNvPr id="16" name="Shape 14"/>
          <p:cNvSpPr/>
          <p:nvPr/>
        </p:nvSpPr>
        <p:spPr>
          <a:xfrm>
            <a:off x="5102352" y="1965960"/>
            <a:ext cx="1993392" cy="1051560"/>
          </a:xfrm>
          <a:prstGeom prst="roundRect">
            <a:avLst>
              <a:gd name="adj" fmla="val 8696"/>
            </a:avLst>
          </a:prstGeom>
          <a:solidFill>
            <a:srgbClr val="FFFFFF"/>
          </a:solidFill>
          <a:ln w="10160">
            <a:solidFill>
              <a:srgbClr val="D9E0EA"/>
            </a:solidFill>
            <a:prstDash val="solid"/>
          </a:ln>
        </p:spPr>
      </p:sp>
      <p:sp>
        <p:nvSpPr>
          <p:cNvPr id="17" name="Shape 15"/>
          <p:cNvSpPr/>
          <p:nvPr/>
        </p:nvSpPr>
        <p:spPr>
          <a:xfrm>
            <a:off x="5102352" y="1965960"/>
            <a:ext cx="1993392" cy="68580"/>
          </a:xfrm>
          <a:prstGeom prst="rect">
            <a:avLst>
              <a:gd name="adj" fmla="val 133333"/>
            </a:avLst>
          </a:prstGeom>
          <a:solidFill>
            <a:srgbClr val="F28C52"/>
          </a:solidFill>
          <a:ln w="10160">
            <a:solidFill>
              <a:srgbClr val="F28C52">
                <a:alpha val="0"/>
              </a:srgbClr>
            </a:solidFill>
            <a:prstDash val="solid"/>
          </a:ln>
        </p:spPr>
      </p:sp>
      <p:sp>
        <p:nvSpPr>
          <p:cNvPr id="18" name="Text 16"/>
          <p:cNvSpPr txBox="1"/>
          <p:nvPr/>
        </p:nvSpPr>
        <p:spPr>
          <a:xfrm>
            <a:off x="5230368" y="2212848"/>
            <a:ext cx="1737360" cy="237744"/>
          </a:xfrm>
          <a:prstGeom prst="rect">
            <a:avLst/>
          </a:prstGeom>
          <a:noFill/>
          <a:ln/>
        </p:spPr>
        <p:txBody>
          <a:bodyPr wrap="square" lIns="0" tIns="0" rIns="0" bIns="0" rtlCol="0" anchor="ctr">
            <a:normAutofit/>
          </a:bodyPr>
          <a:lstStyle/>
          <a:p>
            <a:pPr algn="ctr" indent="0" marL="0">
              <a:buNone/>
            </a:pPr>
            <a:r>
              <a:rPr lang="en-US" sz="1100" b="1" dirty="0">
                <a:solidFill>
                  <a:srgbClr val="172337"/>
                </a:solidFill>
                <a:latin typeface="Inter" pitchFamily="34" charset="0"/>
                <a:ea typeface="Inter" pitchFamily="34" charset="-122"/>
                <a:cs typeface="Inter" pitchFamily="34" charset="-120"/>
              </a:rPr>
              <a:t>3  Scan</a:t>
            </a:r>
            <a:endParaRPr lang="en-US" sz="1100" dirty="0"/>
          </a:p>
        </p:txBody>
      </p:sp>
      <p:sp>
        <p:nvSpPr>
          <p:cNvPr id="19" name="Text 17"/>
          <p:cNvSpPr txBox="1"/>
          <p:nvPr/>
        </p:nvSpPr>
        <p:spPr>
          <a:xfrm>
            <a:off x="5239512" y="2560320"/>
            <a:ext cx="1719072" cy="265176"/>
          </a:xfrm>
          <a:prstGeom prst="rect">
            <a:avLst/>
          </a:prstGeom>
          <a:noFill/>
          <a:ln/>
        </p:spPr>
        <p:txBody>
          <a:bodyPr wrap="square" lIns="0" tIns="0" rIns="0" bIns="0" rtlCol="0" anchor="ctr">
            <a:normAutofit/>
          </a:bodyPr>
          <a:lstStyle/>
          <a:p>
            <a:pPr algn="ctr" indent="0" marL="0">
              <a:buNone/>
            </a:pPr>
            <a:r>
              <a:rPr lang="en-US" sz="940" dirty="0">
                <a:solidFill>
                  <a:srgbClr val="5E6B7C"/>
                </a:solidFill>
                <a:latin typeface="Inter" pitchFamily="34" charset="0"/>
                <a:ea typeface="Inter" pitchFamily="34" charset="-122"/>
                <a:cs typeface="Inter" pitchFamily="34" charset="-120"/>
              </a:rPr>
              <a:t>Trivy HIGH / CRITICAL</a:t>
            </a:r>
            <a:endParaRPr lang="en-US" sz="940" dirty="0"/>
          </a:p>
        </p:txBody>
      </p:sp>
      <p:sp>
        <p:nvSpPr>
          <p:cNvPr id="20" name="Shape 18"/>
          <p:cNvSpPr/>
          <p:nvPr/>
        </p:nvSpPr>
        <p:spPr>
          <a:xfrm>
            <a:off x="7132320" y="2487168"/>
            <a:ext cx="137160" cy="0"/>
          </a:xfrm>
          <a:prstGeom prst="line">
            <a:avLst/>
          </a:prstGeom>
          <a:noFill/>
          <a:ln w="19050">
            <a:solidFill>
              <a:srgbClr val="A8B4C4"/>
            </a:solidFill>
            <a:prstDash val="solid"/>
            <a:tailEnd type="triangle"/>
          </a:ln>
        </p:spPr>
      </p:sp>
      <p:sp>
        <p:nvSpPr>
          <p:cNvPr id="21" name="Shape 19"/>
          <p:cNvSpPr/>
          <p:nvPr/>
        </p:nvSpPr>
        <p:spPr>
          <a:xfrm>
            <a:off x="7342632" y="1965960"/>
            <a:ext cx="1993392" cy="1051560"/>
          </a:xfrm>
          <a:prstGeom prst="roundRect">
            <a:avLst>
              <a:gd name="adj" fmla="val 8696"/>
            </a:avLst>
          </a:prstGeom>
          <a:solidFill>
            <a:srgbClr val="FFFFFF"/>
          </a:solidFill>
          <a:ln w="10160">
            <a:solidFill>
              <a:srgbClr val="D9E0EA"/>
            </a:solidFill>
            <a:prstDash val="solid"/>
          </a:ln>
        </p:spPr>
      </p:sp>
      <p:sp>
        <p:nvSpPr>
          <p:cNvPr id="22" name="Shape 20"/>
          <p:cNvSpPr/>
          <p:nvPr/>
        </p:nvSpPr>
        <p:spPr>
          <a:xfrm>
            <a:off x="7342632" y="1965960"/>
            <a:ext cx="1993392" cy="68580"/>
          </a:xfrm>
          <a:prstGeom prst="rect">
            <a:avLst>
              <a:gd name="adj" fmla="val 133333"/>
            </a:avLst>
          </a:prstGeom>
          <a:solidFill>
            <a:srgbClr val="0FBAA6"/>
          </a:solidFill>
          <a:ln w="10160">
            <a:solidFill>
              <a:srgbClr val="0FBAA6">
                <a:alpha val="0"/>
              </a:srgbClr>
            </a:solidFill>
            <a:prstDash val="solid"/>
          </a:ln>
        </p:spPr>
      </p:sp>
      <p:sp>
        <p:nvSpPr>
          <p:cNvPr id="23" name="Text 21"/>
          <p:cNvSpPr txBox="1"/>
          <p:nvPr/>
        </p:nvSpPr>
        <p:spPr>
          <a:xfrm>
            <a:off x="7470648" y="2212848"/>
            <a:ext cx="1737360" cy="237744"/>
          </a:xfrm>
          <a:prstGeom prst="rect">
            <a:avLst/>
          </a:prstGeom>
          <a:noFill/>
          <a:ln/>
        </p:spPr>
        <p:txBody>
          <a:bodyPr wrap="square" lIns="0" tIns="0" rIns="0" bIns="0" rtlCol="0" anchor="ctr">
            <a:normAutofit/>
          </a:bodyPr>
          <a:lstStyle/>
          <a:p>
            <a:pPr algn="ctr" indent="0" marL="0">
              <a:buNone/>
            </a:pPr>
            <a:r>
              <a:rPr lang="en-US" sz="1100" b="1" dirty="0">
                <a:solidFill>
                  <a:srgbClr val="172337"/>
                </a:solidFill>
                <a:latin typeface="Inter" pitchFamily="34" charset="0"/>
                <a:ea typeface="Inter" pitchFamily="34" charset="-122"/>
                <a:cs typeface="Inter" pitchFamily="34" charset="-120"/>
              </a:rPr>
              <a:t>4  Publish</a:t>
            </a:r>
            <a:endParaRPr lang="en-US" sz="1100" dirty="0"/>
          </a:p>
        </p:txBody>
      </p:sp>
      <p:sp>
        <p:nvSpPr>
          <p:cNvPr id="24" name="Text 22"/>
          <p:cNvSpPr txBox="1"/>
          <p:nvPr/>
        </p:nvSpPr>
        <p:spPr>
          <a:xfrm>
            <a:off x="7479792" y="2560320"/>
            <a:ext cx="1719072" cy="265176"/>
          </a:xfrm>
          <a:prstGeom prst="rect">
            <a:avLst/>
          </a:prstGeom>
          <a:noFill/>
          <a:ln/>
        </p:spPr>
        <p:txBody>
          <a:bodyPr wrap="square" lIns="0" tIns="0" rIns="0" bIns="0" rtlCol="0" anchor="ctr">
            <a:normAutofit/>
          </a:bodyPr>
          <a:lstStyle/>
          <a:p>
            <a:pPr algn="ctr" indent="0" marL="0">
              <a:buNone/>
            </a:pPr>
            <a:r>
              <a:rPr lang="en-US" sz="940" dirty="0">
                <a:solidFill>
                  <a:srgbClr val="5E6B7C"/>
                </a:solidFill>
                <a:latin typeface="Inter" pitchFamily="34" charset="0"/>
                <a:ea typeface="Inter" pitchFamily="34" charset="-122"/>
                <a:cs typeface="Inter" pitchFamily="34" charset="-120"/>
              </a:rPr>
              <a:t>GHCR with commit SHA</a:t>
            </a:r>
            <a:endParaRPr lang="en-US" sz="940" dirty="0"/>
          </a:p>
        </p:txBody>
      </p:sp>
      <p:sp>
        <p:nvSpPr>
          <p:cNvPr id="25" name="Shape 23"/>
          <p:cNvSpPr/>
          <p:nvPr/>
        </p:nvSpPr>
        <p:spPr>
          <a:xfrm>
            <a:off x="9372600" y="2487168"/>
            <a:ext cx="137160" cy="0"/>
          </a:xfrm>
          <a:prstGeom prst="line">
            <a:avLst/>
          </a:prstGeom>
          <a:noFill/>
          <a:ln w="19050">
            <a:solidFill>
              <a:srgbClr val="A8B4C4"/>
            </a:solidFill>
            <a:prstDash val="solid"/>
            <a:tailEnd type="triangle"/>
          </a:ln>
        </p:spPr>
      </p:sp>
      <p:sp>
        <p:nvSpPr>
          <p:cNvPr id="26" name="Shape 24"/>
          <p:cNvSpPr/>
          <p:nvPr/>
        </p:nvSpPr>
        <p:spPr>
          <a:xfrm>
            <a:off x="9582912" y="1965960"/>
            <a:ext cx="1993392" cy="1051560"/>
          </a:xfrm>
          <a:prstGeom prst="roundRect">
            <a:avLst>
              <a:gd name="adj" fmla="val 8696"/>
            </a:avLst>
          </a:prstGeom>
          <a:solidFill>
            <a:srgbClr val="FFFFFF"/>
          </a:solidFill>
          <a:ln w="10160">
            <a:solidFill>
              <a:srgbClr val="D9E0EA"/>
            </a:solidFill>
            <a:prstDash val="solid"/>
          </a:ln>
        </p:spPr>
      </p:sp>
      <p:sp>
        <p:nvSpPr>
          <p:cNvPr id="27" name="Shape 25"/>
          <p:cNvSpPr/>
          <p:nvPr/>
        </p:nvSpPr>
        <p:spPr>
          <a:xfrm>
            <a:off x="9582912" y="1965960"/>
            <a:ext cx="1993392" cy="68580"/>
          </a:xfrm>
          <a:prstGeom prst="rect">
            <a:avLst>
              <a:gd name="adj" fmla="val 133333"/>
            </a:avLst>
          </a:prstGeom>
          <a:solidFill>
            <a:srgbClr val="2CA779"/>
          </a:solidFill>
          <a:ln w="10160">
            <a:solidFill>
              <a:srgbClr val="2CA779">
                <a:alpha val="0"/>
              </a:srgbClr>
            </a:solidFill>
            <a:prstDash val="solid"/>
          </a:ln>
        </p:spPr>
      </p:sp>
      <p:sp>
        <p:nvSpPr>
          <p:cNvPr id="28" name="Text 26"/>
          <p:cNvSpPr txBox="1"/>
          <p:nvPr/>
        </p:nvSpPr>
        <p:spPr>
          <a:xfrm>
            <a:off x="9710928" y="2212848"/>
            <a:ext cx="1737360" cy="237744"/>
          </a:xfrm>
          <a:prstGeom prst="rect">
            <a:avLst/>
          </a:prstGeom>
          <a:noFill/>
          <a:ln/>
        </p:spPr>
        <p:txBody>
          <a:bodyPr wrap="square" lIns="0" tIns="0" rIns="0" bIns="0" rtlCol="0" anchor="ctr">
            <a:normAutofit/>
          </a:bodyPr>
          <a:lstStyle/>
          <a:p>
            <a:pPr algn="ctr" indent="0" marL="0">
              <a:buNone/>
            </a:pPr>
            <a:r>
              <a:rPr lang="en-US" sz="1100" b="1" dirty="0">
                <a:solidFill>
                  <a:srgbClr val="172337"/>
                </a:solidFill>
                <a:latin typeface="Inter" pitchFamily="34" charset="0"/>
                <a:ea typeface="Inter" pitchFamily="34" charset="-122"/>
                <a:cs typeface="Inter" pitchFamily="34" charset="-120"/>
              </a:rPr>
              <a:t>5  Deploy</a:t>
            </a:r>
            <a:endParaRPr lang="en-US" sz="1100" dirty="0"/>
          </a:p>
        </p:txBody>
      </p:sp>
      <p:sp>
        <p:nvSpPr>
          <p:cNvPr id="29" name="Text 27"/>
          <p:cNvSpPr txBox="1"/>
          <p:nvPr/>
        </p:nvSpPr>
        <p:spPr>
          <a:xfrm>
            <a:off x="9720072" y="2560320"/>
            <a:ext cx="1719072" cy="265176"/>
          </a:xfrm>
          <a:prstGeom prst="rect">
            <a:avLst/>
          </a:prstGeom>
          <a:noFill/>
          <a:ln/>
        </p:spPr>
        <p:txBody>
          <a:bodyPr wrap="square" lIns="0" tIns="0" rIns="0" bIns="0" rtlCol="0" anchor="ctr">
            <a:normAutofit/>
          </a:bodyPr>
          <a:lstStyle/>
          <a:p>
            <a:pPr algn="ctr" indent="0" marL="0">
              <a:buNone/>
            </a:pPr>
            <a:r>
              <a:rPr lang="en-US" sz="940" dirty="0">
                <a:solidFill>
                  <a:srgbClr val="5E6B7C"/>
                </a:solidFill>
                <a:latin typeface="Inter" pitchFamily="34" charset="0"/>
                <a:ea typeface="Inter" pitchFamily="34" charset="-122"/>
                <a:cs typeface="Inter" pitchFamily="34" charset="-120"/>
              </a:rPr>
              <a:t>Separate Helm release</a:t>
            </a:r>
            <a:endParaRPr lang="en-US" sz="940" dirty="0"/>
          </a:p>
        </p:txBody>
      </p:sp>
      <p:sp>
        <p:nvSpPr>
          <p:cNvPr id="30" name="Shape 28"/>
          <p:cNvSpPr/>
          <p:nvPr/>
        </p:nvSpPr>
        <p:spPr>
          <a:xfrm>
            <a:off x="630936" y="3438144"/>
            <a:ext cx="5294376" cy="1673352"/>
          </a:xfrm>
          <a:prstGeom prst="roundRect">
            <a:avLst>
              <a:gd name="adj" fmla="val 5464"/>
            </a:avLst>
          </a:prstGeom>
          <a:solidFill>
            <a:srgbClr val="101B2D"/>
          </a:solidFill>
          <a:ln w="10160">
            <a:solidFill>
              <a:srgbClr val="101B2D">
                <a:alpha val="0"/>
              </a:srgbClr>
            </a:solidFill>
            <a:prstDash val="solid"/>
          </a:ln>
        </p:spPr>
      </p:sp>
      <p:sp>
        <p:nvSpPr>
          <p:cNvPr id="31" name="Text 29"/>
          <p:cNvSpPr txBox="1"/>
          <p:nvPr/>
        </p:nvSpPr>
        <p:spPr>
          <a:xfrm>
            <a:off x="877824" y="3685032"/>
            <a:ext cx="201168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0FBAA6"/>
                </a:solidFill>
                <a:latin typeface="Inter" pitchFamily="34" charset="0"/>
                <a:ea typeface="Inter" pitchFamily="34" charset="-122"/>
                <a:cs typeface="Inter" pitchFamily="34" charset="-120"/>
              </a:rPr>
              <a:t>IMAGE TAGGING</a:t>
            </a:r>
            <a:endParaRPr lang="en-US" sz="820" dirty="0"/>
          </a:p>
        </p:txBody>
      </p:sp>
      <p:sp>
        <p:nvSpPr>
          <p:cNvPr id="32" name="Text 30"/>
          <p:cNvSpPr txBox="1"/>
          <p:nvPr/>
        </p:nvSpPr>
        <p:spPr>
          <a:xfrm>
            <a:off x="877824" y="4059936"/>
            <a:ext cx="4709160" cy="210312"/>
          </a:xfrm>
          <a:prstGeom prst="rect">
            <a:avLst/>
          </a:prstGeom>
          <a:noFill/>
          <a:ln/>
        </p:spPr>
        <p:txBody>
          <a:bodyPr wrap="square" lIns="0" tIns="0" rIns="0" bIns="0" rtlCol="0" anchor="ctr">
            <a:normAutofit/>
          </a:bodyPr>
          <a:lstStyle/>
          <a:p>
            <a:pPr algn="l" indent="0" marL="0">
              <a:buNone/>
            </a:pPr>
            <a:r>
              <a:rPr lang="en-US" sz="880" dirty="0">
                <a:solidFill>
                  <a:srgbClr val="FFFFFF"/>
                </a:solidFill>
                <a:latin typeface="DejaVu Sans Mono" pitchFamily="34" charset="0"/>
                <a:ea typeface="DejaVu Sans Mono" pitchFamily="34" charset="-122"/>
                <a:cs typeface="DejaVu Sans Mono" pitchFamily="34" charset="-120"/>
              </a:rPr>
              <a:t>ghcr.io/&lt;owner&gt;/taskboard-backend:&lt;commit-sha&gt;</a:t>
            </a:r>
            <a:endParaRPr lang="en-US" sz="880" dirty="0"/>
          </a:p>
        </p:txBody>
      </p:sp>
      <p:sp>
        <p:nvSpPr>
          <p:cNvPr id="33" name="Text 31"/>
          <p:cNvSpPr txBox="1"/>
          <p:nvPr/>
        </p:nvSpPr>
        <p:spPr>
          <a:xfrm>
            <a:off x="877824" y="4416552"/>
            <a:ext cx="4709160" cy="210312"/>
          </a:xfrm>
          <a:prstGeom prst="rect">
            <a:avLst/>
          </a:prstGeom>
          <a:noFill/>
          <a:ln/>
        </p:spPr>
        <p:txBody>
          <a:bodyPr wrap="square" lIns="0" tIns="0" rIns="0" bIns="0" rtlCol="0" anchor="ctr">
            <a:normAutofit/>
          </a:bodyPr>
          <a:lstStyle/>
          <a:p>
            <a:pPr algn="l" indent="0" marL="0">
              <a:buNone/>
            </a:pPr>
            <a:r>
              <a:rPr lang="en-US" sz="880" dirty="0">
                <a:solidFill>
                  <a:srgbClr val="FFFFFF"/>
                </a:solidFill>
                <a:latin typeface="DejaVu Sans Mono" pitchFamily="34" charset="0"/>
                <a:ea typeface="DejaVu Sans Mono" pitchFamily="34" charset="-122"/>
                <a:cs typeface="DejaVu Sans Mono" pitchFamily="34" charset="-120"/>
              </a:rPr>
              <a:t>ghcr.io/&lt;owner&gt;/taskboard-frontend:&lt;commit-sha&gt;</a:t>
            </a:r>
            <a:endParaRPr lang="en-US" sz="880" dirty="0"/>
          </a:p>
        </p:txBody>
      </p:sp>
      <p:sp>
        <p:nvSpPr>
          <p:cNvPr id="34" name="Shape 32"/>
          <p:cNvSpPr/>
          <p:nvPr/>
        </p:nvSpPr>
        <p:spPr>
          <a:xfrm>
            <a:off x="6217920" y="3438144"/>
            <a:ext cx="5358384" cy="1673352"/>
          </a:xfrm>
          <a:prstGeom prst="roundRect">
            <a:avLst>
              <a:gd name="adj" fmla="val 5464"/>
            </a:avLst>
          </a:prstGeom>
          <a:solidFill>
            <a:srgbClr val="FFF0E7"/>
          </a:solidFill>
          <a:ln w="10160">
            <a:solidFill>
              <a:srgbClr val="FFF0E7">
                <a:alpha val="0"/>
              </a:srgbClr>
            </a:solidFill>
            <a:prstDash val="solid"/>
          </a:ln>
        </p:spPr>
      </p:sp>
      <p:sp>
        <p:nvSpPr>
          <p:cNvPr id="35" name="Text 33"/>
          <p:cNvSpPr txBox="1"/>
          <p:nvPr/>
        </p:nvSpPr>
        <p:spPr>
          <a:xfrm>
            <a:off x="6492240" y="3685032"/>
            <a:ext cx="210312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A74E19"/>
                </a:solidFill>
                <a:latin typeface="Inter" pitchFamily="34" charset="0"/>
                <a:ea typeface="Inter" pitchFamily="34" charset="-122"/>
                <a:cs typeface="Inter" pitchFamily="34" charset="-120"/>
              </a:rPr>
              <a:t>SECURITY GATE</a:t>
            </a:r>
            <a:endParaRPr lang="en-US" sz="820" dirty="0"/>
          </a:p>
        </p:txBody>
      </p:sp>
      <p:sp>
        <p:nvSpPr>
          <p:cNvPr id="36" name="Text 34"/>
          <p:cNvSpPr txBox="1"/>
          <p:nvPr/>
        </p:nvSpPr>
        <p:spPr>
          <a:xfrm>
            <a:off x="6492240" y="4005072"/>
            <a:ext cx="4681728" cy="832104"/>
          </a:xfrm>
          <a:prstGeom prst="rect">
            <a:avLst/>
          </a:prstGeom>
          <a:noFill/>
          <a:ln/>
        </p:spPr>
        <p:txBody>
          <a:bodyPr wrap="square" lIns="0" tIns="0" rIns="0" bIns="0" rtlCol="0" anchor="t">
            <a:normAutofit/>
          </a:bodyPr>
          <a:lstStyle/>
          <a:p>
            <a:pPr algn="l" indent="0" marL="0">
              <a:buNone/>
            </a:pPr>
            <a:r>
              <a:rPr lang="en-US" sz="1050" dirty="0">
                <a:solidFill>
                  <a:srgbClr val="172337"/>
                </a:solidFill>
                <a:latin typeface="Inter" pitchFamily="34" charset="0"/>
                <a:ea typeface="Inter" pitchFamily="34" charset="-122"/>
                <a:cs typeface="Inter" pitchFamily="34" charset="-120"/>
              </a:rPr>
              <a:t>Scan both locally built images. The documented command filters HIGH/CRITICAL severity, ignores unfixed items, and exits non-zero for qualifying findings.</a:t>
            </a:r>
            <a:endParaRPr lang="en-US" sz="1050" dirty="0"/>
          </a:p>
        </p:txBody>
      </p:sp>
      <p:sp>
        <p:nvSpPr>
          <p:cNvPr id="37" name="Text 35"/>
          <p:cNvSpPr txBox="1"/>
          <p:nvPr/>
        </p:nvSpPr>
        <p:spPr>
          <a:xfrm>
            <a:off x="658368" y="5513832"/>
            <a:ext cx="10607040" cy="292608"/>
          </a:xfrm>
          <a:prstGeom prst="rect">
            <a:avLst/>
          </a:prstGeom>
          <a:noFill/>
          <a:ln/>
        </p:spPr>
        <p:txBody>
          <a:bodyPr wrap="square" lIns="0" tIns="0" rIns="0" bIns="0" rtlCol="0" anchor="ctr">
            <a:normAutofit/>
          </a:bodyPr>
          <a:lstStyle/>
          <a:p>
            <a:pPr algn="l" indent="0" marL="0">
              <a:buNone/>
            </a:pPr>
            <a:r>
              <a:rPr lang="en-US" sz="1130" b="1" dirty="0">
                <a:solidFill>
                  <a:srgbClr val="172337"/>
                </a:solidFill>
                <a:latin typeface="Inter" pitchFamily="34" charset="0"/>
                <a:ea typeface="Inter" pitchFamily="34" charset="-122"/>
                <a:cs typeface="Inter" pitchFamily="34" charset="-120"/>
              </a:rPr>
              <a:t>Important: the repository documents CI publication, not an automatic Kubernetes deployment.</a:t>
            </a:r>
            <a:endParaRPr lang="en-US" sz="1130" dirty="0"/>
          </a:p>
        </p:txBody>
      </p:sp>
      <p:sp>
        <p:nvSpPr>
          <p:cNvPr id="38" name="Text 36">
            <a:hlinkClick r:id="rId1" tooltip=""/>
          </p:cNvPr>
          <p:cNvSpPr txBox="1"/>
          <p:nvPr/>
        </p:nvSpPr>
        <p:spPr>
          <a:xfrm>
            <a:off x="658368" y="5925312"/>
            <a:ext cx="150876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Actions success</a:t>
            </a:r>
            <a:endParaRPr lang="en-US" sz="840" dirty="0"/>
          </a:p>
        </p:txBody>
      </p:sp>
      <p:sp>
        <p:nvSpPr>
          <p:cNvPr id="39" name="Text 37">
            <a:hlinkClick r:id="rId2" tooltip=""/>
          </p:cNvPr>
          <p:cNvSpPr txBox="1"/>
          <p:nvPr/>
        </p:nvSpPr>
        <p:spPr>
          <a:xfrm>
            <a:off x="2377440" y="5925312"/>
            <a:ext cx="12344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Push proof</a:t>
            </a:r>
            <a:endParaRPr lang="en-US" sz="840" dirty="0"/>
          </a:p>
        </p:txBody>
      </p:sp>
      <p:sp>
        <p:nvSpPr>
          <p:cNvPr id="40" name="Text 38">
            <a:hlinkClick r:id="rId3" tooltip=""/>
          </p:cNvPr>
          <p:cNvSpPr txBox="1"/>
          <p:nvPr/>
        </p:nvSpPr>
        <p:spPr>
          <a:xfrm>
            <a:off x="3886200" y="5925312"/>
            <a:ext cx="13258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 GHCR images</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06  /  CLOUD FOUNDATION</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Infrastructure as code: Terraform → AWS EKS</a:t>
            </a:r>
            <a:endParaRPr lang="en-US" sz="2400" dirty="0"/>
          </a:p>
        </p:txBody>
      </p:sp>
      <p:sp>
        <p:nvSpPr>
          <p:cNvPr id="5" name="Shape 3"/>
          <p:cNvSpPr/>
          <p:nvPr/>
        </p:nvSpPr>
        <p:spPr>
          <a:xfrm>
            <a:off x="621792" y="1389888"/>
            <a:ext cx="2514600" cy="1024128"/>
          </a:xfrm>
          <a:prstGeom prst="roundRect">
            <a:avLst>
              <a:gd name="adj" fmla="val 8929"/>
            </a:avLst>
          </a:prstGeom>
          <a:solidFill>
            <a:srgbClr val="FFFFFF"/>
          </a:solidFill>
          <a:ln w="10160">
            <a:solidFill>
              <a:srgbClr val="D9E0EA"/>
            </a:solidFill>
            <a:prstDash val="solid"/>
          </a:ln>
        </p:spPr>
      </p:sp>
      <p:sp>
        <p:nvSpPr>
          <p:cNvPr id="6" name="Text 4"/>
          <p:cNvSpPr txBox="1"/>
          <p:nvPr/>
        </p:nvSpPr>
        <p:spPr>
          <a:xfrm>
            <a:off x="768096" y="1591056"/>
            <a:ext cx="2203704" cy="283464"/>
          </a:xfrm>
          <a:prstGeom prst="rect">
            <a:avLst/>
          </a:prstGeom>
          <a:noFill/>
          <a:ln/>
        </p:spPr>
        <p:txBody>
          <a:bodyPr wrap="square" lIns="0" tIns="0" rIns="0" bIns="0" rtlCol="0" anchor="ctr">
            <a:normAutofit/>
          </a:bodyPr>
          <a:lstStyle/>
          <a:p>
            <a:pPr algn="ctr" indent="0" marL="0">
              <a:buNone/>
            </a:pPr>
            <a:r>
              <a:rPr lang="en-US" sz="2000" b="1" dirty="0">
                <a:solidFill>
                  <a:srgbClr val="3478F6"/>
                </a:solidFill>
                <a:latin typeface="Inter" pitchFamily="34" charset="0"/>
                <a:ea typeface="Inter" pitchFamily="34" charset="-122"/>
                <a:cs typeface="Inter" pitchFamily="34" charset="-120"/>
              </a:rPr>
              <a:t>10.20.0.0/16</a:t>
            </a:r>
            <a:endParaRPr lang="en-US" sz="2000" dirty="0"/>
          </a:p>
        </p:txBody>
      </p:sp>
      <p:sp>
        <p:nvSpPr>
          <p:cNvPr id="7" name="Text 5"/>
          <p:cNvSpPr txBox="1"/>
          <p:nvPr/>
        </p:nvSpPr>
        <p:spPr>
          <a:xfrm>
            <a:off x="758952" y="1984248"/>
            <a:ext cx="2221992" cy="201168"/>
          </a:xfrm>
          <a:prstGeom prst="rect">
            <a:avLst/>
          </a:prstGeom>
          <a:noFill/>
          <a:ln/>
        </p:spPr>
        <p:txBody>
          <a:bodyPr wrap="square" lIns="0" tIns="0" rIns="0" bIns="0" rtlCol="0" anchor="ctr">
            <a:normAutofit/>
          </a:bodyPr>
          <a:lstStyle/>
          <a:p>
            <a:pPr algn="ctr" indent="0" marL="0">
              <a:buNone/>
            </a:pPr>
            <a:r>
              <a:rPr lang="en-US" sz="900" dirty="0">
                <a:solidFill>
                  <a:srgbClr val="5E6B7C"/>
                </a:solidFill>
                <a:latin typeface="Inter" pitchFamily="34" charset="0"/>
                <a:ea typeface="Inter" pitchFamily="34" charset="-122"/>
                <a:cs typeface="Inter" pitchFamily="34" charset="-120"/>
              </a:rPr>
              <a:t>VPC CIDR</a:t>
            </a:r>
            <a:endParaRPr lang="en-US" sz="900" dirty="0"/>
          </a:p>
        </p:txBody>
      </p:sp>
      <p:sp>
        <p:nvSpPr>
          <p:cNvPr id="8" name="Shape 6"/>
          <p:cNvSpPr/>
          <p:nvPr/>
        </p:nvSpPr>
        <p:spPr>
          <a:xfrm>
            <a:off x="3410712" y="1389888"/>
            <a:ext cx="2514600" cy="1024128"/>
          </a:xfrm>
          <a:prstGeom prst="roundRect">
            <a:avLst>
              <a:gd name="adj" fmla="val 8929"/>
            </a:avLst>
          </a:prstGeom>
          <a:solidFill>
            <a:srgbClr val="FFFFFF"/>
          </a:solidFill>
          <a:ln w="10160">
            <a:solidFill>
              <a:srgbClr val="D9E0EA"/>
            </a:solidFill>
            <a:prstDash val="solid"/>
          </a:ln>
        </p:spPr>
      </p:sp>
      <p:sp>
        <p:nvSpPr>
          <p:cNvPr id="9" name="Text 7"/>
          <p:cNvSpPr txBox="1"/>
          <p:nvPr/>
        </p:nvSpPr>
        <p:spPr>
          <a:xfrm>
            <a:off x="3557016" y="1591056"/>
            <a:ext cx="2203704" cy="283464"/>
          </a:xfrm>
          <a:prstGeom prst="rect">
            <a:avLst/>
          </a:prstGeom>
          <a:noFill/>
          <a:ln/>
        </p:spPr>
        <p:txBody>
          <a:bodyPr wrap="square" lIns="0" tIns="0" rIns="0" bIns="0" rtlCol="0" anchor="ctr">
            <a:normAutofit/>
          </a:bodyPr>
          <a:lstStyle/>
          <a:p>
            <a:pPr algn="ctr" indent="0" marL="0">
              <a:buNone/>
            </a:pPr>
            <a:r>
              <a:rPr lang="en-US" sz="2000" b="1" dirty="0">
                <a:solidFill>
                  <a:srgbClr val="0FBAA6"/>
                </a:solidFill>
                <a:latin typeface="Inter" pitchFamily="34" charset="0"/>
                <a:ea typeface="Inter" pitchFamily="34" charset="-122"/>
                <a:cs typeface="Inter" pitchFamily="34" charset="-120"/>
              </a:rPr>
              <a:t>2 + 2</a:t>
            </a:r>
            <a:endParaRPr lang="en-US" sz="2000" dirty="0"/>
          </a:p>
        </p:txBody>
      </p:sp>
      <p:sp>
        <p:nvSpPr>
          <p:cNvPr id="10" name="Text 8"/>
          <p:cNvSpPr txBox="1"/>
          <p:nvPr/>
        </p:nvSpPr>
        <p:spPr>
          <a:xfrm>
            <a:off x="3547872" y="1984248"/>
            <a:ext cx="2221992" cy="201168"/>
          </a:xfrm>
          <a:prstGeom prst="rect">
            <a:avLst/>
          </a:prstGeom>
          <a:noFill/>
          <a:ln/>
        </p:spPr>
        <p:txBody>
          <a:bodyPr wrap="square" lIns="0" tIns="0" rIns="0" bIns="0" rtlCol="0" anchor="ctr">
            <a:normAutofit/>
          </a:bodyPr>
          <a:lstStyle/>
          <a:p>
            <a:pPr algn="ctr" indent="0" marL="0">
              <a:buNone/>
            </a:pPr>
            <a:r>
              <a:rPr lang="en-US" sz="900" dirty="0">
                <a:solidFill>
                  <a:srgbClr val="5E6B7C"/>
                </a:solidFill>
                <a:latin typeface="Inter" pitchFamily="34" charset="0"/>
                <a:ea typeface="Inter" pitchFamily="34" charset="-122"/>
                <a:cs typeface="Inter" pitchFamily="34" charset="-120"/>
              </a:rPr>
              <a:t>Public + private subnets</a:t>
            </a:r>
            <a:endParaRPr lang="en-US" sz="900" dirty="0"/>
          </a:p>
        </p:txBody>
      </p:sp>
      <p:sp>
        <p:nvSpPr>
          <p:cNvPr id="11" name="Shape 9"/>
          <p:cNvSpPr/>
          <p:nvPr/>
        </p:nvSpPr>
        <p:spPr>
          <a:xfrm>
            <a:off x="6199632" y="1389888"/>
            <a:ext cx="2514600" cy="1024128"/>
          </a:xfrm>
          <a:prstGeom prst="roundRect">
            <a:avLst>
              <a:gd name="adj" fmla="val 8929"/>
            </a:avLst>
          </a:prstGeom>
          <a:solidFill>
            <a:srgbClr val="FFFFFF"/>
          </a:solidFill>
          <a:ln w="10160">
            <a:solidFill>
              <a:srgbClr val="D9E0EA"/>
            </a:solidFill>
            <a:prstDash val="solid"/>
          </a:ln>
        </p:spPr>
      </p:sp>
      <p:sp>
        <p:nvSpPr>
          <p:cNvPr id="12" name="Text 10"/>
          <p:cNvSpPr txBox="1"/>
          <p:nvPr/>
        </p:nvSpPr>
        <p:spPr>
          <a:xfrm>
            <a:off x="6345936" y="1591056"/>
            <a:ext cx="2203704" cy="283464"/>
          </a:xfrm>
          <a:prstGeom prst="rect">
            <a:avLst/>
          </a:prstGeom>
          <a:noFill/>
          <a:ln/>
        </p:spPr>
        <p:txBody>
          <a:bodyPr wrap="square" lIns="0" tIns="0" rIns="0" bIns="0" rtlCol="0" anchor="ctr">
            <a:normAutofit/>
          </a:bodyPr>
          <a:lstStyle/>
          <a:p>
            <a:pPr algn="ctr" indent="0" marL="0">
              <a:buNone/>
            </a:pPr>
            <a:r>
              <a:rPr lang="en-US" sz="2000" b="1" dirty="0">
                <a:solidFill>
                  <a:srgbClr val="F28C52"/>
                </a:solidFill>
                <a:latin typeface="Inter" pitchFamily="34" charset="0"/>
                <a:ea typeface="Inter" pitchFamily="34" charset="-122"/>
                <a:cs typeface="Inter" pitchFamily="34" charset="-120"/>
              </a:rPr>
              <a:t>1</a:t>
            </a:r>
            <a:endParaRPr lang="en-US" sz="2000" dirty="0"/>
          </a:p>
        </p:txBody>
      </p:sp>
      <p:sp>
        <p:nvSpPr>
          <p:cNvPr id="13" name="Text 11"/>
          <p:cNvSpPr txBox="1"/>
          <p:nvPr/>
        </p:nvSpPr>
        <p:spPr>
          <a:xfrm>
            <a:off x="6336792" y="1984248"/>
            <a:ext cx="2221992" cy="201168"/>
          </a:xfrm>
          <a:prstGeom prst="rect">
            <a:avLst/>
          </a:prstGeom>
          <a:noFill/>
          <a:ln/>
        </p:spPr>
        <p:txBody>
          <a:bodyPr wrap="square" lIns="0" tIns="0" rIns="0" bIns="0" rtlCol="0" anchor="ctr">
            <a:normAutofit/>
          </a:bodyPr>
          <a:lstStyle/>
          <a:p>
            <a:pPr algn="ctr" indent="0" marL="0">
              <a:buNone/>
            </a:pPr>
            <a:r>
              <a:rPr lang="en-US" sz="900" dirty="0">
                <a:solidFill>
                  <a:srgbClr val="5E6B7C"/>
                </a:solidFill>
                <a:latin typeface="Inter" pitchFamily="34" charset="0"/>
                <a:ea typeface="Inter" pitchFamily="34" charset="-122"/>
                <a:cs typeface="Inter" pitchFamily="34" charset="-120"/>
              </a:rPr>
              <a:t>NAT gateway</a:t>
            </a:r>
            <a:endParaRPr lang="en-US" sz="900" dirty="0"/>
          </a:p>
        </p:txBody>
      </p:sp>
      <p:sp>
        <p:nvSpPr>
          <p:cNvPr id="14" name="Shape 12"/>
          <p:cNvSpPr/>
          <p:nvPr/>
        </p:nvSpPr>
        <p:spPr>
          <a:xfrm>
            <a:off x="8988552" y="1389888"/>
            <a:ext cx="2514600" cy="1024128"/>
          </a:xfrm>
          <a:prstGeom prst="roundRect">
            <a:avLst>
              <a:gd name="adj" fmla="val 8929"/>
            </a:avLst>
          </a:prstGeom>
          <a:solidFill>
            <a:srgbClr val="FFFFFF"/>
          </a:solidFill>
          <a:ln w="10160">
            <a:solidFill>
              <a:srgbClr val="D9E0EA"/>
            </a:solidFill>
            <a:prstDash val="solid"/>
          </a:ln>
        </p:spPr>
      </p:sp>
      <p:sp>
        <p:nvSpPr>
          <p:cNvPr id="15" name="Text 13"/>
          <p:cNvSpPr txBox="1"/>
          <p:nvPr/>
        </p:nvSpPr>
        <p:spPr>
          <a:xfrm>
            <a:off x="9134856" y="1591056"/>
            <a:ext cx="2203704" cy="283464"/>
          </a:xfrm>
          <a:prstGeom prst="rect">
            <a:avLst/>
          </a:prstGeom>
          <a:noFill/>
          <a:ln/>
        </p:spPr>
        <p:txBody>
          <a:bodyPr wrap="square" lIns="0" tIns="0" rIns="0" bIns="0" rtlCol="0" anchor="ctr">
            <a:normAutofit/>
          </a:bodyPr>
          <a:lstStyle/>
          <a:p>
            <a:pPr algn="ctr" indent="0" marL="0">
              <a:buNone/>
            </a:pPr>
            <a:r>
              <a:rPr lang="en-US" sz="2000" b="1" dirty="0">
                <a:solidFill>
                  <a:srgbClr val="8467E8"/>
                </a:solidFill>
                <a:latin typeface="Inter" pitchFamily="34" charset="0"/>
                <a:ea typeface="Inter" pitchFamily="34" charset="-122"/>
                <a:cs typeface="Inter" pitchFamily="34" charset="-120"/>
              </a:rPr>
              <a:t>1.31</a:t>
            </a:r>
            <a:endParaRPr lang="en-US" sz="2000" dirty="0"/>
          </a:p>
        </p:txBody>
      </p:sp>
      <p:sp>
        <p:nvSpPr>
          <p:cNvPr id="16" name="Text 14"/>
          <p:cNvSpPr txBox="1"/>
          <p:nvPr/>
        </p:nvSpPr>
        <p:spPr>
          <a:xfrm>
            <a:off x="9125712" y="1984248"/>
            <a:ext cx="2221992" cy="201168"/>
          </a:xfrm>
          <a:prstGeom prst="rect">
            <a:avLst/>
          </a:prstGeom>
          <a:noFill/>
          <a:ln/>
        </p:spPr>
        <p:txBody>
          <a:bodyPr wrap="square" lIns="0" tIns="0" rIns="0" bIns="0" rtlCol="0" anchor="ctr">
            <a:normAutofit/>
          </a:bodyPr>
          <a:lstStyle/>
          <a:p>
            <a:pPr algn="ctr" indent="0" marL="0">
              <a:buNone/>
            </a:pPr>
            <a:r>
              <a:rPr lang="en-US" sz="900" dirty="0">
                <a:solidFill>
                  <a:srgbClr val="5E6B7C"/>
                </a:solidFill>
                <a:latin typeface="Inter" pitchFamily="34" charset="0"/>
                <a:ea typeface="Inter" pitchFamily="34" charset="-122"/>
                <a:cs typeface="Inter" pitchFamily="34" charset="-120"/>
              </a:rPr>
              <a:t>EKS Kubernetes version</a:t>
            </a:r>
            <a:endParaRPr lang="en-US" sz="900" dirty="0"/>
          </a:p>
        </p:txBody>
      </p:sp>
      <p:sp>
        <p:nvSpPr>
          <p:cNvPr id="17" name="Shape 15"/>
          <p:cNvSpPr/>
          <p:nvPr/>
        </p:nvSpPr>
        <p:spPr>
          <a:xfrm>
            <a:off x="621792" y="2770632"/>
            <a:ext cx="5532120" cy="2295144"/>
          </a:xfrm>
          <a:prstGeom prst="roundRect">
            <a:avLst>
              <a:gd name="adj" fmla="val 3984"/>
            </a:avLst>
          </a:prstGeom>
          <a:solidFill>
            <a:srgbClr val="FFFFFF"/>
          </a:solidFill>
          <a:ln w="10160">
            <a:solidFill>
              <a:srgbClr val="D9E0EA"/>
            </a:solidFill>
            <a:prstDash val="solid"/>
          </a:ln>
        </p:spPr>
      </p:sp>
      <p:sp>
        <p:nvSpPr>
          <p:cNvPr id="18" name="Text 16"/>
          <p:cNvSpPr txBox="1"/>
          <p:nvPr/>
        </p:nvSpPr>
        <p:spPr>
          <a:xfrm>
            <a:off x="896112" y="3017520"/>
            <a:ext cx="3108960" cy="274320"/>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Provisioning lifecycle</a:t>
            </a:r>
            <a:endParaRPr lang="en-US" sz="1400" dirty="0"/>
          </a:p>
        </p:txBody>
      </p:sp>
      <p:sp>
        <p:nvSpPr>
          <p:cNvPr id="19" name="Shape 17"/>
          <p:cNvSpPr/>
          <p:nvPr/>
        </p:nvSpPr>
        <p:spPr>
          <a:xfrm>
            <a:off x="923544" y="3506724"/>
            <a:ext cx="64008" cy="64008"/>
          </a:xfrm>
          <a:prstGeom prst="ellipse">
            <a:avLst/>
          </a:prstGeom>
          <a:solidFill>
            <a:srgbClr val="3478F6"/>
          </a:solidFill>
          <a:ln w="12700">
            <a:solidFill>
              <a:srgbClr val="3478F6">
                <a:alpha val="0"/>
              </a:srgbClr>
            </a:solidFill>
            <a:prstDash val="solid"/>
          </a:ln>
        </p:spPr>
      </p:sp>
      <p:sp>
        <p:nvSpPr>
          <p:cNvPr id="20" name="Text 18"/>
          <p:cNvSpPr txBox="1"/>
          <p:nvPr/>
        </p:nvSpPr>
        <p:spPr>
          <a:xfrm>
            <a:off x="1097280" y="3456432"/>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terraform init</a:t>
            </a:r>
            <a:endParaRPr lang="en-US" sz="890" dirty="0"/>
          </a:p>
        </p:txBody>
      </p:sp>
      <p:sp>
        <p:nvSpPr>
          <p:cNvPr id="21" name="Shape 19"/>
          <p:cNvSpPr/>
          <p:nvPr/>
        </p:nvSpPr>
        <p:spPr>
          <a:xfrm>
            <a:off x="923544" y="3717036"/>
            <a:ext cx="64008" cy="64008"/>
          </a:xfrm>
          <a:prstGeom prst="ellipse">
            <a:avLst/>
          </a:prstGeom>
          <a:solidFill>
            <a:srgbClr val="3478F6"/>
          </a:solidFill>
          <a:ln w="12700">
            <a:solidFill>
              <a:srgbClr val="3478F6">
                <a:alpha val="0"/>
              </a:srgbClr>
            </a:solidFill>
            <a:prstDash val="solid"/>
          </a:ln>
        </p:spPr>
      </p:sp>
      <p:sp>
        <p:nvSpPr>
          <p:cNvPr id="22" name="Text 20"/>
          <p:cNvSpPr txBox="1"/>
          <p:nvPr/>
        </p:nvSpPr>
        <p:spPr>
          <a:xfrm>
            <a:off x="1097280" y="3666744"/>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terraform fmt -check -recursive</a:t>
            </a:r>
            <a:endParaRPr lang="en-US" sz="890" dirty="0"/>
          </a:p>
        </p:txBody>
      </p:sp>
      <p:sp>
        <p:nvSpPr>
          <p:cNvPr id="23" name="Shape 21"/>
          <p:cNvSpPr/>
          <p:nvPr/>
        </p:nvSpPr>
        <p:spPr>
          <a:xfrm>
            <a:off x="923544" y="3927348"/>
            <a:ext cx="64008" cy="64008"/>
          </a:xfrm>
          <a:prstGeom prst="ellipse">
            <a:avLst/>
          </a:prstGeom>
          <a:solidFill>
            <a:srgbClr val="3478F6"/>
          </a:solidFill>
          <a:ln w="12700">
            <a:solidFill>
              <a:srgbClr val="3478F6">
                <a:alpha val="0"/>
              </a:srgbClr>
            </a:solidFill>
            <a:prstDash val="solid"/>
          </a:ln>
        </p:spPr>
      </p:sp>
      <p:sp>
        <p:nvSpPr>
          <p:cNvPr id="24" name="Text 22"/>
          <p:cNvSpPr txBox="1"/>
          <p:nvPr/>
        </p:nvSpPr>
        <p:spPr>
          <a:xfrm>
            <a:off x="1097280" y="3877056"/>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terraform validate</a:t>
            </a:r>
            <a:endParaRPr lang="en-US" sz="890" dirty="0"/>
          </a:p>
        </p:txBody>
      </p:sp>
      <p:sp>
        <p:nvSpPr>
          <p:cNvPr id="25" name="Shape 23"/>
          <p:cNvSpPr/>
          <p:nvPr/>
        </p:nvSpPr>
        <p:spPr>
          <a:xfrm>
            <a:off x="923544" y="4137660"/>
            <a:ext cx="64008" cy="64008"/>
          </a:xfrm>
          <a:prstGeom prst="ellipse">
            <a:avLst/>
          </a:prstGeom>
          <a:solidFill>
            <a:srgbClr val="3478F6"/>
          </a:solidFill>
          <a:ln w="12700">
            <a:solidFill>
              <a:srgbClr val="3478F6">
                <a:alpha val="0"/>
              </a:srgbClr>
            </a:solidFill>
            <a:prstDash val="solid"/>
          </a:ln>
        </p:spPr>
      </p:sp>
      <p:sp>
        <p:nvSpPr>
          <p:cNvPr id="26" name="Text 24"/>
          <p:cNvSpPr txBox="1"/>
          <p:nvPr/>
        </p:nvSpPr>
        <p:spPr>
          <a:xfrm>
            <a:off x="1097280" y="4087368"/>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terraform plan</a:t>
            </a:r>
            <a:endParaRPr lang="en-US" sz="890" dirty="0"/>
          </a:p>
        </p:txBody>
      </p:sp>
      <p:sp>
        <p:nvSpPr>
          <p:cNvPr id="27" name="Shape 25"/>
          <p:cNvSpPr/>
          <p:nvPr/>
        </p:nvSpPr>
        <p:spPr>
          <a:xfrm>
            <a:off x="923544" y="4347972"/>
            <a:ext cx="64008" cy="64008"/>
          </a:xfrm>
          <a:prstGeom prst="ellipse">
            <a:avLst/>
          </a:prstGeom>
          <a:solidFill>
            <a:srgbClr val="F28C52"/>
          </a:solidFill>
          <a:ln w="12700">
            <a:solidFill>
              <a:srgbClr val="F28C52">
                <a:alpha val="0"/>
              </a:srgbClr>
            </a:solidFill>
            <a:prstDash val="solid"/>
          </a:ln>
        </p:spPr>
      </p:sp>
      <p:sp>
        <p:nvSpPr>
          <p:cNvPr id="28" name="Text 26"/>
          <p:cNvSpPr txBox="1"/>
          <p:nvPr/>
        </p:nvSpPr>
        <p:spPr>
          <a:xfrm>
            <a:off x="1097280" y="4297680"/>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terraform apply</a:t>
            </a:r>
            <a:endParaRPr lang="en-US" sz="890" dirty="0"/>
          </a:p>
        </p:txBody>
      </p:sp>
      <p:sp>
        <p:nvSpPr>
          <p:cNvPr id="29" name="Shape 27"/>
          <p:cNvSpPr/>
          <p:nvPr/>
        </p:nvSpPr>
        <p:spPr>
          <a:xfrm>
            <a:off x="923544" y="4558284"/>
            <a:ext cx="64008" cy="64008"/>
          </a:xfrm>
          <a:prstGeom prst="ellipse">
            <a:avLst/>
          </a:prstGeom>
          <a:solidFill>
            <a:srgbClr val="0FBAA6"/>
          </a:solidFill>
          <a:ln w="12700">
            <a:solidFill>
              <a:srgbClr val="0FBAA6">
                <a:alpha val="0"/>
              </a:srgbClr>
            </a:solidFill>
            <a:prstDash val="solid"/>
          </a:ln>
        </p:spPr>
      </p:sp>
      <p:sp>
        <p:nvSpPr>
          <p:cNvPr id="30" name="Text 28"/>
          <p:cNvSpPr txBox="1"/>
          <p:nvPr/>
        </p:nvSpPr>
        <p:spPr>
          <a:xfrm>
            <a:off x="1097280" y="4507992"/>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aws eks update-kubeconfig ...</a:t>
            </a:r>
            <a:endParaRPr lang="en-US" sz="890" dirty="0"/>
          </a:p>
        </p:txBody>
      </p:sp>
      <p:sp>
        <p:nvSpPr>
          <p:cNvPr id="31" name="Shape 29"/>
          <p:cNvSpPr/>
          <p:nvPr/>
        </p:nvSpPr>
        <p:spPr>
          <a:xfrm>
            <a:off x="923544" y="4768596"/>
            <a:ext cx="64008" cy="64008"/>
          </a:xfrm>
          <a:prstGeom prst="ellipse">
            <a:avLst/>
          </a:prstGeom>
          <a:solidFill>
            <a:srgbClr val="0FBAA6"/>
          </a:solidFill>
          <a:ln w="12700">
            <a:solidFill>
              <a:srgbClr val="0FBAA6">
                <a:alpha val="0"/>
              </a:srgbClr>
            </a:solidFill>
            <a:prstDash val="solid"/>
          </a:ln>
        </p:spPr>
      </p:sp>
      <p:sp>
        <p:nvSpPr>
          <p:cNvPr id="32" name="Text 30"/>
          <p:cNvSpPr txBox="1"/>
          <p:nvPr/>
        </p:nvSpPr>
        <p:spPr>
          <a:xfrm>
            <a:off x="1097280" y="4718304"/>
            <a:ext cx="4480560" cy="182880"/>
          </a:xfrm>
          <a:prstGeom prst="rect">
            <a:avLst/>
          </a:prstGeom>
          <a:noFill/>
          <a:ln/>
        </p:spPr>
        <p:txBody>
          <a:bodyPr wrap="square" lIns="0" tIns="0" rIns="0" bIns="0" rtlCol="0" anchor="ctr">
            <a:normAutofit/>
          </a:bodyPr>
          <a:lstStyle/>
          <a:p>
            <a:pPr algn="l" indent="0" marL="0">
              <a:buNone/>
            </a:pPr>
            <a:r>
              <a:rPr lang="en-US" sz="890" dirty="0">
                <a:solidFill>
                  <a:srgbClr val="5E6B7C"/>
                </a:solidFill>
                <a:latin typeface="DejaVu Sans Mono" pitchFamily="34" charset="0"/>
                <a:ea typeface="DejaVu Sans Mono" pitchFamily="34" charset="-122"/>
                <a:cs typeface="DejaVu Sans Mono" pitchFamily="34" charset="-120"/>
              </a:rPr>
              <a:t>kubectl get nodes</a:t>
            </a:r>
            <a:endParaRPr lang="en-US" sz="890" dirty="0"/>
          </a:p>
        </p:txBody>
      </p:sp>
      <p:sp>
        <p:nvSpPr>
          <p:cNvPr id="33" name="Shape 31"/>
          <p:cNvSpPr/>
          <p:nvPr/>
        </p:nvSpPr>
        <p:spPr>
          <a:xfrm>
            <a:off x="6419088" y="2770632"/>
            <a:ext cx="5138928" cy="2295144"/>
          </a:xfrm>
          <a:prstGeom prst="roundRect">
            <a:avLst>
              <a:gd name="adj" fmla="val 3984"/>
            </a:avLst>
          </a:prstGeom>
          <a:solidFill>
            <a:srgbClr val="F0ECFF"/>
          </a:solidFill>
          <a:ln w="10160">
            <a:solidFill>
              <a:srgbClr val="F0ECFF">
                <a:alpha val="0"/>
              </a:srgbClr>
            </a:solidFill>
            <a:prstDash val="solid"/>
          </a:ln>
        </p:spPr>
      </p:sp>
      <p:sp>
        <p:nvSpPr>
          <p:cNvPr id="34" name="Text 32"/>
          <p:cNvSpPr txBox="1"/>
          <p:nvPr/>
        </p:nvSpPr>
        <p:spPr>
          <a:xfrm>
            <a:off x="6711696" y="3017520"/>
            <a:ext cx="3474720" cy="274320"/>
          </a:xfrm>
          <a:prstGeom prst="rect">
            <a:avLst/>
          </a:prstGeom>
          <a:noFill/>
          <a:ln/>
        </p:spPr>
        <p:txBody>
          <a:bodyPr wrap="square" lIns="0" tIns="0" rIns="0" bIns="0" rtlCol="0" anchor="ctr">
            <a:normAutofit/>
          </a:bodyPr>
          <a:lstStyle/>
          <a:p>
            <a:pPr algn="l" indent="0" marL="0">
              <a:buNone/>
            </a:pPr>
            <a:r>
              <a:rPr lang="en-US" sz="1400" b="1" dirty="0">
                <a:solidFill>
                  <a:srgbClr val="5740B8"/>
                </a:solidFill>
                <a:latin typeface="Inter" pitchFamily="34" charset="0"/>
                <a:ea typeface="Inter" pitchFamily="34" charset="-122"/>
                <a:cs typeface="Inter" pitchFamily="34" charset="-120"/>
              </a:rPr>
              <a:t>Current classroom profile</a:t>
            </a:r>
            <a:endParaRPr lang="en-US" sz="1400" dirty="0"/>
          </a:p>
        </p:txBody>
      </p:sp>
      <p:sp>
        <p:nvSpPr>
          <p:cNvPr id="35" name="Text 33"/>
          <p:cNvSpPr txBox="1"/>
          <p:nvPr/>
        </p:nvSpPr>
        <p:spPr>
          <a:xfrm>
            <a:off x="6711696" y="3493008"/>
            <a:ext cx="4251960" cy="1115568"/>
          </a:xfrm>
          <a:prstGeom prst="rect">
            <a:avLst/>
          </a:prstGeom>
          <a:noFill/>
          <a:ln/>
        </p:spPr>
        <p:txBody>
          <a:bodyPr wrap="square" lIns="0" tIns="0" rIns="0" bIns="0" rtlCol="0" anchor="t">
            <a:normAutofit/>
          </a:bodyPr>
          <a:lstStyle/>
          <a:p>
            <a:pPr algn="l" indent="0" marL="0">
              <a:buNone/>
            </a:pPr>
            <a:r>
              <a:rPr lang="en-US" sz="1050" dirty="0">
                <a:solidFill>
                  <a:srgbClr val="172337"/>
                </a:solidFill>
                <a:latin typeface="Inter" pitchFamily="34" charset="0"/>
                <a:ea typeface="Inter" pitchFamily="34" charset="-122"/>
                <a:cs typeface="Inter" pitchFamily="34" charset="-120"/>
              </a:rPr>
              <a:t>Cluster: taskboard-eks</a:t>
            </a:r>
            <a:endParaRPr lang="en-US" sz="1050" dirty="0"/>
          </a:p>
          <a:p>
            <a:pPr algn="l" indent="0" marL="0">
              <a:buNone/>
            </a:pPr>
            <a:r>
              <a:rPr lang="en-US" sz="1050" dirty="0">
                <a:solidFill>
                  <a:srgbClr val="172337"/>
                </a:solidFill>
                <a:latin typeface="Inter" pitchFamily="34" charset="0"/>
                <a:ea typeface="Inter" pitchFamily="34" charset="-122"/>
                <a:cs typeface="Inter" pitchFamily="34" charset="-120"/>
              </a:rPr>
              <a:t>Region: ap-south-1</a:t>
            </a:r>
            <a:endParaRPr lang="en-US" sz="1050" dirty="0"/>
          </a:p>
          <a:p>
            <a:pPr algn="l" indent="0" marL="0">
              <a:buNone/>
            </a:pPr>
            <a:r>
              <a:rPr lang="en-US" sz="1050" dirty="0">
                <a:solidFill>
                  <a:srgbClr val="172337"/>
                </a:solidFill>
                <a:latin typeface="Inter" pitchFamily="34" charset="0"/>
                <a:ea typeface="Inter" pitchFamily="34" charset="-122"/>
                <a:cs typeface="Inter" pitchFamily="34" charset="-120"/>
              </a:rPr>
              <a:t>AZs: ap-south-1a / ap-south-1b</a:t>
            </a:r>
            <a:endParaRPr lang="en-US" sz="1050" dirty="0"/>
          </a:p>
          <a:p>
            <a:pPr algn="l" indent="0" marL="0">
              <a:buNone/>
            </a:pPr>
            <a:r>
              <a:rPr lang="en-US" sz="1050" dirty="0">
                <a:solidFill>
                  <a:srgbClr val="172337"/>
                </a:solidFill>
                <a:latin typeface="Inter" pitchFamily="34" charset="0"/>
                <a:ea typeface="Inter" pitchFamily="34" charset="-122"/>
                <a:cs typeface="Inter" pitchFamily="34" charset="-120"/>
              </a:rPr>
              <a:t>Node group: t3.micro, one desired node</a:t>
            </a:r>
            <a:endParaRPr lang="en-US" sz="1050" dirty="0"/>
          </a:p>
          <a:p>
            <a:pPr algn="l" indent="0" marL="0">
              <a:buNone/>
            </a:pPr>
            <a:r>
              <a:rPr lang="en-US" sz="1050" dirty="0">
                <a:solidFill>
                  <a:srgbClr val="172337"/>
                </a:solidFill>
                <a:latin typeface="Inter" pitchFamily="34" charset="0"/>
                <a:ea typeface="Inter" pitchFamily="34" charset="-122"/>
                <a:cs typeface="Inter" pitchFamily="34" charset="-120"/>
              </a:rPr>
              <a:t>Network: two public + two private subnets</a:t>
            </a:r>
            <a:endParaRPr lang="en-US" sz="1050" dirty="0"/>
          </a:p>
        </p:txBody>
      </p:sp>
      <p:sp>
        <p:nvSpPr>
          <p:cNvPr id="36" name="Shape 34"/>
          <p:cNvSpPr/>
          <p:nvPr/>
        </p:nvSpPr>
        <p:spPr>
          <a:xfrm>
            <a:off x="630936" y="5376672"/>
            <a:ext cx="10927080" cy="530352"/>
          </a:xfrm>
          <a:prstGeom prst="roundRect">
            <a:avLst>
              <a:gd name="adj" fmla="val 17241"/>
            </a:avLst>
          </a:prstGeom>
          <a:solidFill>
            <a:srgbClr val="FFF0E7"/>
          </a:solidFill>
          <a:ln w="10160">
            <a:solidFill>
              <a:srgbClr val="FFF0E7">
                <a:alpha val="0"/>
              </a:srgbClr>
            </a:solidFill>
            <a:prstDash val="solid"/>
          </a:ln>
        </p:spPr>
      </p:sp>
      <p:sp>
        <p:nvSpPr>
          <p:cNvPr id="37" name="Text 35"/>
          <p:cNvSpPr txBox="1"/>
          <p:nvPr/>
        </p:nvSpPr>
        <p:spPr>
          <a:xfrm>
            <a:off x="868680" y="5522976"/>
            <a:ext cx="10378440" cy="210312"/>
          </a:xfrm>
          <a:prstGeom prst="rect">
            <a:avLst/>
          </a:prstGeom>
          <a:noFill/>
          <a:ln/>
        </p:spPr>
        <p:txBody>
          <a:bodyPr wrap="square" lIns="0" tIns="0" rIns="0" bIns="0" rtlCol="0" anchor="ctr">
            <a:normAutofit/>
          </a:bodyPr>
          <a:lstStyle/>
          <a:p>
            <a:pPr algn="l" indent="0" marL="0">
              <a:buNone/>
            </a:pPr>
            <a:r>
              <a:rPr lang="en-US" sz="1080" b="1" dirty="0">
                <a:solidFill>
                  <a:srgbClr val="A74E19"/>
                </a:solidFill>
                <a:latin typeface="Inter" pitchFamily="34" charset="0"/>
                <a:ea typeface="Inter" pitchFamily="34" charset="-122"/>
                <a:cs typeface="Inter" pitchFamily="34" charset="-120"/>
              </a:rPr>
              <a:t>Cost control: AWS control-plane and NAT resources may incur charges. Destroy demo infrastructure after the walkthrough.</a:t>
            </a:r>
            <a:endParaRPr lang="en-US" sz="1080" dirty="0"/>
          </a:p>
        </p:txBody>
      </p:sp>
      <p:sp>
        <p:nvSpPr>
          <p:cNvPr id="38" name="Text 36">
            <a:hlinkClick r:id="rId1" tooltip=""/>
          </p:cNvPr>
          <p:cNvSpPr txBox="1"/>
          <p:nvPr/>
        </p:nvSpPr>
        <p:spPr>
          <a:xfrm>
            <a:off x="676656" y="6071616"/>
            <a:ext cx="12344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Terraform plan</a:t>
            </a:r>
            <a:endParaRPr lang="en-US" sz="840" dirty="0"/>
          </a:p>
        </p:txBody>
      </p:sp>
      <p:sp>
        <p:nvSpPr>
          <p:cNvPr id="39" name="Text 37">
            <a:hlinkClick r:id="rId2" tooltip=""/>
          </p:cNvPr>
          <p:cNvSpPr txBox="1"/>
          <p:nvPr/>
        </p:nvSpPr>
        <p:spPr>
          <a:xfrm>
            <a:off x="2057400" y="6071616"/>
            <a:ext cx="12344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Apply proof</a:t>
            </a:r>
            <a:endParaRPr lang="en-US" sz="840" dirty="0"/>
          </a:p>
        </p:txBody>
      </p:sp>
      <p:sp>
        <p:nvSpPr>
          <p:cNvPr id="40" name="Text 38">
            <a:hlinkClick r:id="rId3" tooltip=""/>
          </p:cNvPr>
          <p:cNvSpPr txBox="1"/>
          <p:nvPr/>
        </p:nvSpPr>
        <p:spPr>
          <a:xfrm>
            <a:off x="3474720" y="6071616"/>
            <a:ext cx="150876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AWS resources</a:t>
            </a:r>
            <a:endParaRPr lang="en-US" sz="840" dirty="0"/>
          </a:p>
        </p:txBody>
      </p:sp>
      <p:sp>
        <p:nvSpPr>
          <p:cNvPr id="41" name="Text 39">
            <a:hlinkClick r:id="rId4" tooltip=""/>
          </p:cNvPr>
          <p:cNvSpPr txBox="1"/>
          <p:nvPr/>
        </p:nvSpPr>
        <p:spPr>
          <a:xfrm>
            <a:off x="5193792" y="6071616"/>
            <a:ext cx="13258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 Destroy proof</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2024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75564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07  /  ORCHESTRATION</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Kubernetes + Helm: package and operate the workload</a:t>
            </a:r>
            <a:endParaRPr lang="en-US" sz="2400" dirty="0"/>
          </a:p>
        </p:txBody>
      </p:sp>
      <p:sp>
        <p:nvSpPr>
          <p:cNvPr id="5" name="Text 3"/>
          <p:cNvSpPr txBox="1"/>
          <p:nvPr/>
        </p:nvSpPr>
        <p:spPr>
          <a:xfrm>
            <a:off x="612648" y="1243584"/>
            <a:ext cx="10789920" cy="256032"/>
          </a:xfrm>
          <a:prstGeom prst="rect">
            <a:avLst/>
          </a:prstGeom>
          <a:noFill/>
          <a:ln/>
        </p:spPr>
        <p:txBody>
          <a:bodyPr wrap="square" lIns="0" tIns="0" rIns="0" bIns="0" rtlCol="0" anchor="ctr">
            <a:normAutofit/>
          </a:bodyPr>
          <a:lstStyle/>
          <a:p>
            <a:pPr algn="l" indent="0" marL="0">
              <a:buNone/>
            </a:pPr>
            <a:r>
              <a:rPr lang="en-US" sz="1180" dirty="0">
                <a:solidFill>
                  <a:srgbClr val="5E6B7C"/>
                </a:solidFill>
                <a:latin typeface="Inter" pitchFamily="34" charset="0"/>
                <a:ea typeface="Inter" pitchFamily="34" charset="-122"/>
                <a:cs typeface="Inter" pitchFamily="34" charset="-120"/>
              </a:rPr>
              <a:t>Namespace: taskboard    ·    Helm release: taskboard    ·    Ingress hostname: taskboard.local (when configured)</a:t>
            </a:r>
            <a:endParaRPr lang="en-US" sz="1180" dirty="0"/>
          </a:p>
        </p:txBody>
      </p:sp>
      <p:sp>
        <p:nvSpPr>
          <p:cNvPr id="6" name="Shape 4"/>
          <p:cNvSpPr/>
          <p:nvPr/>
        </p:nvSpPr>
        <p:spPr>
          <a:xfrm>
            <a:off x="621792" y="1755648"/>
            <a:ext cx="6611112" cy="2350008"/>
          </a:xfrm>
          <a:prstGeom prst="roundRect">
            <a:avLst>
              <a:gd name="adj" fmla="val 3891"/>
            </a:avLst>
          </a:prstGeom>
          <a:solidFill>
            <a:srgbClr val="FFFFFF"/>
          </a:solidFill>
          <a:ln w="10160">
            <a:solidFill>
              <a:srgbClr val="D9E0EA"/>
            </a:solidFill>
            <a:prstDash val="solid"/>
          </a:ln>
        </p:spPr>
      </p:sp>
      <p:sp>
        <p:nvSpPr>
          <p:cNvPr id="7" name="Text 5"/>
          <p:cNvSpPr txBox="1"/>
          <p:nvPr/>
        </p:nvSpPr>
        <p:spPr>
          <a:xfrm>
            <a:off x="886968" y="1975104"/>
            <a:ext cx="2011680" cy="219456"/>
          </a:xfrm>
          <a:prstGeom prst="rect">
            <a:avLst/>
          </a:prstGeom>
          <a:noFill/>
          <a:ln/>
        </p:spPr>
        <p:txBody>
          <a:bodyPr wrap="square" lIns="0" tIns="0" rIns="0" bIns="0" rtlCol="0" anchor="ctr">
            <a:normAutofit/>
          </a:bodyPr>
          <a:lstStyle/>
          <a:p>
            <a:pPr algn="l" indent="0" marL="0">
              <a:buNone/>
            </a:pPr>
            <a:r>
              <a:rPr lang="en-US" sz="1300" b="1" dirty="0">
                <a:solidFill>
                  <a:srgbClr val="172337"/>
                </a:solidFill>
                <a:latin typeface="Inter" pitchFamily="34" charset="0"/>
                <a:ea typeface="Inter" pitchFamily="34" charset="-122"/>
                <a:cs typeface="Inter" pitchFamily="34" charset="-120"/>
              </a:rPr>
              <a:t>Traffic path</a:t>
            </a:r>
            <a:endParaRPr lang="en-US" sz="1300" dirty="0"/>
          </a:p>
        </p:txBody>
      </p:sp>
      <p:sp>
        <p:nvSpPr>
          <p:cNvPr id="8" name="Shape 6"/>
          <p:cNvSpPr/>
          <p:nvPr/>
        </p:nvSpPr>
        <p:spPr>
          <a:xfrm>
            <a:off x="896112" y="2478024"/>
            <a:ext cx="1316736" cy="804672"/>
          </a:xfrm>
          <a:prstGeom prst="roundRect">
            <a:avLst>
              <a:gd name="adj" fmla="val 11364"/>
            </a:avLst>
          </a:prstGeom>
          <a:solidFill>
            <a:srgbClr val="F6F8FC"/>
          </a:solidFill>
          <a:ln w="10160">
            <a:solidFill>
              <a:srgbClr val="F6F8FC">
                <a:alpha val="0"/>
              </a:srgbClr>
            </a:solidFill>
            <a:prstDash val="solid"/>
          </a:ln>
        </p:spPr>
      </p:sp>
      <p:sp>
        <p:nvSpPr>
          <p:cNvPr id="9" name="Shape 7"/>
          <p:cNvSpPr/>
          <p:nvPr/>
        </p:nvSpPr>
        <p:spPr>
          <a:xfrm>
            <a:off x="896112" y="2478024"/>
            <a:ext cx="50292" cy="804672"/>
          </a:xfrm>
          <a:prstGeom prst="rect">
            <a:avLst>
              <a:gd name="adj" fmla="val 181818"/>
            </a:avLst>
          </a:prstGeom>
          <a:solidFill>
            <a:srgbClr val="8467E8"/>
          </a:solidFill>
          <a:ln w="10160">
            <a:solidFill>
              <a:srgbClr val="8467E8">
                <a:alpha val="0"/>
              </a:srgbClr>
            </a:solidFill>
            <a:prstDash val="solid"/>
          </a:ln>
        </p:spPr>
      </p:sp>
      <p:sp>
        <p:nvSpPr>
          <p:cNvPr id="10" name="Text 8"/>
          <p:cNvSpPr txBox="1"/>
          <p:nvPr/>
        </p:nvSpPr>
        <p:spPr>
          <a:xfrm>
            <a:off x="1024128" y="2569464"/>
            <a:ext cx="1078992" cy="210312"/>
          </a:xfrm>
          <a:prstGeom prst="rect">
            <a:avLst/>
          </a:prstGeom>
          <a:noFill/>
          <a:ln/>
        </p:spPr>
        <p:txBody>
          <a:bodyPr wrap="square" lIns="0" tIns="0" rIns="0" bIns="0" rtlCol="0" anchor="ctr">
            <a:normAutofit/>
          </a:bodyPr>
          <a:lstStyle/>
          <a:p>
            <a:pPr algn="ctr" indent="0" marL="0">
              <a:buNone/>
            </a:pPr>
            <a:r>
              <a:rPr lang="en-US" sz="990" b="1" dirty="0">
                <a:solidFill>
                  <a:srgbClr val="172337"/>
                </a:solidFill>
                <a:latin typeface="Inter" pitchFamily="34" charset="0"/>
                <a:ea typeface="Inter" pitchFamily="34" charset="-122"/>
                <a:cs typeface="Inter" pitchFamily="34" charset="-120"/>
              </a:rPr>
              <a:t>Ingress</a:t>
            </a:r>
            <a:endParaRPr lang="en-US" sz="990" dirty="0"/>
          </a:p>
        </p:txBody>
      </p:sp>
      <p:sp>
        <p:nvSpPr>
          <p:cNvPr id="11" name="Text 9"/>
          <p:cNvSpPr txBox="1"/>
          <p:nvPr/>
        </p:nvSpPr>
        <p:spPr>
          <a:xfrm>
            <a:off x="1005840" y="2816352"/>
            <a:ext cx="1106424"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Nginx controller</a:t>
            </a:r>
            <a:endParaRPr lang="en-US" sz="830" dirty="0"/>
          </a:p>
        </p:txBody>
      </p:sp>
      <p:sp>
        <p:nvSpPr>
          <p:cNvPr id="12" name="Shape 10"/>
          <p:cNvSpPr/>
          <p:nvPr/>
        </p:nvSpPr>
        <p:spPr>
          <a:xfrm>
            <a:off x="2514600" y="2478024"/>
            <a:ext cx="1316736" cy="804672"/>
          </a:xfrm>
          <a:prstGeom prst="roundRect">
            <a:avLst>
              <a:gd name="adj" fmla="val 11364"/>
            </a:avLst>
          </a:prstGeom>
          <a:solidFill>
            <a:srgbClr val="F6F8FC"/>
          </a:solidFill>
          <a:ln w="10160">
            <a:solidFill>
              <a:srgbClr val="F6F8FC">
                <a:alpha val="0"/>
              </a:srgbClr>
            </a:solidFill>
            <a:prstDash val="solid"/>
          </a:ln>
        </p:spPr>
      </p:sp>
      <p:sp>
        <p:nvSpPr>
          <p:cNvPr id="13" name="Shape 11"/>
          <p:cNvSpPr/>
          <p:nvPr/>
        </p:nvSpPr>
        <p:spPr>
          <a:xfrm>
            <a:off x="2514600" y="2478024"/>
            <a:ext cx="50292" cy="804672"/>
          </a:xfrm>
          <a:prstGeom prst="rect">
            <a:avLst>
              <a:gd name="adj" fmla="val 181818"/>
            </a:avLst>
          </a:prstGeom>
          <a:solidFill>
            <a:srgbClr val="3478F6"/>
          </a:solidFill>
          <a:ln w="10160">
            <a:solidFill>
              <a:srgbClr val="3478F6">
                <a:alpha val="0"/>
              </a:srgbClr>
            </a:solidFill>
            <a:prstDash val="solid"/>
          </a:ln>
        </p:spPr>
      </p:sp>
      <p:sp>
        <p:nvSpPr>
          <p:cNvPr id="14" name="Text 12"/>
          <p:cNvSpPr txBox="1"/>
          <p:nvPr/>
        </p:nvSpPr>
        <p:spPr>
          <a:xfrm>
            <a:off x="2642616" y="2569464"/>
            <a:ext cx="1078992" cy="210312"/>
          </a:xfrm>
          <a:prstGeom prst="rect">
            <a:avLst/>
          </a:prstGeom>
          <a:noFill/>
          <a:ln/>
        </p:spPr>
        <p:txBody>
          <a:bodyPr wrap="square" lIns="0" tIns="0" rIns="0" bIns="0" rtlCol="0" anchor="ctr">
            <a:normAutofit/>
          </a:bodyPr>
          <a:lstStyle/>
          <a:p>
            <a:pPr algn="ctr" indent="0" marL="0">
              <a:buNone/>
            </a:pPr>
            <a:r>
              <a:rPr lang="en-US" sz="990" b="1" dirty="0">
                <a:solidFill>
                  <a:srgbClr val="172337"/>
                </a:solidFill>
                <a:latin typeface="Inter" pitchFamily="34" charset="0"/>
                <a:ea typeface="Inter" pitchFamily="34" charset="-122"/>
                <a:cs typeface="Inter" pitchFamily="34" charset="-120"/>
              </a:rPr>
              <a:t>Frontend</a:t>
            </a:r>
            <a:endParaRPr lang="en-US" sz="990" dirty="0"/>
          </a:p>
        </p:txBody>
      </p:sp>
      <p:sp>
        <p:nvSpPr>
          <p:cNvPr id="15" name="Text 13"/>
          <p:cNvSpPr txBox="1"/>
          <p:nvPr/>
        </p:nvSpPr>
        <p:spPr>
          <a:xfrm>
            <a:off x="2624328" y="2816352"/>
            <a:ext cx="1106424"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Service :80</a:t>
            </a:r>
            <a:endParaRPr lang="en-US" sz="830" dirty="0"/>
          </a:p>
        </p:txBody>
      </p:sp>
      <p:sp>
        <p:nvSpPr>
          <p:cNvPr id="16" name="Shape 14"/>
          <p:cNvSpPr/>
          <p:nvPr/>
        </p:nvSpPr>
        <p:spPr>
          <a:xfrm>
            <a:off x="4133088" y="2478024"/>
            <a:ext cx="1316736" cy="804672"/>
          </a:xfrm>
          <a:prstGeom prst="roundRect">
            <a:avLst>
              <a:gd name="adj" fmla="val 11364"/>
            </a:avLst>
          </a:prstGeom>
          <a:solidFill>
            <a:srgbClr val="F6F8FC"/>
          </a:solidFill>
          <a:ln w="10160">
            <a:solidFill>
              <a:srgbClr val="F6F8FC">
                <a:alpha val="0"/>
              </a:srgbClr>
            </a:solidFill>
            <a:prstDash val="solid"/>
          </a:ln>
        </p:spPr>
      </p:sp>
      <p:sp>
        <p:nvSpPr>
          <p:cNvPr id="17" name="Shape 15"/>
          <p:cNvSpPr/>
          <p:nvPr/>
        </p:nvSpPr>
        <p:spPr>
          <a:xfrm>
            <a:off x="4133088" y="2478024"/>
            <a:ext cx="50292" cy="804672"/>
          </a:xfrm>
          <a:prstGeom prst="rect">
            <a:avLst>
              <a:gd name="adj" fmla="val 181818"/>
            </a:avLst>
          </a:prstGeom>
          <a:solidFill>
            <a:srgbClr val="0FBAA6"/>
          </a:solidFill>
          <a:ln w="10160">
            <a:solidFill>
              <a:srgbClr val="0FBAA6">
                <a:alpha val="0"/>
              </a:srgbClr>
            </a:solidFill>
            <a:prstDash val="solid"/>
          </a:ln>
        </p:spPr>
      </p:sp>
      <p:sp>
        <p:nvSpPr>
          <p:cNvPr id="18" name="Text 16"/>
          <p:cNvSpPr txBox="1"/>
          <p:nvPr/>
        </p:nvSpPr>
        <p:spPr>
          <a:xfrm>
            <a:off x="4261104" y="2569464"/>
            <a:ext cx="1078992" cy="210312"/>
          </a:xfrm>
          <a:prstGeom prst="rect">
            <a:avLst/>
          </a:prstGeom>
          <a:noFill/>
          <a:ln/>
        </p:spPr>
        <p:txBody>
          <a:bodyPr wrap="square" lIns="0" tIns="0" rIns="0" bIns="0" rtlCol="0" anchor="ctr">
            <a:normAutofit/>
          </a:bodyPr>
          <a:lstStyle/>
          <a:p>
            <a:pPr algn="ctr" indent="0" marL="0">
              <a:buNone/>
            </a:pPr>
            <a:r>
              <a:rPr lang="en-US" sz="990" b="1" dirty="0">
                <a:solidFill>
                  <a:srgbClr val="172337"/>
                </a:solidFill>
                <a:latin typeface="Inter" pitchFamily="34" charset="0"/>
                <a:ea typeface="Inter" pitchFamily="34" charset="-122"/>
                <a:cs typeface="Inter" pitchFamily="34" charset="-120"/>
              </a:rPr>
              <a:t>Backend</a:t>
            </a:r>
            <a:endParaRPr lang="en-US" sz="990" dirty="0"/>
          </a:p>
        </p:txBody>
      </p:sp>
      <p:sp>
        <p:nvSpPr>
          <p:cNvPr id="19" name="Text 17"/>
          <p:cNvSpPr txBox="1"/>
          <p:nvPr/>
        </p:nvSpPr>
        <p:spPr>
          <a:xfrm>
            <a:off x="4242816" y="2816352"/>
            <a:ext cx="1106424"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Service :8000</a:t>
            </a:r>
            <a:endParaRPr lang="en-US" sz="830" dirty="0"/>
          </a:p>
        </p:txBody>
      </p:sp>
      <p:sp>
        <p:nvSpPr>
          <p:cNvPr id="20" name="Shape 18"/>
          <p:cNvSpPr/>
          <p:nvPr/>
        </p:nvSpPr>
        <p:spPr>
          <a:xfrm>
            <a:off x="5751576" y="2478024"/>
            <a:ext cx="1188720" cy="804672"/>
          </a:xfrm>
          <a:prstGeom prst="roundRect">
            <a:avLst>
              <a:gd name="adj" fmla="val 11364"/>
            </a:avLst>
          </a:prstGeom>
          <a:solidFill>
            <a:srgbClr val="F6F8FC"/>
          </a:solidFill>
          <a:ln w="10160">
            <a:solidFill>
              <a:srgbClr val="F6F8FC">
                <a:alpha val="0"/>
              </a:srgbClr>
            </a:solidFill>
            <a:prstDash val="solid"/>
          </a:ln>
        </p:spPr>
      </p:sp>
      <p:sp>
        <p:nvSpPr>
          <p:cNvPr id="21" name="Shape 19"/>
          <p:cNvSpPr/>
          <p:nvPr/>
        </p:nvSpPr>
        <p:spPr>
          <a:xfrm>
            <a:off x="5751576" y="2478024"/>
            <a:ext cx="50292" cy="804672"/>
          </a:xfrm>
          <a:prstGeom prst="rect">
            <a:avLst>
              <a:gd name="adj" fmla="val 181818"/>
            </a:avLst>
          </a:prstGeom>
          <a:solidFill>
            <a:srgbClr val="F28C52"/>
          </a:solidFill>
          <a:ln w="10160">
            <a:solidFill>
              <a:srgbClr val="F28C52">
                <a:alpha val="0"/>
              </a:srgbClr>
            </a:solidFill>
            <a:prstDash val="solid"/>
          </a:ln>
        </p:spPr>
      </p:sp>
      <p:sp>
        <p:nvSpPr>
          <p:cNvPr id="22" name="Text 20"/>
          <p:cNvSpPr txBox="1"/>
          <p:nvPr/>
        </p:nvSpPr>
        <p:spPr>
          <a:xfrm>
            <a:off x="5879592" y="2569464"/>
            <a:ext cx="950976" cy="210312"/>
          </a:xfrm>
          <a:prstGeom prst="rect">
            <a:avLst/>
          </a:prstGeom>
          <a:noFill/>
          <a:ln/>
        </p:spPr>
        <p:txBody>
          <a:bodyPr wrap="square" lIns="0" tIns="0" rIns="0" bIns="0" rtlCol="0" anchor="ctr">
            <a:normAutofit/>
          </a:bodyPr>
          <a:lstStyle/>
          <a:p>
            <a:pPr algn="ctr" indent="0" marL="0">
              <a:buNone/>
            </a:pPr>
            <a:r>
              <a:rPr lang="en-US" sz="970" b="1" dirty="0">
                <a:solidFill>
                  <a:srgbClr val="172337"/>
                </a:solidFill>
                <a:latin typeface="Inter" pitchFamily="34" charset="0"/>
                <a:ea typeface="Inter" pitchFamily="34" charset="-122"/>
                <a:cs typeface="Inter" pitchFamily="34" charset="-120"/>
              </a:rPr>
              <a:t>Postgres</a:t>
            </a:r>
            <a:endParaRPr lang="en-US" sz="970" dirty="0"/>
          </a:p>
        </p:txBody>
      </p:sp>
      <p:sp>
        <p:nvSpPr>
          <p:cNvPr id="23" name="Text 21"/>
          <p:cNvSpPr txBox="1"/>
          <p:nvPr/>
        </p:nvSpPr>
        <p:spPr>
          <a:xfrm>
            <a:off x="5861304" y="2816352"/>
            <a:ext cx="978408" cy="393192"/>
          </a:xfrm>
          <a:prstGeom prst="rect">
            <a:avLst/>
          </a:prstGeom>
          <a:noFill/>
          <a:ln/>
        </p:spPr>
        <p:txBody>
          <a:bodyPr wrap="square" lIns="0" tIns="0" rIns="0" bIns="0" rtlCol="0" anchor="t">
            <a:normAutofit/>
          </a:bodyPr>
          <a:lstStyle/>
          <a:p>
            <a:pPr algn="ctr" indent="0" marL="0">
              <a:buNone/>
            </a:pPr>
            <a:r>
              <a:rPr lang="en-US" sz="830" dirty="0">
                <a:solidFill>
                  <a:srgbClr val="5E6B7C"/>
                </a:solidFill>
                <a:latin typeface="Inter" pitchFamily="34" charset="0"/>
                <a:ea typeface="Inter" pitchFamily="34" charset="-122"/>
                <a:cs typeface="Inter" pitchFamily="34" charset="-120"/>
              </a:rPr>
              <a:t>Persistent DB</a:t>
            </a:r>
            <a:endParaRPr lang="en-US" sz="830" dirty="0"/>
          </a:p>
        </p:txBody>
      </p:sp>
      <p:sp>
        <p:nvSpPr>
          <p:cNvPr id="24" name="Shape 22"/>
          <p:cNvSpPr/>
          <p:nvPr/>
        </p:nvSpPr>
        <p:spPr>
          <a:xfrm>
            <a:off x="2212848" y="2880360"/>
            <a:ext cx="274320" cy="0"/>
          </a:xfrm>
          <a:prstGeom prst="line">
            <a:avLst/>
          </a:prstGeom>
          <a:noFill/>
          <a:ln w="17780">
            <a:solidFill>
              <a:srgbClr val="A8B4C4"/>
            </a:solidFill>
            <a:prstDash val="solid"/>
            <a:tailEnd type="triangle"/>
          </a:ln>
        </p:spPr>
      </p:sp>
      <p:sp>
        <p:nvSpPr>
          <p:cNvPr id="25" name="Shape 23"/>
          <p:cNvSpPr/>
          <p:nvPr/>
        </p:nvSpPr>
        <p:spPr>
          <a:xfrm>
            <a:off x="3831336" y="2880360"/>
            <a:ext cx="274320" cy="0"/>
          </a:xfrm>
          <a:prstGeom prst="line">
            <a:avLst/>
          </a:prstGeom>
          <a:noFill/>
          <a:ln w="17780">
            <a:solidFill>
              <a:srgbClr val="A8B4C4"/>
            </a:solidFill>
            <a:prstDash val="solid"/>
            <a:tailEnd type="triangle"/>
          </a:ln>
        </p:spPr>
      </p:sp>
      <p:sp>
        <p:nvSpPr>
          <p:cNvPr id="26" name="Shape 24"/>
          <p:cNvSpPr/>
          <p:nvPr/>
        </p:nvSpPr>
        <p:spPr>
          <a:xfrm>
            <a:off x="5449824" y="2880360"/>
            <a:ext cx="274320" cy="0"/>
          </a:xfrm>
          <a:prstGeom prst="line">
            <a:avLst/>
          </a:prstGeom>
          <a:noFill/>
          <a:ln w="17780">
            <a:solidFill>
              <a:srgbClr val="A8B4C4"/>
            </a:solidFill>
            <a:prstDash val="solid"/>
            <a:tailEnd type="triangle"/>
          </a:ln>
        </p:spPr>
      </p:sp>
      <p:sp>
        <p:nvSpPr>
          <p:cNvPr id="27" name="Text 25"/>
          <p:cNvSpPr txBox="1"/>
          <p:nvPr/>
        </p:nvSpPr>
        <p:spPr>
          <a:xfrm>
            <a:off x="941832" y="3538728"/>
            <a:ext cx="5989320" cy="219456"/>
          </a:xfrm>
          <a:prstGeom prst="rect">
            <a:avLst/>
          </a:prstGeom>
          <a:noFill/>
          <a:ln/>
        </p:spPr>
        <p:txBody>
          <a:bodyPr wrap="square" lIns="0" tIns="0" rIns="0" bIns="0" rtlCol="0" anchor="ctr">
            <a:normAutofit/>
          </a:bodyPr>
          <a:lstStyle/>
          <a:p>
            <a:pPr algn="ctr" indent="0" marL="0">
              <a:buNone/>
            </a:pPr>
            <a:r>
              <a:rPr lang="en-US" sz="1030" b="1" dirty="0">
                <a:solidFill>
                  <a:srgbClr val="5E6B7C"/>
                </a:solidFill>
                <a:latin typeface="Inter" pitchFamily="34" charset="0"/>
                <a:ea typeface="Inter" pitchFamily="34" charset="-122"/>
                <a:cs typeface="Inter" pitchFamily="34" charset="-120"/>
              </a:rPr>
              <a:t>/ → frontend     ·     /api → backend</a:t>
            </a:r>
            <a:endParaRPr lang="en-US" sz="1030" dirty="0"/>
          </a:p>
        </p:txBody>
      </p:sp>
      <p:sp>
        <p:nvSpPr>
          <p:cNvPr id="28" name="Shape 26"/>
          <p:cNvSpPr/>
          <p:nvPr/>
        </p:nvSpPr>
        <p:spPr>
          <a:xfrm>
            <a:off x="7488936" y="1755648"/>
            <a:ext cx="4059936" cy="2350008"/>
          </a:xfrm>
          <a:prstGeom prst="roundRect">
            <a:avLst>
              <a:gd name="adj" fmla="val 3891"/>
            </a:avLst>
          </a:prstGeom>
          <a:solidFill>
            <a:srgbClr val="EAF1FF"/>
          </a:solidFill>
          <a:ln w="10160">
            <a:solidFill>
              <a:srgbClr val="EAF1FF">
                <a:alpha val="0"/>
              </a:srgbClr>
            </a:solidFill>
            <a:prstDash val="solid"/>
          </a:ln>
        </p:spPr>
      </p:sp>
      <p:sp>
        <p:nvSpPr>
          <p:cNvPr id="29" name="Text 27"/>
          <p:cNvSpPr txBox="1"/>
          <p:nvPr/>
        </p:nvSpPr>
        <p:spPr>
          <a:xfrm>
            <a:off x="7790688" y="1975104"/>
            <a:ext cx="2834640" cy="219456"/>
          </a:xfrm>
          <a:prstGeom prst="rect">
            <a:avLst/>
          </a:prstGeom>
          <a:noFill/>
          <a:ln/>
        </p:spPr>
        <p:txBody>
          <a:bodyPr wrap="square" lIns="0" tIns="0" rIns="0" bIns="0" rtlCol="0" anchor="ctr">
            <a:normAutofit/>
          </a:bodyPr>
          <a:lstStyle/>
          <a:p>
            <a:pPr algn="l" indent="0" marL="0">
              <a:buNone/>
            </a:pPr>
            <a:r>
              <a:rPr lang="en-US" sz="1300" b="1" dirty="0">
                <a:solidFill>
                  <a:srgbClr val="2658B4"/>
                </a:solidFill>
                <a:latin typeface="Inter" pitchFamily="34" charset="0"/>
                <a:ea typeface="Inter" pitchFamily="34" charset="-122"/>
                <a:cs typeface="Inter" pitchFamily="34" charset="-120"/>
              </a:rPr>
              <a:t>Helm manages</a:t>
            </a:r>
            <a:endParaRPr lang="en-US" sz="1300" dirty="0"/>
          </a:p>
        </p:txBody>
      </p:sp>
      <p:sp>
        <p:nvSpPr>
          <p:cNvPr id="30" name="Shape 28"/>
          <p:cNvSpPr/>
          <p:nvPr/>
        </p:nvSpPr>
        <p:spPr>
          <a:xfrm>
            <a:off x="7818120" y="2468880"/>
            <a:ext cx="73152" cy="73152"/>
          </a:xfrm>
          <a:prstGeom prst="ellipse">
            <a:avLst/>
          </a:prstGeom>
          <a:solidFill>
            <a:srgbClr val="3478F6"/>
          </a:solidFill>
          <a:ln w="12700">
            <a:solidFill>
              <a:srgbClr val="3478F6">
                <a:alpha val="0"/>
              </a:srgbClr>
            </a:solidFill>
            <a:prstDash val="solid"/>
          </a:ln>
        </p:spPr>
      </p:sp>
      <p:sp>
        <p:nvSpPr>
          <p:cNvPr id="31" name="Text 29"/>
          <p:cNvSpPr txBox="1"/>
          <p:nvPr/>
        </p:nvSpPr>
        <p:spPr>
          <a:xfrm>
            <a:off x="8001000" y="2414016"/>
            <a:ext cx="2926080" cy="201168"/>
          </a:xfrm>
          <a:prstGeom prst="rect">
            <a:avLst/>
          </a:prstGeom>
          <a:noFill/>
          <a:ln/>
        </p:spPr>
        <p:txBody>
          <a:bodyPr wrap="square" lIns="0" tIns="0" rIns="0" bIns="0" rtlCol="0" anchor="ctr">
            <a:normAutofit/>
          </a:bodyPr>
          <a:lstStyle/>
          <a:p>
            <a:pPr algn="l" indent="0" marL="0">
              <a:buNone/>
            </a:pPr>
            <a:r>
              <a:rPr lang="en-US" sz="1010" dirty="0">
                <a:solidFill>
                  <a:srgbClr val="172337"/>
                </a:solidFill>
                <a:latin typeface="Inter" pitchFamily="34" charset="0"/>
                <a:ea typeface="Inter" pitchFamily="34" charset="-122"/>
                <a:cs typeface="Inter" pitchFamily="34" charset="-120"/>
              </a:rPr>
              <a:t>Deployments + Services</a:t>
            </a:r>
            <a:endParaRPr lang="en-US" sz="1010" dirty="0"/>
          </a:p>
        </p:txBody>
      </p:sp>
      <p:sp>
        <p:nvSpPr>
          <p:cNvPr id="32" name="Shape 30"/>
          <p:cNvSpPr/>
          <p:nvPr/>
        </p:nvSpPr>
        <p:spPr>
          <a:xfrm>
            <a:off x="7818120" y="2807208"/>
            <a:ext cx="73152" cy="73152"/>
          </a:xfrm>
          <a:prstGeom prst="ellipse">
            <a:avLst/>
          </a:prstGeom>
          <a:solidFill>
            <a:srgbClr val="3478F6"/>
          </a:solidFill>
          <a:ln w="12700">
            <a:solidFill>
              <a:srgbClr val="3478F6">
                <a:alpha val="0"/>
              </a:srgbClr>
            </a:solidFill>
            <a:prstDash val="solid"/>
          </a:ln>
        </p:spPr>
      </p:sp>
      <p:sp>
        <p:nvSpPr>
          <p:cNvPr id="33" name="Text 31"/>
          <p:cNvSpPr txBox="1"/>
          <p:nvPr/>
        </p:nvSpPr>
        <p:spPr>
          <a:xfrm>
            <a:off x="8001000" y="2752344"/>
            <a:ext cx="2926080" cy="201168"/>
          </a:xfrm>
          <a:prstGeom prst="rect">
            <a:avLst/>
          </a:prstGeom>
          <a:noFill/>
          <a:ln/>
        </p:spPr>
        <p:txBody>
          <a:bodyPr wrap="square" lIns="0" tIns="0" rIns="0" bIns="0" rtlCol="0" anchor="ctr">
            <a:normAutofit/>
          </a:bodyPr>
          <a:lstStyle/>
          <a:p>
            <a:pPr algn="l" indent="0" marL="0">
              <a:buNone/>
            </a:pPr>
            <a:r>
              <a:rPr lang="en-US" sz="1010" dirty="0">
                <a:solidFill>
                  <a:srgbClr val="172337"/>
                </a:solidFill>
                <a:latin typeface="Inter" pitchFamily="34" charset="0"/>
                <a:ea typeface="Inter" pitchFamily="34" charset="-122"/>
                <a:cs typeface="Inter" pitchFamily="34" charset="-120"/>
              </a:rPr>
              <a:t>Configurable replicas / resources</a:t>
            </a:r>
            <a:endParaRPr lang="en-US" sz="1010" dirty="0"/>
          </a:p>
        </p:txBody>
      </p:sp>
      <p:sp>
        <p:nvSpPr>
          <p:cNvPr id="34" name="Shape 32"/>
          <p:cNvSpPr/>
          <p:nvPr/>
        </p:nvSpPr>
        <p:spPr>
          <a:xfrm>
            <a:off x="7818120" y="3145536"/>
            <a:ext cx="73152" cy="73152"/>
          </a:xfrm>
          <a:prstGeom prst="ellipse">
            <a:avLst/>
          </a:prstGeom>
          <a:solidFill>
            <a:srgbClr val="3478F6"/>
          </a:solidFill>
          <a:ln w="12700">
            <a:solidFill>
              <a:srgbClr val="3478F6">
                <a:alpha val="0"/>
              </a:srgbClr>
            </a:solidFill>
            <a:prstDash val="solid"/>
          </a:ln>
        </p:spPr>
      </p:sp>
      <p:sp>
        <p:nvSpPr>
          <p:cNvPr id="35" name="Text 33"/>
          <p:cNvSpPr txBox="1"/>
          <p:nvPr/>
        </p:nvSpPr>
        <p:spPr>
          <a:xfrm>
            <a:off x="8001000" y="3090672"/>
            <a:ext cx="2926080" cy="201168"/>
          </a:xfrm>
          <a:prstGeom prst="rect">
            <a:avLst/>
          </a:prstGeom>
          <a:noFill/>
          <a:ln/>
        </p:spPr>
        <p:txBody>
          <a:bodyPr wrap="square" lIns="0" tIns="0" rIns="0" bIns="0" rtlCol="0" anchor="ctr">
            <a:normAutofit/>
          </a:bodyPr>
          <a:lstStyle/>
          <a:p>
            <a:pPr algn="l" indent="0" marL="0">
              <a:buNone/>
            </a:pPr>
            <a:r>
              <a:rPr lang="en-US" sz="1010" dirty="0">
                <a:solidFill>
                  <a:srgbClr val="172337"/>
                </a:solidFill>
                <a:latin typeface="Inter" pitchFamily="34" charset="0"/>
                <a:ea typeface="Inter" pitchFamily="34" charset="-122"/>
                <a:cs typeface="Inter" pitchFamily="34" charset="-120"/>
              </a:rPr>
              <a:t>Optional Ingress and HPA</a:t>
            </a:r>
            <a:endParaRPr lang="en-US" sz="1010" dirty="0"/>
          </a:p>
        </p:txBody>
      </p:sp>
      <p:sp>
        <p:nvSpPr>
          <p:cNvPr id="36" name="Shape 34"/>
          <p:cNvSpPr/>
          <p:nvPr/>
        </p:nvSpPr>
        <p:spPr>
          <a:xfrm>
            <a:off x="7818120" y="3483864"/>
            <a:ext cx="73152" cy="73152"/>
          </a:xfrm>
          <a:prstGeom prst="ellipse">
            <a:avLst/>
          </a:prstGeom>
          <a:solidFill>
            <a:srgbClr val="3478F6"/>
          </a:solidFill>
          <a:ln w="12700">
            <a:solidFill>
              <a:srgbClr val="3478F6">
                <a:alpha val="0"/>
              </a:srgbClr>
            </a:solidFill>
            <a:prstDash val="solid"/>
          </a:ln>
        </p:spPr>
      </p:sp>
      <p:sp>
        <p:nvSpPr>
          <p:cNvPr id="37" name="Text 35"/>
          <p:cNvSpPr txBox="1"/>
          <p:nvPr/>
        </p:nvSpPr>
        <p:spPr>
          <a:xfrm>
            <a:off x="8001000" y="3429000"/>
            <a:ext cx="2926080" cy="201168"/>
          </a:xfrm>
          <a:prstGeom prst="rect">
            <a:avLst/>
          </a:prstGeom>
          <a:noFill/>
          <a:ln/>
        </p:spPr>
        <p:txBody>
          <a:bodyPr wrap="square" lIns="0" tIns="0" rIns="0" bIns="0" rtlCol="0" anchor="ctr">
            <a:normAutofit/>
          </a:bodyPr>
          <a:lstStyle/>
          <a:p>
            <a:pPr algn="l" indent="0" marL="0">
              <a:buNone/>
            </a:pPr>
            <a:r>
              <a:rPr lang="en-US" sz="1010" dirty="0">
                <a:solidFill>
                  <a:srgbClr val="172337"/>
                </a:solidFill>
                <a:latin typeface="Inter" pitchFamily="34" charset="0"/>
                <a:ea typeface="Inter" pitchFamily="34" charset="-122"/>
                <a:cs typeface="Inter" pitchFamily="34" charset="-120"/>
              </a:rPr>
              <a:t>Optional ServiceMonitor</a:t>
            </a:r>
            <a:endParaRPr lang="en-US" sz="1010" dirty="0"/>
          </a:p>
        </p:txBody>
      </p:sp>
      <p:sp>
        <p:nvSpPr>
          <p:cNvPr id="38" name="Shape 36"/>
          <p:cNvSpPr/>
          <p:nvPr/>
        </p:nvSpPr>
        <p:spPr>
          <a:xfrm>
            <a:off x="640080" y="4453128"/>
            <a:ext cx="6547104" cy="1115568"/>
          </a:xfrm>
          <a:prstGeom prst="roundRect">
            <a:avLst>
              <a:gd name="adj" fmla="val 8197"/>
            </a:avLst>
          </a:prstGeom>
          <a:solidFill>
            <a:srgbClr val="101B2D"/>
          </a:solidFill>
          <a:ln w="10160">
            <a:solidFill>
              <a:srgbClr val="101B2D">
                <a:alpha val="0"/>
              </a:srgbClr>
            </a:solidFill>
            <a:prstDash val="solid"/>
          </a:ln>
        </p:spPr>
      </p:sp>
      <p:sp>
        <p:nvSpPr>
          <p:cNvPr id="39" name="Text 37"/>
          <p:cNvSpPr txBox="1"/>
          <p:nvPr/>
        </p:nvSpPr>
        <p:spPr>
          <a:xfrm>
            <a:off x="822960" y="4581144"/>
            <a:ext cx="6181344" cy="868680"/>
          </a:xfrm>
          <a:prstGeom prst="rect">
            <a:avLst/>
          </a:prstGeom>
          <a:noFill/>
          <a:ln/>
        </p:spPr>
        <p:txBody>
          <a:bodyPr wrap="square" lIns="0" tIns="0" rIns="0" bIns="0" rtlCol="0" anchor="t">
            <a:normAutofit/>
          </a:bodyPr>
          <a:lstStyle/>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helm upgrade --install taskboard ./helm/taskboard \</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  --namespace taskboard --create-namespace \</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  --values helm/taskboard/values-dev.yaml \</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  --set replicaCount=1</a:t>
            </a:r>
            <a:endParaRPr lang="en-US" sz="940" dirty="0"/>
          </a:p>
        </p:txBody>
      </p:sp>
      <p:sp>
        <p:nvSpPr>
          <p:cNvPr id="40" name="Shape 38"/>
          <p:cNvSpPr/>
          <p:nvPr/>
        </p:nvSpPr>
        <p:spPr>
          <a:xfrm>
            <a:off x="7479792" y="4453128"/>
            <a:ext cx="4069080" cy="1115568"/>
          </a:xfrm>
          <a:prstGeom prst="roundRect">
            <a:avLst>
              <a:gd name="adj" fmla="val 8197"/>
            </a:avLst>
          </a:prstGeom>
          <a:solidFill>
            <a:srgbClr val="FFF0E7"/>
          </a:solidFill>
          <a:ln w="10160">
            <a:solidFill>
              <a:srgbClr val="FFF0E7">
                <a:alpha val="0"/>
              </a:srgbClr>
            </a:solidFill>
            <a:prstDash val="solid"/>
          </a:ln>
        </p:spPr>
      </p:sp>
      <p:sp>
        <p:nvSpPr>
          <p:cNvPr id="41" name="Text 39"/>
          <p:cNvSpPr txBox="1"/>
          <p:nvPr/>
        </p:nvSpPr>
        <p:spPr>
          <a:xfrm>
            <a:off x="7754112" y="4645152"/>
            <a:ext cx="3474720" cy="219456"/>
          </a:xfrm>
          <a:prstGeom prst="rect">
            <a:avLst/>
          </a:prstGeom>
          <a:noFill/>
          <a:ln/>
        </p:spPr>
        <p:txBody>
          <a:bodyPr wrap="square" lIns="0" tIns="0" rIns="0" bIns="0" rtlCol="0" anchor="ctr">
            <a:normAutofit/>
          </a:bodyPr>
          <a:lstStyle/>
          <a:p>
            <a:pPr algn="l" indent="0" marL="0">
              <a:buNone/>
            </a:pPr>
            <a:r>
              <a:rPr lang="en-US" sz="1130" b="1" dirty="0">
                <a:solidFill>
                  <a:srgbClr val="A74E19"/>
                </a:solidFill>
                <a:latin typeface="Inter" pitchFamily="34" charset="0"/>
                <a:ea typeface="Inter" pitchFamily="34" charset="-122"/>
                <a:cs typeface="Inter" pitchFamily="34" charset="-120"/>
              </a:rPr>
              <a:t>Rubric-sensitive replica count</a:t>
            </a:r>
            <a:endParaRPr lang="en-US" sz="1130" dirty="0"/>
          </a:p>
        </p:txBody>
      </p:sp>
      <p:sp>
        <p:nvSpPr>
          <p:cNvPr id="42" name="Text 40"/>
          <p:cNvSpPr txBox="1"/>
          <p:nvPr/>
        </p:nvSpPr>
        <p:spPr>
          <a:xfrm>
            <a:off x="7754112" y="4956048"/>
            <a:ext cx="3401568" cy="457200"/>
          </a:xfrm>
          <a:prstGeom prst="rect">
            <a:avLst/>
          </a:prstGeom>
          <a:noFill/>
          <a:ln/>
        </p:spPr>
        <p:txBody>
          <a:bodyPr wrap="square" lIns="0" tIns="0" rIns="0" bIns="0" rtlCol="0" anchor="t">
            <a:normAutofit/>
          </a:bodyPr>
          <a:lstStyle/>
          <a:p>
            <a:pPr algn="l" indent="0" marL="0">
              <a:buNone/>
            </a:pPr>
            <a:r>
              <a:rPr lang="en-US" sz="920" dirty="0">
                <a:solidFill>
                  <a:srgbClr val="172337"/>
                </a:solidFill>
                <a:latin typeface="Inter" pitchFamily="34" charset="0"/>
                <a:ea typeface="Inter" pitchFamily="34" charset="-122"/>
                <a:cs typeface="Inter" pitchFamily="34" charset="-120"/>
              </a:rPr>
              <a:t>Dev values use 1 replica. Rubric target: at least 2 frontend + 2 backend replicas. Verify the chosen values and live pods.</a:t>
            </a:r>
            <a:endParaRPr lang="en-US" sz="920" dirty="0"/>
          </a:p>
        </p:txBody>
      </p:sp>
      <p:sp>
        <p:nvSpPr>
          <p:cNvPr id="43" name="Text 41">
            <a:hlinkClick r:id="rId1" tooltip=""/>
          </p:cNvPr>
          <p:cNvSpPr txBox="1"/>
          <p:nvPr/>
        </p:nvSpPr>
        <p:spPr>
          <a:xfrm>
            <a:off x="685800" y="5907024"/>
            <a:ext cx="123444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Helm release</a:t>
            </a:r>
            <a:endParaRPr lang="en-US" sz="840" dirty="0"/>
          </a:p>
        </p:txBody>
      </p:sp>
      <p:sp>
        <p:nvSpPr>
          <p:cNvPr id="44" name="Text 42">
            <a:hlinkClick r:id="rId2" tooltip=""/>
          </p:cNvPr>
          <p:cNvSpPr txBox="1"/>
          <p:nvPr/>
        </p:nvSpPr>
        <p:spPr>
          <a:xfrm>
            <a:off x="2121408" y="5907024"/>
            <a:ext cx="17830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Pods + Services</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632204"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467612"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08  /  OPERATIONS</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Observability: metrics → Prometheus → Grafana</a:t>
            </a:r>
            <a:endParaRPr lang="en-US" sz="2400" dirty="0"/>
          </a:p>
        </p:txBody>
      </p:sp>
      <p:sp>
        <p:nvSpPr>
          <p:cNvPr id="5" name="Shape 3"/>
          <p:cNvSpPr/>
          <p:nvPr/>
        </p:nvSpPr>
        <p:spPr>
          <a:xfrm>
            <a:off x="640080" y="1673352"/>
            <a:ext cx="2606040" cy="1481328"/>
          </a:xfrm>
          <a:prstGeom prst="roundRect">
            <a:avLst>
              <a:gd name="adj" fmla="val 6173"/>
            </a:avLst>
          </a:prstGeom>
          <a:solidFill>
            <a:srgbClr val="FFFFFF"/>
          </a:solidFill>
          <a:ln w="10160">
            <a:solidFill>
              <a:srgbClr val="D9E0EA"/>
            </a:solidFill>
            <a:prstDash val="solid"/>
          </a:ln>
        </p:spPr>
      </p:sp>
      <p:sp>
        <p:nvSpPr>
          <p:cNvPr id="6" name="Shape 4"/>
          <p:cNvSpPr/>
          <p:nvPr/>
        </p:nvSpPr>
        <p:spPr>
          <a:xfrm>
            <a:off x="640080" y="1673352"/>
            <a:ext cx="2606040" cy="73152"/>
          </a:xfrm>
          <a:prstGeom prst="rect">
            <a:avLst>
              <a:gd name="adj" fmla="val 125000"/>
            </a:avLst>
          </a:prstGeom>
          <a:solidFill>
            <a:srgbClr val="0FBAA6"/>
          </a:solidFill>
          <a:ln w="10160">
            <a:solidFill>
              <a:srgbClr val="0FBAA6">
                <a:alpha val="0"/>
              </a:srgbClr>
            </a:solidFill>
            <a:prstDash val="solid"/>
          </a:ln>
        </p:spPr>
      </p:sp>
      <p:sp>
        <p:nvSpPr>
          <p:cNvPr id="7" name="Text 5"/>
          <p:cNvSpPr txBox="1"/>
          <p:nvPr/>
        </p:nvSpPr>
        <p:spPr>
          <a:xfrm>
            <a:off x="822960" y="1965960"/>
            <a:ext cx="2240280" cy="283464"/>
          </a:xfrm>
          <a:prstGeom prst="rect">
            <a:avLst/>
          </a:prstGeom>
          <a:noFill/>
          <a:ln/>
        </p:spPr>
        <p:txBody>
          <a:bodyPr wrap="square" lIns="0" tIns="0" rIns="0" bIns="0" rtlCol="0" anchor="ctr">
            <a:normAutofit/>
          </a:bodyPr>
          <a:lstStyle/>
          <a:p>
            <a:pPr algn="ctr" indent="0" marL="0">
              <a:buNone/>
            </a:pPr>
            <a:r>
              <a:rPr lang="en-US" sz="1300" b="1" dirty="0">
                <a:solidFill>
                  <a:srgbClr val="172337"/>
                </a:solidFill>
                <a:latin typeface="Inter" pitchFamily="34" charset="0"/>
                <a:ea typeface="Inter" pitchFamily="34" charset="-122"/>
                <a:cs typeface="Inter" pitchFamily="34" charset="-120"/>
              </a:rPr>
              <a:t>Instrument FastAPI</a:t>
            </a:r>
            <a:endParaRPr lang="en-US" sz="1300" dirty="0"/>
          </a:p>
        </p:txBody>
      </p:sp>
      <p:sp>
        <p:nvSpPr>
          <p:cNvPr id="8" name="Text 6"/>
          <p:cNvSpPr txBox="1"/>
          <p:nvPr/>
        </p:nvSpPr>
        <p:spPr>
          <a:xfrm>
            <a:off x="841248" y="2450592"/>
            <a:ext cx="2203704" cy="438912"/>
          </a:xfrm>
          <a:prstGeom prst="rect">
            <a:avLst/>
          </a:prstGeom>
          <a:noFill/>
          <a:ln/>
        </p:spPr>
        <p:txBody>
          <a:bodyPr wrap="square" lIns="0" tIns="0" rIns="0" bIns="0" rtlCol="0" anchor="t">
            <a:normAutofit/>
          </a:bodyPr>
          <a:lstStyle/>
          <a:p>
            <a:pPr algn="ctr" indent="0" marL="0">
              <a:buNone/>
            </a:pPr>
            <a:r>
              <a:rPr lang="en-US" sz="980" dirty="0">
                <a:solidFill>
                  <a:srgbClr val="5E6B7C"/>
                </a:solidFill>
                <a:latin typeface="Inter" pitchFamily="34" charset="0"/>
                <a:ea typeface="Inter" pitchFamily="34" charset="-122"/>
                <a:cs typeface="Inter" pitchFamily="34" charset="-120"/>
              </a:rPr>
              <a:t>prometheus-fastapi-instrumentator</a:t>
            </a:r>
            <a:endParaRPr lang="en-US" sz="980" dirty="0"/>
          </a:p>
          <a:p>
            <a:pPr algn="ctr" indent="0" marL="0">
              <a:buNone/>
            </a:pPr>
            <a:r>
              <a:rPr lang="en-US" sz="980" dirty="0">
                <a:solidFill>
                  <a:srgbClr val="5E6B7C"/>
                </a:solidFill>
                <a:latin typeface="Inter" pitchFamily="34" charset="0"/>
                <a:ea typeface="Inter" pitchFamily="34" charset="-122"/>
                <a:cs typeface="Inter" pitchFamily="34" charset="-120"/>
              </a:rPr>
              <a:t>HTTP requests · latency · status codes</a:t>
            </a:r>
            <a:endParaRPr lang="en-US" sz="980" dirty="0"/>
          </a:p>
        </p:txBody>
      </p:sp>
      <p:sp>
        <p:nvSpPr>
          <p:cNvPr id="9" name="Shape 7"/>
          <p:cNvSpPr/>
          <p:nvPr/>
        </p:nvSpPr>
        <p:spPr>
          <a:xfrm>
            <a:off x="3337560" y="2414016"/>
            <a:ext cx="210312" cy="0"/>
          </a:xfrm>
          <a:prstGeom prst="line">
            <a:avLst/>
          </a:prstGeom>
          <a:noFill/>
          <a:ln w="19050">
            <a:solidFill>
              <a:srgbClr val="A8B4C4"/>
            </a:solidFill>
            <a:prstDash val="solid"/>
            <a:tailEnd type="triangle"/>
          </a:ln>
        </p:spPr>
      </p:sp>
      <p:sp>
        <p:nvSpPr>
          <p:cNvPr id="10" name="Shape 8"/>
          <p:cNvSpPr/>
          <p:nvPr/>
        </p:nvSpPr>
        <p:spPr>
          <a:xfrm>
            <a:off x="3657600" y="1673352"/>
            <a:ext cx="2606040" cy="1481328"/>
          </a:xfrm>
          <a:prstGeom prst="roundRect">
            <a:avLst>
              <a:gd name="adj" fmla="val 6173"/>
            </a:avLst>
          </a:prstGeom>
          <a:solidFill>
            <a:srgbClr val="FFFFFF"/>
          </a:solidFill>
          <a:ln w="10160">
            <a:solidFill>
              <a:srgbClr val="D9E0EA"/>
            </a:solidFill>
            <a:prstDash val="solid"/>
          </a:ln>
        </p:spPr>
      </p:sp>
      <p:sp>
        <p:nvSpPr>
          <p:cNvPr id="11" name="Shape 9"/>
          <p:cNvSpPr/>
          <p:nvPr/>
        </p:nvSpPr>
        <p:spPr>
          <a:xfrm>
            <a:off x="3657600" y="1673352"/>
            <a:ext cx="2606040" cy="73152"/>
          </a:xfrm>
          <a:prstGeom prst="rect">
            <a:avLst>
              <a:gd name="adj" fmla="val 125000"/>
            </a:avLst>
          </a:prstGeom>
          <a:solidFill>
            <a:srgbClr val="8467E8"/>
          </a:solidFill>
          <a:ln w="10160">
            <a:solidFill>
              <a:srgbClr val="8467E8">
                <a:alpha val="0"/>
              </a:srgbClr>
            </a:solidFill>
            <a:prstDash val="solid"/>
          </a:ln>
        </p:spPr>
      </p:sp>
      <p:sp>
        <p:nvSpPr>
          <p:cNvPr id="12" name="Text 10"/>
          <p:cNvSpPr txBox="1"/>
          <p:nvPr/>
        </p:nvSpPr>
        <p:spPr>
          <a:xfrm>
            <a:off x="3840480" y="1965960"/>
            <a:ext cx="2240280" cy="283464"/>
          </a:xfrm>
          <a:prstGeom prst="rect">
            <a:avLst/>
          </a:prstGeom>
          <a:noFill/>
          <a:ln/>
        </p:spPr>
        <p:txBody>
          <a:bodyPr wrap="square" lIns="0" tIns="0" rIns="0" bIns="0" rtlCol="0" anchor="ctr">
            <a:normAutofit/>
          </a:bodyPr>
          <a:lstStyle/>
          <a:p>
            <a:pPr algn="ctr" indent="0" marL="0">
              <a:buNone/>
            </a:pPr>
            <a:r>
              <a:rPr lang="en-US" sz="1300" b="1" dirty="0">
                <a:solidFill>
                  <a:srgbClr val="172337"/>
                </a:solidFill>
                <a:latin typeface="Inter" pitchFamily="34" charset="0"/>
                <a:ea typeface="Inter" pitchFamily="34" charset="-122"/>
                <a:cs typeface="Inter" pitchFamily="34" charset="-120"/>
              </a:rPr>
              <a:t>Scrape with Prometheus</a:t>
            </a:r>
            <a:endParaRPr lang="en-US" sz="1300" dirty="0"/>
          </a:p>
        </p:txBody>
      </p:sp>
      <p:sp>
        <p:nvSpPr>
          <p:cNvPr id="13" name="Text 11"/>
          <p:cNvSpPr txBox="1"/>
          <p:nvPr/>
        </p:nvSpPr>
        <p:spPr>
          <a:xfrm>
            <a:off x="3858768" y="2450592"/>
            <a:ext cx="2203704" cy="438912"/>
          </a:xfrm>
          <a:prstGeom prst="rect">
            <a:avLst/>
          </a:prstGeom>
          <a:noFill/>
          <a:ln/>
        </p:spPr>
        <p:txBody>
          <a:bodyPr wrap="square" lIns="0" tIns="0" rIns="0" bIns="0" rtlCol="0" anchor="t">
            <a:normAutofit/>
          </a:bodyPr>
          <a:lstStyle/>
          <a:p>
            <a:pPr algn="ctr" indent="0" marL="0">
              <a:buNone/>
            </a:pPr>
            <a:r>
              <a:rPr lang="en-US" sz="980" dirty="0">
                <a:solidFill>
                  <a:srgbClr val="5E6B7C"/>
                </a:solidFill>
                <a:latin typeface="Inter" pitchFamily="34" charset="0"/>
                <a:ea typeface="Inter" pitchFamily="34" charset="-122"/>
                <a:cs typeface="Inter" pitchFamily="34" charset="-120"/>
              </a:rPr>
              <a:t>ServiceMonitor selects backend service</a:t>
            </a:r>
            <a:endParaRPr lang="en-US" sz="980" dirty="0"/>
          </a:p>
          <a:p>
            <a:pPr algn="ctr" indent="0" marL="0">
              <a:buNone/>
            </a:pPr>
            <a:r>
              <a:rPr lang="en-US" sz="980" dirty="0">
                <a:solidFill>
                  <a:srgbClr val="5E6B7C"/>
                </a:solidFill>
                <a:latin typeface="Inter" pitchFamily="34" charset="0"/>
                <a:ea typeface="Inter" pitchFamily="34" charset="-122"/>
                <a:cs typeface="Inter" pitchFamily="34" charset="-120"/>
              </a:rPr>
              <a:t>/metrics · 15-second interval</a:t>
            </a:r>
            <a:endParaRPr lang="en-US" sz="980" dirty="0"/>
          </a:p>
        </p:txBody>
      </p:sp>
      <p:sp>
        <p:nvSpPr>
          <p:cNvPr id="14" name="Shape 12"/>
          <p:cNvSpPr/>
          <p:nvPr/>
        </p:nvSpPr>
        <p:spPr>
          <a:xfrm>
            <a:off x="6355080" y="2414016"/>
            <a:ext cx="210312" cy="0"/>
          </a:xfrm>
          <a:prstGeom prst="line">
            <a:avLst/>
          </a:prstGeom>
          <a:noFill/>
          <a:ln w="19050">
            <a:solidFill>
              <a:srgbClr val="A8B4C4"/>
            </a:solidFill>
            <a:prstDash val="solid"/>
            <a:tailEnd type="triangle"/>
          </a:ln>
        </p:spPr>
      </p:sp>
      <p:sp>
        <p:nvSpPr>
          <p:cNvPr id="15" name="Shape 13"/>
          <p:cNvSpPr/>
          <p:nvPr/>
        </p:nvSpPr>
        <p:spPr>
          <a:xfrm>
            <a:off x="6675120" y="1673352"/>
            <a:ext cx="2606040" cy="1481328"/>
          </a:xfrm>
          <a:prstGeom prst="roundRect">
            <a:avLst>
              <a:gd name="adj" fmla="val 6173"/>
            </a:avLst>
          </a:prstGeom>
          <a:solidFill>
            <a:srgbClr val="FFFFFF"/>
          </a:solidFill>
          <a:ln w="10160">
            <a:solidFill>
              <a:srgbClr val="D9E0EA"/>
            </a:solidFill>
            <a:prstDash val="solid"/>
          </a:ln>
        </p:spPr>
      </p:sp>
      <p:sp>
        <p:nvSpPr>
          <p:cNvPr id="16" name="Shape 14"/>
          <p:cNvSpPr/>
          <p:nvPr/>
        </p:nvSpPr>
        <p:spPr>
          <a:xfrm>
            <a:off x="6675120" y="1673352"/>
            <a:ext cx="2606040" cy="73152"/>
          </a:xfrm>
          <a:prstGeom prst="rect">
            <a:avLst>
              <a:gd name="adj" fmla="val 125000"/>
            </a:avLst>
          </a:prstGeom>
          <a:solidFill>
            <a:srgbClr val="3478F6"/>
          </a:solidFill>
          <a:ln w="10160">
            <a:solidFill>
              <a:srgbClr val="3478F6">
                <a:alpha val="0"/>
              </a:srgbClr>
            </a:solidFill>
            <a:prstDash val="solid"/>
          </a:ln>
        </p:spPr>
      </p:sp>
      <p:sp>
        <p:nvSpPr>
          <p:cNvPr id="17" name="Text 15"/>
          <p:cNvSpPr txBox="1"/>
          <p:nvPr/>
        </p:nvSpPr>
        <p:spPr>
          <a:xfrm>
            <a:off x="6858000" y="1965960"/>
            <a:ext cx="2240280" cy="283464"/>
          </a:xfrm>
          <a:prstGeom prst="rect">
            <a:avLst/>
          </a:prstGeom>
          <a:noFill/>
          <a:ln/>
        </p:spPr>
        <p:txBody>
          <a:bodyPr wrap="square" lIns="0" tIns="0" rIns="0" bIns="0" rtlCol="0" anchor="ctr">
            <a:normAutofit/>
          </a:bodyPr>
          <a:lstStyle/>
          <a:p>
            <a:pPr algn="ctr" indent="0" marL="0">
              <a:buNone/>
            </a:pPr>
            <a:r>
              <a:rPr lang="en-US" sz="1300" b="1" dirty="0">
                <a:solidFill>
                  <a:srgbClr val="172337"/>
                </a:solidFill>
                <a:latin typeface="Inter" pitchFamily="34" charset="0"/>
                <a:ea typeface="Inter" pitchFamily="34" charset="-122"/>
                <a:cs typeface="Inter" pitchFamily="34" charset="-120"/>
              </a:rPr>
              <a:t>Visualize in Grafana</a:t>
            </a:r>
            <a:endParaRPr lang="en-US" sz="1300" dirty="0"/>
          </a:p>
        </p:txBody>
      </p:sp>
      <p:sp>
        <p:nvSpPr>
          <p:cNvPr id="18" name="Text 16"/>
          <p:cNvSpPr txBox="1"/>
          <p:nvPr/>
        </p:nvSpPr>
        <p:spPr>
          <a:xfrm>
            <a:off x="6876288" y="2450592"/>
            <a:ext cx="2203704" cy="438912"/>
          </a:xfrm>
          <a:prstGeom prst="rect">
            <a:avLst/>
          </a:prstGeom>
          <a:noFill/>
          <a:ln/>
        </p:spPr>
        <p:txBody>
          <a:bodyPr wrap="square" lIns="0" tIns="0" rIns="0" bIns="0" rtlCol="0" anchor="t">
            <a:normAutofit/>
          </a:bodyPr>
          <a:lstStyle/>
          <a:p>
            <a:pPr algn="ctr" indent="0" marL="0">
              <a:buNone/>
            </a:pPr>
            <a:r>
              <a:rPr lang="en-US" sz="980" dirty="0">
                <a:solidFill>
                  <a:srgbClr val="5E6B7C"/>
                </a:solidFill>
                <a:latin typeface="Inter" pitchFamily="34" charset="0"/>
                <a:ea typeface="Inter" pitchFamily="34" charset="-122"/>
                <a:cs typeface="Inter" pitchFamily="34" charset="-120"/>
              </a:rPr>
              <a:t>Dashboard panels answer operational</a:t>
            </a:r>
            <a:endParaRPr lang="en-US" sz="980" dirty="0"/>
          </a:p>
          <a:p>
            <a:pPr algn="ctr" indent="0" marL="0">
              <a:buNone/>
            </a:pPr>
            <a:r>
              <a:rPr lang="en-US" sz="980" dirty="0">
                <a:solidFill>
                  <a:srgbClr val="5E6B7C"/>
                </a:solidFill>
                <a:latin typeface="Inter" pitchFamily="34" charset="0"/>
                <a:ea typeface="Inter" pitchFamily="34" charset="-122"/>
                <a:cs typeface="Inter" pitchFamily="34" charset="-120"/>
              </a:rPr>
              <a:t>questions about traffic and latency</a:t>
            </a:r>
            <a:endParaRPr lang="en-US" sz="980" dirty="0"/>
          </a:p>
        </p:txBody>
      </p:sp>
      <p:sp>
        <p:nvSpPr>
          <p:cNvPr id="19" name="Shape 17"/>
          <p:cNvSpPr/>
          <p:nvPr/>
        </p:nvSpPr>
        <p:spPr>
          <a:xfrm>
            <a:off x="9692640" y="1673352"/>
            <a:ext cx="1856232" cy="1481328"/>
          </a:xfrm>
          <a:prstGeom prst="roundRect">
            <a:avLst>
              <a:gd name="adj" fmla="val 6173"/>
            </a:avLst>
          </a:prstGeom>
          <a:solidFill>
            <a:srgbClr val="E1F7F3"/>
          </a:solidFill>
          <a:ln w="10160">
            <a:solidFill>
              <a:srgbClr val="E1F7F3">
                <a:alpha val="0"/>
              </a:srgbClr>
            </a:solidFill>
            <a:prstDash val="solid"/>
          </a:ln>
        </p:spPr>
      </p:sp>
      <p:sp>
        <p:nvSpPr>
          <p:cNvPr id="20" name="Text 18"/>
          <p:cNvSpPr txBox="1"/>
          <p:nvPr/>
        </p:nvSpPr>
        <p:spPr>
          <a:xfrm>
            <a:off x="9884664" y="1965960"/>
            <a:ext cx="1481328" cy="310896"/>
          </a:xfrm>
          <a:prstGeom prst="rect">
            <a:avLst/>
          </a:prstGeom>
          <a:noFill/>
          <a:ln/>
        </p:spPr>
        <p:txBody>
          <a:bodyPr wrap="square" lIns="0" tIns="0" rIns="0" bIns="0" rtlCol="0" anchor="ctr">
            <a:normAutofit/>
          </a:bodyPr>
          <a:lstStyle/>
          <a:p>
            <a:pPr algn="ctr" indent="0" marL="0">
              <a:buNone/>
            </a:pPr>
            <a:r>
              <a:rPr lang="en-US" sz="1200" b="1" dirty="0">
                <a:solidFill>
                  <a:srgbClr val="087F73"/>
                </a:solidFill>
                <a:latin typeface="Inter" pitchFamily="34" charset="0"/>
                <a:ea typeface="Inter" pitchFamily="34" charset="-122"/>
                <a:cs typeface="Inter" pitchFamily="34" charset="-120"/>
              </a:rPr>
              <a:t>Proof of health</a:t>
            </a:r>
            <a:endParaRPr lang="en-US" sz="1200" dirty="0"/>
          </a:p>
        </p:txBody>
      </p:sp>
      <p:sp>
        <p:nvSpPr>
          <p:cNvPr id="21" name="Text 19"/>
          <p:cNvSpPr txBox="1"/>
          <p:nvPr/>
        </p:nvSpPr>
        <p:spPr>
          <a:xfrm>
            <a:off x="9884664" y="2414016"/>
            <a:ext cx="1463040" cy="475488"/>
          </a:xfrm>
          <a:prstGeom prst="rect">
            <a:avLst/>
          </a:prstGeom>
          <a:noFill/>
          <a:ln/>
        </p:spPr>
        <p:txBody>
          <a:bodyPr wrap="square" lIns="0" tIns="0" rIns="0" bIns="0" rtlCol="0" anchor="ctr">
            <a:normAutofit/>
          </a:bodyPr>
          <a:lstStyle/>
          <a:p>
            <a:pPr algn="ctr" indent="0" marL="0">
              <a:buNone/>
            </a:pPr>
            <a:r>
              <a:rPr lang="en-US" sz="1030" dirty="0">
                <a:solidFill>
                  <a:srgbClr val="172337"/>
                </a:solidFill>
                <a:latin typeface="Inter" pitchFamily="34" charset="0"/>
                <a:ea typeface="Inter" pitchFamily="34" charset="-122"/>
                <a:cs typeface="Inter" pitchFamily="34" charset="-120"/>
              </a:rPr>
              <a:t>Target = UP</a:t>
            </a:r>
            <a:endParaRPr lang="en-US" sz="1030" dirty="0"/>
          </a:p>
          <a:p>
            <a:pPr algn="ctr" indent="0" marL="0">
              <a:buNone/>
            </a:pPr>
            <a:r>
              <a:rPr lang="en-US" sz="1030" dirty="0">
                <a:solidFill>
                  <a:srgbClr val="172337"/>
                </a:solidFill>
                <a:latin typeface="Inter" pitchFamily="34" charset="0"/>
                <a:ea typeface="Inter" pitchFamily="34" charset="-122"/>
                <a:cs typeface="Inter" pitchFamily="34" charset="-120"/>
              </a:rPr>
              <a:t>Panel has data</a:t>
            </a:r>
            <a:endParaRPr lang="en-US" sz="1030" dirty="0"/>
          </a:p>
        </p:txBody>
      </p:sp>
      <p:sp>
        <p:nvSpPr>
          <p:cNvPr id="22" name="Text 20"/>
          <p:cNvSpPr txBox="1"/>
          <p:nvPr/>
        </p:nvSpPr>
        <p:spPr>
          <a:xfrm>
            <a:off x="658368" y="3611880"/>
            <a:ext cx="4389120" cy="256032"/>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Operational verification commands</a:t>
            </a:r>
            <a:endParaRPr lang="en-US" sz="1400" dirty="0"/>
          </a:p>
        </p:txBody>
      </p:sp>
      <p:sp>
        <p:nvSpPr>
          <p:cNvPr id="23" name="Shape 21"/>
          <p:cNvSpPr/>
          <p:nvPr/>
        </p:nvSpPr>
        <p:spPr>
          <a:xfrm>
            <a:off x="658368" y="4014216"/>
            <a:ext cx="5760720" cy="1307592"/>
          </a:xfrm>
          <a:prstGeom prst="roundRect">
            <a:avLst>
              <a:gd name="adj" fmla="val 6993"/>
            </a:avLst>
          </a:prstGeom>
          <a:solidFill>
            <a:srgbClr val="101B2D"/>
          </a:solidFill>
          <a:ln w="10160">
            <a:solidFill>
              <a:srgbClr val="101B2D">
                <a:alpha val="0"/>
              </a:srgbClr>
            </a:solidFill>
            <a:prstDash val="solid"/>
          </a:ln>
        </p:spPr>
      </p:sp>
      <p:sp>
        <p:nvSpPr>
          <p:cNvPr id="24" name="Text 22"/>
          <p:cNvSpPr txBox="1"/>
          <p:nvPr/>
        </p:nvSpPr>
        <p:spPr>
          <a:xfrm>
            <a:off x="841248" y="4142232"/>
            <a:ext cx="5394960" cy="1060704"/>
          </a:xfrm>
          <a:prstGeom prst="rect">
            <a:avLst/>
          </a:prstGeom>
          <a:noFill/>
          <a:ln/>
        </p:spPr>
        <p:txBody>
          <a:bodyPr wrap="square" lIns="0" tIns="0" rIns="0" bIns="0" rtlCol="0" anchor="t">
            <a:normAutofit/>
          </a:bodyPr>
          <a:lstStyle/>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kubectl get servicemonitor -n taskboard</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kubectl get pods -n monitoring</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kubectl port-forward -n taskboard \</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  svc/taskboard-taskboard-backend 8000:8000</a:t>
            </a:r>
            <a:endParaRPr lang="en-US" sz="940" dirty="0"/>
          </a:p>
          <a:p>
            <a:pPr algn="l" indent="0" marL="0">
              <a:buNone/>
            </a:pPr>
            <a:r>
              <a:rPr lang="en-US" sz="940" dirty="0">
                <a:solidFill>
                  <a:srgbClr val="E7EFFB"/>
                </a:solidFill>
                <a:latin typeface="DejaVu Sans Mono" pitchFamily="34" charset="0"/>
                <a:ea typeface="DejaVu Sans Mono" pitchFamily="34" charset="-122"/>
                <a:cs typeface="DejaVu Sans Mono" pitchFamily="34" charset="-120"/>
              </a:rPr>
              <a:t>curl http://localhost:8000/metrics</a:t>
            </a:r>
            <a:endParaRPr lang="en-US" sz="940" dirty="0"/>
          </a:p>
        </p:txBody>
      </p:sp>
      <p:sp>
        <p:nvSpPr>
          <p:cNvPr id="25" name="Shape 23"/>
          <p:cNvSpPr/>
          <p:nvPr/>
        </p:nvSpPr>
        <p:spPr>
          <a:xfrm>
            <a:off x="6748272" y="4014216"/>
            <a:ext cx="4800600" cy="1307592"/>
          </a:xfrm>
          <a:prstGeom prst="roundRect">
            <a:avLst>
              <a:gd name="adj" fmla="val 6993"/>
            </a:avLst>
          </a:prstGeom>
          <a:solidFill>
            <a:srgbClr val="FFF0E7"/>
          </a:solidFill>
          <a:ln w="10160">
            <a:solidFill>
              <a:srgbClr val="FFF0E7">
                <a:alpha val="0"/>
              </a:srgbClr>
            </a:solidFill>
            <a:prstDash val="solid"/>
          </a:ln>
        </p:spPr>
      </p:sp>
      <p:sp>
        <p:nvSpPr>
          <p:cNvPr id="26" name="Text 24"/>
          <p:cNvSpPr txBox="1"/>
          <p:nvPr/>
        </p:nvSpPr>
        <p:spPr>
          <a:xfrm>
            <a:off x="7059168" y="4261104"/>
            <a:ext cx="4069080" cy="256032"/>
          </a:xfrm>
          <a:prstGeom prst="rect">
            <a:avLst/>
          </a:prstGeom>
          <a:noFill/>
          <a:ln/>
        </p:spPr>
        <p:txBody>
          <a:bodyPr wrap="square" lIns="0" tIns="0" rIns="0" bIns="0" rtlCol="0" anchor="ctr">
            <a:normAutofit/>
          </a:bodyPr>
          <a:lstStyle/>
          <a:p>
            <a:pPr algn="l" indent="0" marL="0">
              <a:buNone/>
            </a:pPr>
            <a:r>
              <a:rPr lang="en-US" sz="1200" b="1" dirty="0">
                <a:solidFill>
                  <a:srgbClr val="A74E19"/>
                </a:solidFill>
                <a:latin typeface="Inter" pitchFamily="34" charset="0"/>
                <a:ea typeface="Inter" pitchFamily="34" charset="-122"/>
                <a:cs typeface="Inter" pitchFamily="34" charset="-120"/>
              </a:rPr>
              <a:t>Evidence check before upload</a:t>
            </a:r>
            <a:endParaRPr lang="en-US" sz="1200" dirty="0"/>
          </a:p>
        </p:txBody>
      </p:sp>
      <p:sp>
        <p:nvSpPr>
          <p:cNvPr id="27" name="Text 25"/>
          <p:cNvSpPr txBox="1"/>
          <p:nvPr/>
        </p:nvSpPr>
        <p:spPr>
          <a:xfrm>
            <a:off x="7059168" y="4617720"/>
            <a:ext cx="4050792" cy="521208"/>
          </a:xfrm>
          <a:prstGeom prst="rect">
            <a:avLst/>
          </a:prstGeom>
          <a:noFill/>
          <a:ln/>
        </p:spPr>
        <p:txBody>
          <a:bodyPr wrap="square" lIns="0" tIns="0" rIns="0" bIns="0" rtlCol="0" anchor="t">
            <a:normAutofit/>
          </a:bodyPr>
          <a:lstStyle/>
          <a:p>
            <a:pPr algn="l" indent="0" marL="0">
              <a:buNone/>
            </a:pPr>
            <a:r>
              <a:rPr lang="en-US" sz="980" dirty="0">
                <a:solidFill>
                  <a:srgbClr val="172337"/>
                </a:solidFill>
                <a:latin typeface="Inter" pitchFamily="34" charset="0"/>
                <a:ea typeface="Inter" pitchFamily="34" charset="-122"/>
                <a:cs typeface="Inter" pitchFamily="34" charset="-120"/>
              </a:rPr>
              <a:t>The docs index lists metrics and ServiceMonitor screenshots. Explicitly capture Prometheus Targets showing UP and Grafana with a populated panel if the current evidence does not clearly show them.</a:t>
            </a:r>
            <a:endParaRPr lang="en-US" sz="980" dirty="0"/>
          </a:p>
        </p:txBody>
      </p:sp>
      <p:sp>
        <p:nvSpPr>
          <p:cNvPr id="28" name="Text 26">
            <a:hlinkClick r:id="rId1" tooltip=""/>
          </p:cNvPr>
          <p:cNvSpPr txBox="1"/>
          <p:nvPr/>
        </p:nvSpPr>
        <p:spPr>
          <a:xfrm>
            <a:off x="667512" y="5724144"/>
            <a:ext cx="132588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Metrics output</a:t>
            </a:r>
            <a:endParaRPr lang="en-US" sz="840" dirty="0"/>
          </a:p>
        </p:txBody>
      </p:sp>
      <p:sp>
        <p:nvSpPr>
          <p:cNvPr id="29" name="Text 27">
            <a:hlinkClick r:id="rId2" tooltip=""/>
          </p:cNvPr>
          <p:cNvSpPr txBox="1"/>
          <p:nvPr/>
        </p:nvSpPr>
        <p:spPr>
          <a:xfrm>
            <a:off x="2130552" y="5724144"/>
            <a:ext cx="187452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Metrics panel candidate</a:t>
            </a:r>
            <a:endParaRPr lang="en-US" sz="840" dirty="0"/>
          </a:p>
        </p:txBody>
      </p:sp>
      <p:sp>
        <p:nvSpPr>
          <p:cNvPr id="30" name="Text 28">
            <a:hlinkClick r:id="rId3" tooltip=""/>
          </p:cNvPr>
          <p:cNvSpPr txBox="1"/>
          <p:nvPr/>
        </p:nvSpPr>
        <p:spPr>
          <a:xfrm>
            <a:off x="4151376" y="5724144"/>
            <a:ext cx="137160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 ServiceMonitor</a:t>
            </a:r>
            <a:endParaRPr lang="en-US" sz="840" dirty="0"/>
          </a:p>
        </p:txBody>
      </p:sp>
      <p:sp>
        <p:nvSpPr>
          <p:cNvPr id="31" name="Text 29">
            <a:hlinkClick r:id="rId4" tooltip=""/>
          </p:cNvPr>
          <p:cNvSpPr txBox="1"/>
          <p:nvPr/>
        </p:nvSpPr>
        <p:spPr>
          <a:xfrm>
            <a:off x="5669280" y="5724144"/>
            <a:ext cx="1965960"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 Monitoring config evidence</a:t>
            </a:r>
            <a:endParaRPr lang="en-US" sz="84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09  /  SUBMISSION EVIDENCE</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Evidence is already catalogued in docs/images</a:t>
            </a:r>
            <a:endParaRPr lang="en-US" sz="2400" dirty="0"/>
          </a:p>
        </p:txBody>
      </p:sp>
      <p:sp>
        <p:nvSpPr>
          <p:cNvPr id="5" name="Text 3"/>
          <p:cNvSpPr txBox="1"/>
          <p:nvPr/>
        </p:nvSpPr>
        <p:spPr>
          <a:xfrm>
            <a:off x="621792" y="1225296"/>
            <a:ext cx="10789920" cy="310896"/>
          </a:xfrm>
          <a:prstGeom prst="rect">
            <a:avLst/>
          </a:prstGeom>
          <a:noFill/>
          <a:ln/>
        </p:spPr>
        <p:txBody>
          <a:bodyPr wrap="square" lIns="0" tIns="0" rIns="0" bIns="0" rtlCol="0" anchor="ctr">
            <a:normAutofit/>
          </a:bodyPr>
          <a:lstStyle/>
          <a:p>
            <a:pPr algn="l" indent="0" marL="0">
              <a:buNone/>
            </a:pPr>
            <a:r>
              <a:rPr lang="en-US" sz="1250" dirty="0">
                <a:solidFill>
                  <a:srgbClr val="5E6B7C"/>
                </a:solidFill>
                <a:latin typeface="Inter" pitchFamily="34" charset="0"/>
                <a:ea typeface="Inter" pitchFamily="34" charset="-122"/>
                <a:cs typeface="Inter" pitchFamily="34" charset="-120"/>
              </a:rPr>
              <a:t>Use the existing screenshots as supporting artifacts, then confirm critical runtime claims in the live walkthrough.</a:t>
            </a:r>
            <a:endParaRPr lang="en-US" sz="1250" dirty="0"/>
          </a:p>
        </p:txBody>
      </p:sp>
      <p:sp>
        <p:nvSpPr>
          <p:cNvPr id="6" name="Shape 4"/>
          <p:cNvSpPr/>
          <p:nvPr/>
        </p:nvSpPr>
        <p:spPr>
          <a:xfrm>
            <a:off x="640080" y="1773936"/>
            <a:ext cx="3474720" cy="1700784"/>
          </a:xfrm>
          <a:prstGeom prst="roundRect">
            <a:avLst>
              <a:gd name="adj" fmla="val 5376"/>
            </a:avLst>
          </a:prstGeom>
          <a:solidFill>
            <a:srgbClr val="FFFFFF"/>
          </a:solidFill>
          <a:ln w="10160">
            <a:solidFill>
              <a:srgbClr val="D9E0EA"/>
            </a:solidFill>
            <a:prstDash val="solid"/>
          </a:ln>
        </p:spPr>
      </p:sp>
      <p:sp>
        <p:nvSpPr>
          <p:cNvPr id="7" name="Shape 5"/>
          <p:cNvSpPr/>
          <p:nvPr/>
        </p:nvSpPr>
        <p:spPr>
          <a:xfrm>
            <a:off x="640080" y="1773936"/>
            <a:ext cx="3474720" cy="64008"/>
          </a:xfrm>
          <a:prstGeom prst="rect">
            <a:avLst>
              <a:gd name="adj" fmla="val 142857"/>
            </a:avLst>
          </a:prstGeom>
          <a:solidFill>
            <a:srgbClr val="3478F6"/>
          </a:solidFill>
          <a:ln w="10160">
            <a:solidFill>
              <a:srgbClr val="3478F6">
                <a:alpha val="0"/>
              </a:srgbClr>
            </a:solidFill>
            <a:prstDash val="solid"/>
          </a:ln>
        </p:spPr>
      </p:sp>
      <p:sp>
        <p:nvSpPr>
          <p:cNvPr id="8" name="Text 6"/>
          <p:cNvSpPr txBox="1"/>
          <p:nvPr/>
        </p:nvSpPr>
        <p:spPr>
          <a:xfrm>
            <a:off x="822960" y="1938528"/>
            <a:ext cx="3108960" cy="201168"/>
          </a:xfrm>
          <a:prstGeom prst="rect">
            <a:avLst/>
          </a:prstGeom>
          <a:noFill/>
          <a:ln/>
        </p:spPr>
        <p:txBody>
          <a:bodyPr wrap="square" lIns="0" tIns="0" rIns="0" bIns="0" rtlCol="0" anchor="ctr">
            <a:normAutofit/>
          </a:bodyPr>
          <a:lstStyle/>
          <a:p>
            <a:pPr algn="l" indent="0" marL="0">
              <a:buNone/>
            </a:pPr>
            <a:r>
              <a:rPr lang="en-US" sz="860" b="1" spc="90" kern="0" dirty="0">
                <a:solidFill>
                  <a:srgbClr val="3478F6"/>
                </a:solidFill>
                <a:latin typeface="Inter" pitchFamily="34" charset="0"/>
                <a:ea typeface="Inter" pitchFamily="34" charset="-122"/>
                <a:cs typeface="Inter" pitchFamily="34" charset="-120"/>
              </a:rPr>
              <a:t>APPLICATION + TESTS</a:t>
            </a:r>
            <a:endParaRPr lang="en-US" sz="860" dirty="0"/>
          </a:p>
        </p:txBody>
      </p:sp>
      <p:sp>
        <p:nvSpPr>
          <p:cNvPr id="9" name="Text 7">
            <a:hlinkClick r:id="rId1" tooltip=""/>
          </p:cNvPr>
          <p:cNvSpPr txBox="1"/>
          <p:nvPr/>
        </p:nvSpPr>
        <p:spPr>
          <a:xfrm>
            <a:off x="841248"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 App UI</a:t>
            </a:r>
            <a:endParaRPr lang="en-US" sz="840" dirty="0"/>
          </a:p>
        </p:txBody>
      </p:sp>
      <p:sp>
        <p:nvSpPr>
          <p:cNvPr id="10" name="Text 8">
            <a:hlinkClick r:id="rId2" tooltip=""/>
          </p:cNvPr>
          <p:cNvSpPr txBox="1"/>
          <p:nvPr/>
        </p:nvSpPr>
        <p:spPr>
          <a:xfrm>
            <a:off x="2578608"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 OpenAPI</a:t>
            </a:r>
            <a:endParaRPr lang="en-US" sz="840" dirty="0"/>
          </a:p>
        </p:txBody>
      </p:sp>
      <p:sp>
        <p:nvSpPr>
          <p:cNvPr id="11" name="Text 9">
            <a:hlinkClick r:id="rId3" tooltip=""/>
          </p:cNvPr>
          <p:cNvSpPr txBox="1"/>
          <p:nvPr/>
        </p:nvSpPr>
        <p:spPr>
          <a:xfrm>
            <a:off x="841248"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 Health</a:t>
            </a:r>
            <a:endParaRPr lang="en-US" sz="840" dirty="0"/>
          </a:p>
        </p:txBody>
      </p:sp>
      <p:sp>
        <p:nvSpPr>
          <p:cNvPr id="12" name="Text 10">
            <a:hlinkClick r:id="rId4" tooltip=""/>
          </p:cNvPr>
          <p:cNvSpPr txBox="1"/>
          <p:nvPr/>
        </p:nvSpPr>
        <p:spPr>
          <a:xfrm>
            <a:off x="2578608"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3478F6"/>
                </a:solidFill>
                <a:uFill>
                  <a:solidFill>
                    <a:srgbClr val="3478F6"/>
                  </a:solidFill>
                </a:u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 Pytest</a:t>
            </a:r>
            <a:endParaRPr lang="en-US" sz="840" dirty="0"/>
          </a:p>
        </p:txBody>
      </p:sp>
      <p:sp>
        <p:nvSpPr>
          <p:cNvPr id="13" name="Shape 11"/>
          <p:cNvSpPr/>
          <p:nvPr/>
        </p:nvSpPr>
        <p:spPr>
          <a:xfrm>
            <a:off x="4361688" y="1773936"/>
            <a:ext cx="3474720" cy="1700784"/>
          </a:xfrm>
          <a:prstGeom prst="roundRect">
            <a:avLst>
              <a:gd name="adj" fmla="val 5376"/>
            </a:avLst>
          </a:prstGeom>
          <a:solidFill>
            <a:srgbClr val="FFFFFF"/>
          </a:solidFill>
          <a:ln w="10160">
            <a:solidFill>
              <a:srgbClr val="D9E0EA"/>
            </a:solidFill>
            <a:prstDash val="solid"/>
          </a:ln>
        </p:spPr>
      </p:sp>
      <p:sp>
        <p:nvSpPr>
          <p:cNvPr id="14" name="Shape 12"/>
          <p:cNvSpPr/>
          <p:nvPr/>
        </p:nvSpPr>
        <p:spPr>
          <a:xfrm>
            <a:off x="4361688" y="1773936"/>
            <a:ext cx="3474720" cy="64008"/>
          </a:xfrm>
          <a:prstGeom prst="rect">
            <a:avLst>
              <a:gd name="adj" fmla="val 142857"/>
            </a:avLst>
          </a:prstGeom>
          <a:solidFill>
            <a:srgbClr val="0FBAA6"/>
          </a:solidFill>
          <a:ln w="10160">
            <a:solidFill>
              <a:srgbClr val="0FBAA6">
                <a:alpha val="0"/>
              </a:srgbClr>
            </a:solidFill>
            <a:prstDash val="solid"/>
          </a:ln>
        </p:spPr>
      </p:sp>
      <p:sp>
        <p:nvSpPr>
          <p:cNvPr id="15" name="Text 13"/>
          <p:cNvSpPr txBox="1"/>
          <p:nvPr/>
        </p:nvSpPr>
        <p:spPr>
          <a:xfrm>
            <a:off x="4544568" y="1938528"/>
            <a:ext cx="3108960" cy="201168"/>
          </a:xfrm>
          <a:prstGeom prst="rect">
            <a:avLst/>
          </a:prstGeom>
          <a:noFill/>
          <a:ln/>
        </p:spPr>
        <p:txBody>
          <a:bodyPr wrap="square" lIns="0" tIns="0" rIns="0" bIns="0" rtlCol="0" anchor="ctr">
            <a:normAutofit/>
          </a:bodyPr>
          <a:lstStyle/>
          <a:p>
            <a:pPr algn="l" indent="0" marL="0">
              <a:buNone/>
            </a:pPr>
            <a:r>
              <a:rPr lang="en-US" sz="860" b="1" spc="90" kern="0" dirty="0">
                <a:solidFill>
                  <a:srgbClr val="0FBAA6"/>
                </a:solidFill>
                <a:latin typeface="Inter" pitchFamily="34" charset="0"/>
                <a:ea typeface="Inter" pitchFamily="34" charset="-122"/>
                <a:cs typeface="Inter" pitchFamily="34" charset="-120"/>
              </a:rPr>
              <a:t>CI/CD + GHCR</a:t>
            </a:r>
            <a:endParaRPr lang="en-US" sz="860" dirty="0"/>
          </a:p>
        </p:txBody>
      </p:sp>
      <p:sp>
        <p:nvSpPr>
          <p:cNvPr id="16" name="Text 14">
            <a:hlinkClick r:id="rId5" tooltip=""/>
          </p:cNvPr>
          <p:cNvSpPr txBox="1"/>
          <p:nvPr/>
        </p:nvSpPr>
        <p:spPr>
          <a:xfrm>
            <a:off x="4562856"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0FBAA6"/>
                </a:solidFill>
                <a:uFill>
                  <a:solidFill>
                    <a:srgbClr val="0FBAA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 Actions run</a:t>
            </a:r>
            <a:endParaRPr lang="en-US" sz="840" dirty="0"/>
          </a:p>
        </p:txBody>
      </p:sp>
      <p:sp>
        <p:nvSpPr>
          <p:cNvPr id="17" name="Text 15">
            <a:hlinkClick r:id="rId6" tooltip=""/>
          </p:cNvPr>
          <p:cNvSpPr txBox="1"/>
          <p:nvPr/>
        </p:nvSpPr>
        <p:spPr>
          <a:xfrm>
            <a:off x="6300216"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0FBAA6"/>
                </a:solidFill>
                <a:uFill>
                  <a:solidFill>
                    <a:srgbClr val="0FBAA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 Git push</a:t>
            </a:r>
            <a:endParaRPr lang="en-US" sz="840" dirty="0"/>
          </a:p>
        </p:txBody>
      </p:sp>
      <p:sp>
        <p:nvSpPr>
          <p:cNvPr id="18" name="Text 16">
            <a:hlinkClick r:id="rId7" tooltip=""/>
          </p:cNvPr>
          <p:cNvSpPr txBox="1"/>
          <p:nvPr/>
        </p:nvSpPr>
        <p:spPr>
          <a:xfrm>
            <a:off x="4562856"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0FBAA6"/>
                </a:solidFill>
                <a:uFill>
                  <a:solidFill>
                    <a:srgbClr val="0FBAA6"/>
                  </a:solidFill>
                </a:uFill>
                <a:latin typeface="Inter" pitchFamily="34" charset="0"/>
                <a:ea typeface="Inter" pitchFamily="34" charset="-122"/>
                <a:cs typeface="Inter" pitchFamily="34" charset="-120"/>
                <a:hlinkClick r:id="rId7" invalidUrl="" action="" tgtFrame="" tooltip="" history="1" highlightClick="0" endSnd="0">
                  <a:extLst>
                    <a:ext uri="{A12FA001-AC4F-418D-AE19-62706E023703}">
                      <ahyp:hlinkClr xmlns:ahyp="http://schemas.microsoft.com/office/drawing/2018/hyperlinkcolor" val="tx"/>
                    </a:ext>
                  </a:extLst>
                </a:hlinkClick>
              </a:rPr>
              <a:t>↗ Published images</a:t>
            </a:r>
            <a:endParaRPr lang="en-US" sz="840" dirty="0"/>
          </a:p>
        </p:txBody>
      </p:sp>
      <p:sp>
        <p:nvSpPr>
          <p:cNvPr id="19" name="Text 17">
            <a:hlinkClick r:id="rId8" tooltip=""/>
          </p:cNvPr>
          <p:cNvSpPr txBox="1"/>
          <p:nvPr/>
        </p:nvSpPr>
        <p:spPr>
          <a:xfrm>
            <a:off x="6300216"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0FBAA6"/>
                </a:solidFill>
                <a:uFill>
                  <a:solidFill>
                    <a:srgbClr val="0FBAA6"/>
                  </a:solidFill>
                </a:uFill>
                <a:latin typeface="Inter" pitchFamily="34" charset="0"/>
                <a:ea typeface="Inter" pitchFamily="34" charset="-122"/>
                <a:cs typeface="Inter" pitchFamily="34" charset="-120"/>
                <a:hlinkClick r:id="rId8" invalidUrl="" action="" tgtFrame="" tooltip="" history="1" highlightClick="0" endSnd="0">
                  <a:extLst>
                    <a:ext uri="{A12FA001-AC4F-418D-AE19-62706E023703}">
                      <ahyp:hlinkClr xmlns:ahyp="http://schemas.microsoft.com/office/drawing/2018/hyperlinkcolor" val="tx"/>
                    </a:ext>
                  </a:extLst>
                </a:hlinkClick>
              </a:rPr>
              <a:t>↗ Compose build</a:t>
            </a:r>
            <a:endParaRPr lang="en-US" sz="840" dirty="0"/>
          </a:p>
        </p:txBody>
      </p:sp>
      <p:sp>
        <p:nvSpPr>
          <p:cNvPr id="20" name="Shape 18"/>
          <p:cNvSpPr/>
          <p:nvPr/>
        </p:nvSpPr>
        <p:spPr>
          <a:xfrm>
            <a:off x="8083296" y="1773936"/>
            <a:ext cx="3474720" cy="1700784"/>
          </a:xfrm>
          <a:prstGeom prst="roundRect">
            <a:avLst>
              <a:gd name="adj" fmla="val 5376"/>
            </a:avLst>
          </a:prstGeom>
          <a:solidFill>
            <a:srgbClr val="FFFFFF"/>
          </a:solidFill>
          <a:ln w="10160">
            <a:solidFill>
              <a:srgbClr val="D9E0EA"/>
            </a:solidFill>
            <a:prstDash val="solid"/>
          </a:ln>
        </p:spPr>
      </p:sp>
      <p:sp>
        <p:nvSpPr>
          <p:cNvPr id="21" name="Shape 19"/>
          <p:cNvSpPr/>
          <p:nvPr/>
        </p:nvSpPr>
        <p:spPr>
          <a:xfrm>
            <a:off x="8083296" y="1773936"/>
            <a:ext cx="3474720" cy="64008"/>
          </a:xfrm>
          <a:prstGeom prst="rect">
            <a:avLst>
              <a:gd name="adj" fmla="val 142857"/>
            </a:avLst>
          </a:prstGeom>
          <a:solidFill>
            <a:srgbClr val="8467E8"/>
          </a:solidFill>
          <a:ln w="10160">
            <a:solidFill>
              <a:srgbClr val="8467E8">
                <a:alpha val="0"/>
              </a:srgbClr>
            </a:solidFill>
            <a:prstDash val="solid"/>
          </a:ln>
        </p:spPr>
      </p:sp>
      <p:sp>
        <p:nvSpPr>
          <p:cNvPr id="22" name="Text 20"/>
          <p:cNvSpPr txBox="1"/>
          <p:nvPr/>
        </p:nvSpPr>
        <p:spPr>
          <a:xfrm>
            <a:off x="8266176" y="1938528"/>
            <a:ext cx="3108960" cy="201168"/>
          </a:xfrm>
          <a:prstGeom prst="rect">
            <a:avLst/>
          </a:prstGeom>
          <a:noFill/>
          <a:ln/>
        </p:spPr>
        <p:txBody>
          <a:bodyPr wrap="square" lIns="0" tIns="0" rIns="0" bIns="0" rtlCol="0" anchor="ctr">
            <a:normAutofit/>
          </a:bodyPr>
          <a:lstStyle/>
          <a:p>
            <a:pPr algn="l" indent="0" marL="0">
              <a:buNone/>
            </a:pPr>
            <a:r>
              <a:rPr lang="en-US" sz="860" b="1" spc="90" kern="0" dirty="0">
                <a:solidFill>
                  <a:srgbClr val="8467E8"/>
                </a:solidFill>
                <a:latin typeface="Inter" pitchFamily="34" charset="0"/>
                <a:ea typeface="Inter" pitchFamily="34" charset="-122"/>
                <a:cs typeface="Inter" pitchFamily="34" charset="-120"/>
              </a:rPr>
              <a:t>TERRAFORM + AWS</a:t>
            </a:r>
            <a:endParaRPr lang="en-US" sz="860" dirty="0"/>
          </a:p>
        </p:txBody>
      </p:sp>
      <p:sp>
        <p:nvSpPr>
          <p:cNvPr id="23" name="Text 21">
            <a:hlinkClick r:id="rId9" tooltip=""/>
          </p:cNvPr>
          <p:cNvSpPr txBox="1"/>
          <p:nvPr/>
        </p:nvSpPr>
        <p:spPr>
          <a:xfrm>
            <a:off x="8284464"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8467E8"/>
                </a:solidFill>
                <a:uFill>
                  <a:solidFill>
                    <a:srgbClr val="8467E8"/>
                  </a:solidFill>
                </a:u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 Terraform plan</a:t>
            </a:r>
            <a:endParaRPr lang="en-US" sz="840" dirty="0"/>
          </a:p>
        </p:txBody>
      </p:sp>
      <p:sp>
        <p:nvSpPr>
          <p:cNvPr id="24" name="Text 22">
            <a:hlinkClick r:id="rId10" tooltip=""/>
          </p:cNvPr>
          <p:cNvSpPr txBox="1"/>
          <p:nvPr/>
        </p:nvSpPr>
        <p:spPr>
          <a:xfrm>
            <a:off x="10021824" y="2304288"/>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8467E8"/>
                </a:solidFill>
                <a:uFill>
                  <a:solidFill>
                    <a:srgbClr val="8467E8"/>
                  </a:solidFill>
                </a:u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 Apply</a:t>
            </a:r>
            <a:endParaRPr lang="en-US" sz="840" dirty="0"/>
          </a:p>
        </p:txBody>
      </p:sp>
      <p:sp>
        <p:nvSpPr>
          <p:cNvPr id="25" name="Text 23">
            <a:hlinkClick r:id="rId11" tooltip=""/>
          </p:cNvPr>
          <p:cNvSpPr txBox="1"/>
          <p:nvPr/>
        </p:nvSpPr>
        <p:spPr>
          <a:xfrm>
            <a:off x="8284464"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8467E8"/>
                </a:solidFill>
                <a:uFill>
                  <a:solidFill>
                    <a:srgbClr val="8467E8"/>
                  </a:solidFill>
                </a:u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AWS resources</a:t>
            </a:r>
            <a:endParaRPr lang="en-US" sz="840" dirty="0"/>
          </a:p>
        </p:txBody>
      </p:sp>
      <p:sp>
        <p:nvSpPr>
          <p:cNvPr id="26" name="Text 24">
            <a:hlinkClick r:id="rId12" tooltip=""/>
          </p:cNvPr>
          <p:cNvSpPr txBox="1"/>
          <p:nvPr/>
        </p:nvSpPr>
        <p:spPr>
          <a:xfrm>
            <a:off x="10021824" y="2743200"/>
            <a:ext cx="1426464" cy="201168"/>
          </a:xfrm>
          <a:prstGeom prst="rect">
            <a:avLst/>
          </a:prstGeom>
          <a:noFill/>
          <a:ln/>
        </p:spPr>
        <p:txBody>
          <a:bodyPr wrap="square" lIns="0" tIns="0" rIns="0" bIns="0" rtlCol="0" anchor="ctr">
            <a:normAutofit/>
          </a:bodyPr>
          <a:lstStyle/>
          <a:p>
            <a:pPr algn="l" indent="0" marL="0">
              <a:buNone/>
            </a:pPr>
            <a:r>
              <a:rPr lang="en-US" sz="840" u="sng" dirty="0">
                <a:solidFill>
                  <a:srgbClr val="8467E8"/>
                </a:solidFill>
                <a:uFill>
                  <a:solidFill>
                    <a:srgbClr val="8467E8"/>
                  </a:solidFill>
                </a:u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Destroy</a:t>
            </a:r>
            <a:endParaRPr lang="en-US" sz="840" dirty="0"/>
          </a:p>
        </p:txBody>
      </p:sp>
      <p:sp>
        <p:nvSpPr>
          <p:cNvPr id="27" name="Shape 25"/>
          <p:cNvSpPr/>
          <p:nvPr/>
        </p:nvSpPr>
        <p:spPr>
          <a:xfrm>
            <a:off x="640080" y="3931920"/>
            <a:ext cx="5303520" cy="1435608"/>
          </a:xfrm>
          <a:prstGeom prst="roundRect">
            <a:avLst>
              <a:gd name="adj" fmla="val 6369"/>
            </a:avLst>
          </a:prstGeom>
          <a:solidFill>
            <a:srgbClr val="FFFFFF"/>
          </a:solidFill>
          <a:ln w="10160">
            <a:solidFill>
              <a:srgbClr val="D9E0EA"/>
            </a:solidFill>
            <a:prstDash val="solid"/>
          </a:ln>
        </p:spPr>
      </p:sp>
      <p:sp>
        <p:nvSpPr>
          <p:cNvPr id="28" name="Shape 26"/>
          <p:cNvSpPr/>
          <p:nvPr/>
        </p:nvSpPr>
        <p:spPr>
          <a:xfrm>
            <a:off x="640080" y="3931920"/>
            <a:ext cx="5303520" cy="64008"/>
          </a:xfrm>
          <a:prstGeom prst="rect">
            <a:avLst>
              <a:gd name="adj" fmla="val 142857"/>
            </a:avLst>
          </a:prstGeom>
          <a:solidFill>
            <a:srgbClr val="F28C52"/>
          </a:solidFill>
          <a:ln w="10160">
            <a:solidFill>
              <a:srgbClr val="F28C52">
                <a:alpha val="0"/>
              </a:srgbClr>
            </a:solidFill>
            <a:prstDash val="solid"/>
          </a:ln>
        </p:spPr>
      </p:sp>
      <p:sp>
        <p:nvSpPr>
          <p:cNvPr id="29" name="Text 27"/>
          <p:cNvSpPr txBox="1"/>
          <p:nvPr/>
        </p:nvSpPr>
        <p:spPr>
          <a:xfrm>
            <a:off x="822960" y="4096512"/>
            <a:ext cx="4937760" cy="201168"/>
          </a:xfrm>
          <a:prstGeom prst="rect">
            <a:avLst/>
          </a:prstGeom>
          <a:noFill/>
          <a:ln/>
        </p:spPr>
        <p:txBody>
          <a:bodyPr wrap="square" lIns="0" tIns="0" rIns="0" bIns="0" rtlCol="0" anchor="ctr">
            <a:normAutofit/>
          </a:bodyPr>
          <a:lstStyle/>
          <a:p>
            <a:pPr algn="l" indent="0" marL="0">
              <a:buNone/>
            </a:pPr>
            <a:r>
              <a:rPr lang="en-US" sz="860" b="1" spc="90" kern="0" dirty="0">
                <a:solidFill>
                  <a:srgbClr val="F28C52"/>
                </a:solidFill>
                <a:latin typeface="Inter" pitchFamily="34" charset="0"/>
                <a:ea typeface="Inter" pitchFamily="34" charset="-122"/>
                <a:cs typeface="Inter" pitchFamily="34" charset="-120"/>
              </a:rPr>
              <a:t>KUBERNETES + HELM</a:t>
            </a:r>
            <a:endParaRPr lang="en-US" sz="860" dirty="0"/>
          </a:p>
        </p:txBody>
      </p:sp>
      <p:sp>
        <p:nvSpPr>
          <p:cNvPr id="30" name="Text 28">
            <a:hlinkClick r:id="rId13" tooltip=""/>
          </p:cNvPr>
          <p:cNvSpPr txBox="1"/>
          <p:nvPr/>
        </p:nvSpPr>
        <p:spPr>
          <a:xfrm>
            <a:off x="841248" y="4462272"/>
            <a:ext cx="2340864" cy="201168"/>
          </a:xfrm>
          <a:prstGeom prst="rect">
            <a:avLst/>
          </a:prstGeom>
          <a:noFill/>
          <a:ln/>
        </p:spPr>
        <p:txBody>
          <a:bodyPr wrap="square" lIns="0" tIns="0" rIns="0" bIns="0" rtlCol="0" anchor="ctr">
            <a:normAutofit/>
          </a:bodyPr>
          <a:lstStyle/>
          <a:p>
            <a:pPr algn="l" indent="0" marL="0">
              <a:buNone/>
            </a:pPr>
            <a:r>
              <a:rPr lang="en-US" sz="840" u="sng" dirty="0">
                <a:solidFill>
                  <a:srgbClr val="F28C52"/>
                </a:solidFill>
                <a:uFill>
                  <a:solidFill>
                    <a:srgbClr val="F28C52"/>
                  </a:solidFill>
                </a:u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Helm release</a:t>
            </a:r>
            <a:endParaRPr lang="en-US" sz="840" dirty="0"/>
          </a:p>
        </p:txBody>
      </p:sp>
      <p:sp>
        <p:nvSpPr>
          <p:cNvPr id="31" name="Text 29">
            <a:hlinkClick r:id="rId14" tooltip=""/>
          </p:cNvPr>
          <p:cNvSpPr txBox="1"/>
          <p:nvPr/>
        </p:nvSpPr>
        <p:spPr>
          <a:xfrm>
            <a:off x="3493008" y="4462272"/>
            <a:ext cx="2340864" cy="201168"/>
          </a:xfrm>
          <a:prstGeom prst="rect">
            <a:avLst/>
          </a:prstGeom>
          <a:noFill/>
          <a:ln/>
        </p:spPr>
        <p:txBody>
          <a:bodyPr wrap="square" lIns="0" tIns="0" rIns="0" bIns="0" rtlCol="0" anchor="ctr">
            <a:normAutofit/>
          </a:bodyPr>
          <a:lstStyle/>
          <a:p>
            <a:pPr algn="l" indent="0" marL="0">
              <a:buNone/>
            </a:pPr>
            <a:r>
              <a:rPr lang="en-US" sz="840" u="sng" dirty="0">
                <a:solidFill>
                  <a:srgbClr val="F28C52"/>
                </a:solidFill>
                <a:uFill>
                  <a:solidFill>
                    <a:srgbClr val="F28C52"/>
                  </a:solidFill>
                </a:u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Pods / Services</a:t>
            </a:r>
            <a:endParaRPr lang="en-US" sz="840" dirty="0"/>
          </a:p>
        </p:txBody>
      </p:sp>
      <p:sp>
        <p:nvSpPr>
          <p:cNvPr id="32" name="Shape 30"/>
          <p:cNvSpPr/>
          <p:nvPr/>
        </p:nvSpPr>
        <p:spPr>
          <a:xfrm>
            <a:off x="6208776" y="3931920"/>
            <a:ext cx="5349240" cy="1700784"/>
          </a:xfrm>
          <a:prstGeom prst="roundRect">
            <a:avLst>
              <a:gd name="adj" fmla="val 5376"/>
            </a:avLst>
          </a:prstGeom>
          <a:solidFill>
            <a:srgbClr val="FFFFFF"/>
          </a:solidFill>
          <a:ln w="10160">
            <a:solidFill>
              <a:srgbClr val="D9E0EA"/>
            </a:solidFill>
            <a:prstDash val="solid"/>
          </a:ln>
        </p:spPr>
      </p:sp>
      <p:sp>
        <p:nvSpPr>
          <p:cNvPr id="33" name="Shape 31"/>
          <p:cNvSpPr/>
          <p:nvPr/>
        </p:nvSpPr>
        <p:spPr>
          <a:xfrm>
            <a:off x="6208776" y="3931920"/>
            <a:ext cx="5349240" cy="64008"/>
          </a:xfrm>
          <a:prstGeom prst="rect">
            <a:avLst>
              <a:gd name="adj" fmla="val 142857"/>
            </a:avLst>
          </a:prstGeom>
          <a:solidFill>
            <a:srgbClr val="2CA779"/>
          </a:solidFill>
          <a:ln w="10160">
            <a:solidFill>
              <a:srgbClr val="2CA779">
                <a:alpha val="0"/>
              </a:srgbClr>
            </a:solidFill>
            <a:prstDash val="solid"/>
          </a:ln>
        </p:spPr>
      </p:sp>
      <p:sp>
        <p:nvSpPr>
          <p:cNvPr id="34" name="Text 32"/>
          <p:cNvSpPr txBox="1"/>
          <p:nvPr/>
        </p:nvSpPr>
        <p:spPr>
          <a:xfrm>
            <a:off x="6391656" y="4096512"/>
            <a:ext cx="4983480" cy="201168"/>
          </a:xfrm>
          <a:prstGeom prst="rect">
            <a:avLst/>
          </a:prstGeom>
          <a:noFill/>
          <a:ln/>
        </p:spPr>
        <p:txBody>
          <a:bodyPr wrap="square" lIns="0" tIns="0" rIns="0" bIns="0" rtlCol="0" anchor="ctr">
            <a:normAutofit/>
          </a:bodyPr>
          <a:lstStyle/>
          <a:p>
            <a:pPr algn="l" indent="0" marL="0">
              <a:buNone/>
            </a:pPr>
            <a:r>
              <a:rPr lang="en-US" sz="860" b="1" spc="90" kern="0" dirty="0">
                <a:solidFill>
                  <a:srgbClr val="2CA779"/>
                </a:solidFill>
                <a:latin typeface="Inter" pitchFamily="34" charset="0"/>
                <a:ea typeface="Inter" pitchFamily="34" charset="-122"/>
                <a:cs typeface="Inter" pitchFamily="34" charset="-120"/>
              </a:rPr>
              <a:t>METRICS + MONITORING</a:t>
            </a:r>
            <a:endParaRPr lang="en-US" sz="860" dirty="0"/>
          </a:p>
        </p:txBody>
      </p:sp>
      <p:sp>
        <p:nvSpPr>
          <p:cNvPr id="35" name="Text 33">
            <a:hlinkClick r:id="rId15" tooltip=""/>
          </p:cNvPr>
          <p:cNvSpPr txBox="1"/>
          <p:nvPr/>
        </p:nvSpPr>
        <p:spPr>
          <a:xfrm>
            <a:off x="6409944" y="4462272"/>
            <a:ext cx="2363724" cy="201168"/>
          </a:xfrm>
          <a:prstGeom prst="rect">
            <a:avLst/>
          </a:prstGeom>
          <a:noFill/>
          <a:ln/>
        </p:spPr>
        <p:txBody>
          <a:bodyPr wrap="square" lIns="0" tIns="0" rIns="0" bIns="0" rtlCol="0" anchor="ctr">
            <a:normAutofit/>
          </a:bodyPr>
          <a:lstStyle/>
          <a:p>
            <a:pPr algn="l" indent="0" marL="0">
              <a:buNone/>
            </a:pPr>
            <a:r>
              <a:rPr lang="en-US" sz="840" u="sng" dirty="0">
                <a:solidFill>
                  <a:srgbClr val="2CA779"/>
                </a:solidFill>
                <a:uFill>
                  <a:solidFill>
                    <a:srgbClr val="2CA779"/>
                  </a:solidFill>
                </a:uFill>
                <a:latin typeface="Inter" pitchFamily="34" charset="0"/>
                <a:ea typeface="Inter" pitchFamily="34" charset="-122"/>
                <a:cs typeface="Inter"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Metrics</a:t>
            </a:r>
            <a:endParaRPr lang="en-US" sz="840" dirty="0"/>
          </a:p>
        </p:txBody>
      </p:sp>
      <p:sp>
        <p:nvSpPr>
          <p:cNvPr id="36" name="Text 34">
            <a:hlinkClick r:id="rId16" tooltip=""/>
          </p:cNvPr>
          <p:cNvSpPr txBox="1"/>
          <p:nvPr/>
        </p:nvSpPr>
        <p:spPr>
          <a:xfrm>
            <a:off x="9084564" y="4462272"/>
            <a:ext cx="2363724" cy="201168"/>
          </a:xfrm>
          <a:prstGeom prst="rect">
            <a:avLst/>
          </a:prstGeom>
          <a:noFill/>
          <a:ln/>
        </p:spPr>
        <p:txBody>
          <a:bodyPr wrap="square" lIns="0" tIns="0" rIns="0" bIns="0" rtlCol="0" anchor="ctr">
            <a:normAutofit/>
          </a:bodyPr>
          <a:lstStyle/>
          <a:p>
            <a:pPr algn="l" indent="0" marL="0">
              <a:buNone/>
            </a:pPr>
            <a:r>
              <a:rPr lang="en-US" sz="840" u="sng" dirty="0">
                <a:solidFill>
                  <a:srgbClr val="2CA779"/>
                </a:solidFill>
                <a:uFill>
                  <a:solidFill>
                    <a:srgbClr val="2CA779"/>
                  </a:solidFill>
                </a:uFill>
                <a:latin typeface="Inter" pitchFamily="34" charset="0"/>
                <a:ea typeface="Inter" pitchFamily="34" charset="-122"/>
                <a:cs typeface="Inter"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Application metric</a:t>
            </a:r>
            <a:endParaRPr lang="en-US" sz="840" dirty="0"/>
          </a:p>
        </p:txBody>
      </p:sp>
      <p:sp>
        <p:nvSpPr>
          <p:cNvPr id="37" name="Text 35">
            <a:hlinkClick r:id="rId17" tooltip=""/>
          </p:cNvPr>
          <p:cNvSpPr txBox="1"/>
          <p:nvPr/>
        </p:nvSpPr>
        <p:spPr>
          <a:xfrm>
            <a:off x="6409944" y="4901184"/>
            <a:ext cx="2363724" cy="201168"/>
          </a:xfrm>
          <a:prstGeom prst="rect">
            <a:avLst/>
          </a:prstGeom>
          <a:noFill/>
          <a:ln/>
        </p:spPr>
        <p:txBody>
          <a:bodyPr wrap="square" lIns="0" tIns="0" rIns="0" bIns="0" rtlCol="0" anchor="ctr">
            <a:normAutofit/>
          </a:bodyPr>
          <a:lstStyle/>
          <a:p>
            <a:pPr algn="l" indent="0" marL="0">
              <a:buNone/>
            </a:pPr>
            <a:r>
              <a:rPr lang="en-US" sz="840" u="sng" dirty="0">
                <a:solidFill>
                  <a:srgbClr val="2CA779"/>
                </a:solidFill>
                <a:uFill>
                  <a:solidFill>
                    <a:srgbClr val="2CA779"/>
                  </a:solidFill>
                </a:uFill>
                <a:latin typeface="Inter" pitchFamily="34" charset="0"/>
                <a:ea typeface="Inter" pitchFamily="34" charset="-122"/>
                <a:cs typeface="Inter" pitchFamily="34" charset="-120"/>
                <a:hlinkClick r:id="rId17" invalidUrl="" action="" tgtFrame="" tooltip="" history="1" highlightClick="0" endSnd="0">
                  <a:extLst>
                    <a:ext uri="{A12FA001-AC4F-418D-AE19-62706E023703}">
                      <ahyp:hlinkClr xmlns:ahyp="http://schemas.microsoft.com/office/drawing/2018/hyperlinkcolor" val="tx"/>
                    </a:ext>
                  </a:extLst>
                </a:hlinkClick>
              </a:rPr>
              <a:t>↗ ServiceMonitor</a:t>
            </a:r>
            <a:endParaRPr lang="en-US" sz="840" dirty="0"/>
          </a:p>
        </p:txBody>
      </p:sp>
      <p:sp>
        <p:nvSpPr>
          <p:cNvPr id="38" name="Text 36">
            <a:hlinkClick r:id="rId18" tooltip=""/>
          </p:cNvPr>
          <p:cNvSpPr txBox="1"/>
          <p:nvPr/>
        </p:nvSpPr>
        <p:spPr>
          <a:xfrm>
            <a:off x="9084564" y="4901184"/>
            <a:ext cx="2363724" cy="201168"/>
          </a:xfrm>
          <a:prstGeom prst="rect">
            <a:avLst/>
          </a:prstGeom>
          <a:noFill/>
          <a:ln/>
        </p:spPr>
        <p:txBody>
          <a:bodyPr wrap="square" lIns="0" tIns="0" rIns="0" bIns="0" rtlCol="0" anchor="ctr">
            <a:normAutofit/>
          </a:bodyPr>
          <a:lstStyle/>
          <a:p>
            <a:pPr algn="l" indent="0" marL="0">
              <a:buNone/>
            </a:pPr>
            <a:r>
              <a:rPr lang="en-US" sz="840" u="sng" dirty="0">
                <a:solidFill>
                  <a:srgbClr val="2CA779"/>
                </a:solidFill>
                <a:uFill>
                  <a:solidFill>
                    <a:srgbClr val="2CA779"/>
                  </a:solidFill>
                </a:uFill>
                <a:latin typeface="Inter" pitchFamily="34" charset="0"/>
                <a:ea typeface="Inter" pitchFamily="34" charset="-122"/>
                <a:cs typeface="Inter" pitchFamily="34" charset="-120"/>
                <a:hlinkClick r:id="rId18" invalidUrl="" action="" tgtFrame="" tooltip="" history="1" highlightClick="0" endSnd="0">
                  <a:extLst>
                    <a:ext uri="{A12FA001-AC4F-418D-AE19-62706E023703}">
                      <ahyp:hlinkClr xmlns:ahyp="http://schemas.microsoft.com/office/drawing/2018/hyperlinkcolor" val="tx"/>
                    </a:ext>
                  </a:extLst>
                </a:hlinkClick>
              </a:rPr>
              <a:t>↗ Prometheus values/evidence</a:t>
            </a:r>
            <a:endParaRPr lang="en-US" sz="840" dirty="0"/>
          </a:p>
        </p:txBody>
      </p:sp>
      <p:sp>
        <p:nvSpPr>
          <p:cNvPr id="39" name="Text 37"/>
          <p:cNvSpPr txBox="1"/>
          <p:nvPr/>
        </p:nvSpPr>
        <p:spPr>
          <a:xfrm>
            <a:off x="667512" y="6035040"/>
            <a:ext cx="10789920" cy="219456"/>
          </a:xfrm>
          <a:prstGeom prst="rect">
            <a:avLst/>
          </a:prstGeom>
          <a:noFill/>
          <a:ln/>
        </p:spPr>
        <p:txBody>
          <a:bodyPr wrap="square" lIns="0" tIns="0" rIns="0" bIns="0" rtlCol="0" anchor="ctr">
            <a:normAutofit/>
          </a:bodyPr>
          <a:lstStyle/>
          <a:p>
            <a:pPr algn="l" indent="0" marL="0">
              <a:buNone/>
            </a:pPr>
            <a:r>
              <a:rPr lang="en-US" sz="950" i="1" dirty="0">
                <a:solidFill>
                  <a:srgbClr val="5E6B7C"/>
                </a:solidFill>
                <a:latin typeface="Inter" pitchFamily="34" charset="0"/>
                <a:ea typeface="Inter" pitchFamily="34" charset="-122"/>
                <a:cs typeface="Inter" pitchFamily="34" charset="-120"/>
              </a:rPr>
              <a:t>All links open the corresponding repository file. A screenshot is evidence of a captured state—not a real-time health check.</a:t>
            </a:r>
            <a:endParaRPr lang="en-US" sz="95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10  /  VERIFICATION GAPS</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Submission risks to close before recording</a:t>
            </a:r>
            <a:endParaRPr lang="en-US" sz="2400" dirty="0"/>
          </a:p>
        </p:txBody>
      </p:sp>
      <p:sp>
        <p:nvSpPr>
          <p:cNvPr id="5" name="Text 3"/>
          <p:cNvSpPr txBox="1"/>
          <p:nvPr/>
        </p:nvSpPr>
        <p:spPr>
          <a:xfrm>
            <a:off x="612648" y="1225296"/>
            <a:ext cx="10789920" cy="292608"/>
          </a:xfrm>
          <a:prstGeom prst="rect">
            <a:avLst/>
          </a:prstGeom>
          <a:noFill/>
          <a:ln/>
        </p:spPr>
        <p:txBody>
          <a:bodyPr wrap="square" lIns="0" tIns="0" rIns="0" bIns="0" rtlCol="0" anchor="ctr">
            <a:normAutofit/>
          </a:bodyPr>
          <a:lstStyle/>
          <a:p>
            <a:pPr algn="l" indent="0" marL="0">
              <a:buNone/>
            </a:pPr>
            <a:r>
              <a:rPr lang="en-US" sz="1220" dirty="0">
                <a:solidFill>
                  <a:srgbClr val="5E6B7C"/>
                </a:solidFill>
                <a:latin typeface="Inter" pitchFamily="34" charset="0"/>
                <a:ea typeface="Inter" pitchFamily="34" charset="-122"/>
                <a:cs typeface="Inter" pitchFamily="34" charset="-120"/>
              </a:rPr>
              <a:t>The deck and docs should be accurate about what is configured versus what still needs live proof.</a:t>
            </a:r>
            <a:endParaRPr lang="en-US" sz="1220" dirty="0"/>
          </a:p>
        </p:txBody>
      </p:sp>
      <p:sp>
        <p:nvSpPr>
          <p:cNvPr id="6" name="Shape 4"/>
          <p:cNvSpPr/>
          <p:nvPr/>
        </p:nvSpPr>
        <p:spPr>
          <a:xfrm>
            <a:off x="621792" y="1737360"/>
            <a:ext cx="5303520" cy="1399032"/>
          </a:xfrm>
          <a:prstGeom prst="roundRect">
            <a:avLst>
              <a:gd name="adj" fmla="val 6536"/>
            </a:avLst>
          </a:prstGeom>
          <a:solidFill>
            <a:srgbClr val="FFFFFF"/>
          </a:solidFill>
          <a:ln w="10160">
            <a:solidFill>
              <a:srgbClr val="FFFFFF">
                <a:alpha val="0"/>
              </a:srgbClr>
            </a:solidFill>
            <a:prstDash val="solid"/>
          </a:ln>
        </p:spPr>
      </p:sp>
      <p:sp>
        <p:nvSpPr>
          <p:cNvPr id="7" name="Shape 5"/>
          <p:cNvSpPr/>
          <p:nvPr/>
        </p:nvSpPr>
        <p:spPr>
          <a:xfrm>
            <a:off x="621792" y="1737360"/>
            <a:ext cx="59436" cy="1399032"/>
          </a:xfrm>
          <a:prstGeom prst="rect">
            <a:avLst>
              <a:gd name="adj" fmla="val 153846"/>
            </a:avLst>
          </a:prstGeom>
          <a:solidFill>
            <a:srgbClr val="D94B61"/>
          </a:solidFill>
          <a:ln w="10160">
            <a:solidFill>
              <a:srgbClr val="D94B61">
                <a:alpha val="0"/>
              </a:srgbClr>
            </a:solidFill>
            <a:prstDash val="solid"/>
          </a:ln>
        </p:spPr>
      </p:sp>
      <p:sp>
        <p:nvSpPr>
          <p:cNvPr id="8" name="Shape 6"/>
          <p:cNvSpPr/>
          <p:nvPr/>
        </p:nvSpPr>
        <p:spPr>
          <a:xfrm>
            <a:off x="822960" y="1901952"/>
            <a:ext cx="868680" cy="256032"/>
          </a:xfrm>
          <a:prstGeom prst="roundRect">
            <a:avLst>
              <a:gd name="adj" fmla="val 35714"/>
            </a:avLst>
          </a:prstGeom>
          <a:solidFill>
            <a:srgbClr val="FCE9ED"/>
          </a:solidFill>
          <a:ln w="10160">
            <a:solidFill>
              <a:srgbClr val="FCE9ED">
                <a:alpha val="0"/>
              </a:srgbClr>
            </a:solidFill>
            <a:prstDash val="solid"/>
          </a:ln>
        </p:spPr>
      </p:sp>
      <p:sp>
        <p:nvSpPr>
          <p:cNvPr id="9" name="Text 7"/>
          <p:cNvSpPr txBox="1"/>
          <p:nvPr/>
        </p:nvSpPr>
        <p:spPr>
          <a:xfrm>
            <a:off x="905256" y="1915668"/>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D94B61"/>
                </a:solidFill>
                <a:latin typeface="Inter" pitchFamily="34" charset="0"/>
                <a:ea typeface="Inter" pitchFamily="34" charset="-122"/>
                <a:cs typeface="Inter" pitchFamily="34" charset="-120"/>
              </a:rPr>
              <a:t>GAP</a:t>
            </a:r>
            <a:endParaRPr lang="en-US" sz="770" dirty="0"/>
          </a:p>
        </p:txBody>
      </p:sp>
      <p:sp>
        <p:nvSpPr>
          <p:cNvPr id="10" name="Text 8"/>
          <p:cNvSpPr txBox="1"/>
          <p:nvPr/>
        </p:nvSpPr>
        <p:spPr>
          <a:xfrm>
            <a:off x="822960" y="2176272"/>
            <a:ext cx="4919472"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ArgoCD in the video rubric</a:t>
            </a:r>
            <a:endParaRPr lang="en-US" sz="1400" dirty="0"/>
          </a:p>
        </p:txBody>
      </p:sp>
      <p:sp>
        <p:nvSpPr>
          <p:cNvPr id="11" name="Text 9"/>
          <p:cNvSpPr txBox="1"/>
          <p:nvPr/>
        </p:nvSpPr>
        <p:spPr>
          <a:xfrm>
            <a:off x="822960" y="2505456"/>
            <a:ext cx="4910328" cy="557784"/>
          </a:xfrm>
          <a:prstGeom prst="rect">
            <a:avLst/>
          </a:prstGeom>
          <a:noFill/>
          <a:ln/>
        </p:spPr>
        <p:txBody>
          <a:bodyPr wrap="square" lIns="0" tIns="0" rIns="0" bIns="0" rtlCol="0" anchor="t">
            <a:normAutofit/>
          </a:bodyPr>
          <a:lstStyle/>
          <a:p>
            <a:pPr algn="l" indent="0" marL="0">
              <a:buNone/>
            </a:pPr>
            <a:r>
              <a:rPr lang="en-US" sz="1020" dirty="0">
                <a:solidFill>
                  <a:srgbClr val="5E6B7C"/>
                </a:solidFill>
                <a:latin typeface="Inter" pitchFamily="34" charset="0"/>
                <a:ea typeface="Inter" pitchFamily="34" charset="-122"/>
                <a:cs typeface="Inter" pitchFamily="34" charset="-120"/>
              </a:rPr>
              <a:t>The submission instructions explicitly request a synced application / GitOps walkthrough. No ArgoCD configuration is documented in the repo tree/docs inspected. Configure it and show real sync status, or resolve the expectation with the instructor.</a:t>
            </a:r>
            <a:endParaRPr lang="en-US" sz="1020" dirty="0"/>
          </a:p>
        </p:txBody>
      </p:sp>
      <p:sp>
        <p:nvSpPr>
          <p:cNvPr id="12" name="Shape 10"/>
          <p:cNvSpPr/>
          <p:nvPr/>
        </p:nvSpPr>
        <p:spPr>
          <a:xfrm>
            <a:off x="6199632" y="1737360"/>
            <a:ext cx="5340096" cy="1399032"/>
          </a:xfrm>
          <a:prstGeom prst="roundRect">
            <a:avLst>
              <a:gd name="adj" fmla="val 6536"/>
            </a:avLst>
          </a:prstGeom>
          <a:solidFill>
            <a:srgbClr val="FFFFFF"/>
          </a:solidFill>
          <a:ln w="10160">
            <a:solidFill>
              <a:srgbClr val="FFFFFF">
                <a:alpha val="0"/>
              </a:srgbClr>
            </a:solidFill>
            <a:prstDash val="solid"/>
          </a:ln>
        </p:spPr>
      </p:sp>
      <p:sp>
        <p:nvSpPr>
          <p:cNvPr id="13" name="Shape 11"/>
          <p:cNvSpPr/>
          <p:nvPr/>
        </p:nvSpPr>
        <p:spPr>
          <a:xfrm>
            <a:off x="6199632" y="1737360"/>
            <a:ext cx="59436" cy="1399032"/>
          </a:xfrm>
          <a:prstGeom prst="rect">
            <a:avLst>
              <a:gd name="adj" fmla="val 153846"/>
            </a:avLst>
          </a:prstGeom>
          <a:solidFill>
            <a:srgbClr val="F28C52"/>
          </a:solidFill>
          <a:ln w="10160">
            <a:solidFill>
              <a:srgbClr val="F28C52">
                <a:alpha val="0"/>
              </a:srgbClr>
            </a:solidFill>
            <a:prstDash val="solid"/>
          </a:ln>
        </p:spPr>
      </p:sp>
      <p:sp>
        <p:nvSpPr>
          <p:cNvPr id="14" name="Shape 12"/>
          <p:cNvSpPr/>
          <p:nvPr/>
        </p:nvSpPr>
        <p:spPr>
          <a:xfrm>
            <a:off x="6400800" y="1901952"/>
            <a:ext cx="868680" cy="256032"/>
          </a:xfrm>
          <a:prstGeom prst="roundRect">
            <a:avLst>
              <a:gd name="adj" fmla="val 35714"/>
            </a:avLst>
          </a:prstGeom>
          <a:solidFill>
            <a:srgbClr val="FFF0E7"/>
          </a:solidFill>
          <a:ln w="10160">
            <a:solidFill>
              <a:srgbClr val="FFF0E7">
                <a:alpha val="0"/>
              </a:srgbClr>
            </a:solidFill>
            <a:prstDash val="solid"/>
          </a:ln>
        </p:spPr>
      </p:sp>
      <p:sp>
        <p:nvSpPr>
          <p:cNvPr id="15" name="Text 13"/>
          <p:cNvSpPr txBox="1"/>
          <p:nvPr/>
        </p:nvSpPr>
        <p:spPr>
          <a:xfrm>
            <a:off x="6483096" y="1915668"/>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F28C52"/>
                </a:solidFill>
                <a:latin typeface="Inter" pitchFamily="34" charset="0"/>
                <a:ea typeface="Inter" pitchFamily="34" charset="-122"/>
                <a:cs typeface="Inter" pitchFamily="34" charset="-120"/>
              </a:rPr>
              <a:t>CAPACITY</a:t>
            </a:r>
            <a:endParaRPr lang="en-US" sz="770" dirty="0"/>
          </a:p>
        </p:txBody>
      </p:sp>
      <p:sp>
        <p:nvSpPr>
          <p:cNvPr id="16" name="Text 14"/>
          <p:cNvSpPr txBox="1"/>
          <p:nvPr/>
        </p:nvSpPr>
        <p:spPr>
          <a:xfrm>
            <a:off x="6400800" y="2176272"/>
            <a:ext cx="4956048"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Replica target</a:t>
            </a:r>
            <a:endParaRPr lang="en-US" sz="1400" dirty="0"/>
          </a:p>
        </p:txBody>
      </p:sp>
      <p:sp>
        <p:nvSpPr>
          <p:cNvPr id="17" name="Text 15"/>
          <p:cNvSpPr txBox="1"/>
          <p:nvPr/>
        </p:nvSpPr>
        <p:spPr>
          <a:xfrm>
            <a:off x="6400800" y="2505456"/>
            <a:ext cx="4946904" cy="557784"/>
          </a:xfrm>
          <a:prstGeom prst="rect">
            <a:avLst/>
          </a:prstGeom>
          <a:noFill/>
          <a:ln/>
        </p:spPr>
        <p:txBody>
          <a:bodyPr wrap="square" lIns="0" tIns="0" rIns="0" bIns="0" rtlCol="0" anchor="t">
            <a:normAutofit/>
          </a:bodyPr>
          <a:lstStyle/>
          <a:p>
            <a:pPr algn="l" indent="0" marL="0">
              <a:buNone/>
            </a:pPr>
            <a:r>
              <a:rPr lang="en-US" sz="1020" dirty="0">
                <a:solidFill>
                  <a:srgbClr val="5E6B7C"/>
                </a:solidFill>
                <a:latin typeface="Inter" pitchFamily="34" charset="0"/>
                <a:ea typeface="Inter" pitchFamily="34" charset="-122"/>
                <a:cs typeface="Inter" pitchFamily="34" charset="-120"/>
              </a:rPr>
              <a:t>The documented development values use one replica. The rubric asks for at least two frontend and two backend replicas. Select values and node capacity that support the target, then verify live pod counts.</a:t>
            </a:r>
            <a:endParaRPr lang="en-US" sz="1020" dirty="0"/>
          </a:p>
        </p:txBody>
      </p:sp>
      <p:sp>
        <p:nvSpPr>
          <p:cNvPr id="18" name="Shape 16"/>
          <p:cNvSpPr/>
          <p:nvPr/>
        </p:nvSpPr>
        <p:spPr>
          <a:xfrm>
            <a:off x="621792" y="3410712"/>
            <a:ext cx="5303520" cy="1399032"/>
          </a:xfrm>
          <a:prstGeom prst="roundRect">
            <a:avLst>
              <a:gd name="adj" fmla="val 6536"/>
            </a:avLst>
          </a:prstGeom>
          <a:solidFill>
            <a:srgbClr val="FFFFFF"/>
          </a:solidFill>
          <a:ln w="10160">
            <a:solidFill>
              <a:srgbClr val="FFFFFF">
                <a:alpha val="0"/>
              </a:srgbClr>
            </a:solidFill>
            <a:prstDash val="solid"/>
          </a:ln>
        </p:spPr>
      </p:sp>
      <p:sp>
        <p:nvSpPr>
          <p:cNvPr id="19" name="Shape 17"/>
          <p:cNvSpPr/>
          <p:nvPr/>
        </p:nvSpPr>
        <p:spPr>
          <a:xfrm>
            <a:off x="621792" y="3410712"/>
            <a:ext cx="59436" cy="1399032"/>
          </a:xfrm>
          <a:prstGeom prst="rect">
            <a:avLst>
              <a:gd name="adj" fmla="val 153846"/>
            </a:avLst>
          </a:prstGeom>
          <a:solidFill>
            <a:srgbClr val="8467E8"/>
          </a:solidFill>
          <a:ln w="10160">
            <a:solidFill>
              <a:srgbClr val="8467E8">
                <a:alpha val="0"/>
              </a:srgbClr>
            </a:solidFill>
            <a:prstDash val="solid"/>
          </a:ln>
        </p:spPr>
      </p:sp>
      <p:sp>
        <p:nvSpPr>
          <p:cNvPr id="20" name="Shape 18"/>
          <p:cNvSpPr/>
          <p:nvPr/>
        </p:nvSpPr>
        <p:spPr>
          <a:xfrm>
            <a:off x="822960" y="3575304"/>
            <a:ext cx="868680" cy="256032"/>
          </a:xfrm>
          <a:prstGeom prst="roundRect">
            <a:avLst>
              <a:gd name="adj" fmla="val 35714"/>
            </a:avLst>
          </a:prstGeom>
          <a:solidFill>
            <a:srgbClr val="F0ECFF"/>
          </a:solidFill>
          <a:ln w="10160">
            <a:solidFill>
              <a:srgbClr val="F0ECFF">
                <a:alpha val="0"/>
              </a:srgbClr>
            </a:solidFill>
            <a:prstDash val="solid"/>
          </a:ln>
        </p:spPr>
      </p:sp>
      <p:sp>
        <p:nvSpPr>
          <p:cNvPr id="21" name="Text 19"/>
          <p:cNvSpPr txBox="1"/>
          <p:nvPr/>
        </p:nvSpPr>
        <p:spPr>
          <a:xfrm>
            <a:off x="905256" y="3589020"/>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8467E8"/>
                </a:solidFill>
                <a:latin typeface="Inter" pitchFamily="34" charset="0"/>
                <a:ea typeface="Inter" pitchFamily="34" charset="-122"/>
                <a:cs typeface="Inter" pitchFamily="34" charset="-120"/>
              </a:rPr>
              <a:t>EVIDENCE</a:t>
            </a:r>
            <a:endParaRPr lang="en-US" sz="770" dirty="0"/>
          </a:p>
        </p:txBody>
      </p:sp>
      <p:sp>
        <p:nvSpPr>
          <p:cNvPr id="22" name="Text 20"/>
          <p:cNvSpPr txBox="1"/>
          <p:nvPr/>
        </p:nvSpPr>
        <p:spPr>
          <a:xfrm>
            <a:off x="822960" y="3849624"/>
            <a:ext cx="4919472"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Prometheus + Grafana screenshots</a:t>
            </a:r>
            <a:endParaRPr lang="en-US" sz="1400" dirty="0"/>
          </a:p>
        </p:txBody>
      </p:sp>
      <p:sp>
        <p:nvSpPr>
          <p:cNvPr id="23" name="Text 21"/>
          <p:cNvSpPr txBox="1"/>
          <p:nvPr/>
        </p:nvSpPr>
        <p:spPr>
          <a:xfrm>
            <a:off x="822960" y="4178808"/>
            <a:ext cx="4910328" cy="557784"/>
          </a:xfrm>
          <a:prstGeom prst="rect">
            <a:avLst/>
          </a:prstGeom>
          <a:noFill/>
          <a:ln/>
        </p:spPr>
        <p:txBody>
          <a:bodyPr wrap="square" lIns="0" tIns="0" rIns="0" bIns="0" rtlCol="0" anchor="t">
            <a:normAutofit/>
          </a:bodyPr>
          <a:lstStyle/>
          <a:p>
            <a:pPr algn="l" indent="0" marL="0">
              <a:buNone/>
            </a:pPr>
            <a:r>
              <a:rPr lang="en-US" sz="1020" dirty="0">
                <a:solidFill>
                  <a:srgbClr val="5E6B7C"/>
                </a:solidFill>
                <a:latin typeface="Inter" pitchFamily="34" charset="0"/>
                <a:ea typeface="Inter" pitchFamily="34" charset="-122"/>
                <a:cs typeface="Inter" pitchFamily="34" charset="-120"/>
              </a:rPr>
              <a:t>The evidence index names metrics and ServiceMonitor files, but a dedicated Targets page showing UP and a populated Grafana panel should be checked or captured explicitly.</a:t>
            </a:r>
            <a:endParaRPr lang="en-US" sz="1020" dirty="0"/>
          </a:p>
        </p:txBody>
      </p:sp>
      <p:sp>
        <p:nvSpPr>
          <p:cNvPr id="24" name="Shape 22"/>
          <p:cNvSpPr/>
          <p:nvPr/>
        </p:nvSpPr>
        <p:spPr>
          <a:xfrm>
            <a:off x="6199632" y="3410712"/>
            <a:ext cx="5340096" cy="1399032"/>
          </a:xfrm>
          <a:prstGeom prst="roundRect">
            <a:avLst>
              <a:gd name="adj" fmla="val 6536"/>
            </a:avLst>
          </a:prstGeom>
          <a:solidFill>
            <a:srgbClr val="FFFFFF"/>
          </a:solidFill>
          <a:ln w="10160">
            <a:solidFill>
              <a:srgbClr val="FFFFFF">
                <a:alpha val="0"/>
              </a:srgbClr>
            </a:solidFill>
            <a:prstDash val="solid"/>
          </a:ln>
        </p:spPr>
      </p:sp>
      <p:sp>
        <p:nvSpPr>
          <p:cNvPr id="25" name="Shape 23"/>
          <p:cNvSpPr/>
          <p:nvPr/>
        </p:nvSpPr>
        <p:spPr>
          <a:xfrm>
            <a:off x="6199632" y="3410712"/>
            <a:ext cx="59436" cy="1399032"/>
          </a:xfrm>
          <a:prstGeom prst="rect">
            <a:avLst>
              <a:gd name="adj" fmla="val 153846"/>
            </a:avLst>
          </a:prstGeom>
          <a:solidFill>
            <a:srgbClr val="3478F6"/>
          </a:solidFill>
          <a:ln w="10160">
            <a:solidFill>
              <a:srgbClr val="3478F6">
                <a:alpha val="0"/>
              </a:srgbClr>
            </a:solidFill>
            <a:prstDash val="solid"/>
          </a:ln>
        </p:spPr>
      </p:sp>
      <p:sp>
        <p:nvSpPr>
          <p:cNvPr id="26" name="Shape 24"/>
          <p:cNvSpPr/>
          <p:nvPr/>
        </p:nvSpPr>
        <p:spPr>
          <a:xfrm>
            <a:off x="6400800" y="3575304"/>
            <a:ext cx="868680" cy="256032"/>
          </a:xfrm>
          <a:prstGeom prst="roundRect">
            <a:avLst>
              <a:gd name="adj" fmla="val 35714"/>
            </a:avLst>
          </a:prstGeom>
          <a:solidFill>
            <a:srgbClr val="EAF1FF"/>
          </a:solidFill>
          <a:ln w="10160">
            <a:solidFill>
              <a:srgbClr val="EAF1FF">
                <a:alpha val="0"/>
              </a:srgbClr>
            </a:solidFill>
            <a:prstDash val="solid"/>
          </a:ln>
        </p:spPr>
      </p:sp>
      <p:sp>
        <p:nvSpPr>
          <p:cNvPr id="27" name="Text 25"/>
          <p:cNvSpPr txBox="1"/>
          <p:nvPr/>
        </p:nvSpPr>
        <p:spPr>
          <a:xfrm>
            <a:off x="6483096" y="3589020"/>
            <a:ext cx="70408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SCOPE</a:t>
            </a:r>
            <a:endParaRPr lang="en-US" sz="770" dirty="0"/>
          </a:p>
        </p:txBody>
      </p:sp>
      <p:sp>
        <p:nvSpPr>
          <p:cNvPr id="28" name="Text 26"/>
          <p:cNvSpPr txBox="1"/>
          <p:nvPr/>
        </p:nvSpPr>
        <p:spPr>
          <a:xfrm>
            <a:off x="6400800" y="3849624"/>
            <a:ext cx="4956048" cy="310896"/>
          </a:xfrm>
          <a:prstGeom prst="rect">
            <a:avLst/>
          </a:prstGeom>
          <a:noFill/>
          <a:ln/>
        </p:spPr>
        <p:txBody>
          <a:bodyPr wrap="square" lIns="0" tIns="0" rIns="0" bIns="0" rtlCol="0" anchor="ctr">
            <a:normAutofit/>
          </a:bodyPr>
          <a:lstStyle/>
          <a:p>
            <a:pPr algn="l" indent="0" marL="0">
              <a:buNone/>
            </a:pPr>
            <a:r>
              <a:rPr lang="en-US" sz="1400" b="1" dirty="0">
                <a:solidFill>
                  <a:srgbClr val="172337"/>
                </a:solidFill>
                <a:latin typeface="Inter" pitchFamily="34" charset="0"/>
                <a:ea typeface="Inter" pitchFamily="34" charset="-122"/>
                <a:cs typeface="Inter" pitchFamily="34" charset="-120"/>
              </a:rPr>
              <a:t>CI/CD is not Kubernetes auto-deploy</a:t>
            </a:r>
            <a:endParaRPr lang="en-US" sz="1400" dirty="0"/>
          </a:p>
        </p:txBody>
      </p:sp>
      <p:sp>
        <p:nvSpPr>
          <p:cNvPr id="29" name="Text 27"/>
          <p:cNvSpPr txBox="1"/>
          <p:nvPr/>
        </p:nvSpPr>
        <p:spPr>
          <a:xfrm>
            <a:off x="6400800" y="4178808"/>
            <a:ext cx="4946904" cy="557784"/>
          </a:xfrm>
          <a:prstGeom prst="rect">
            <a:avLst/>
          </a:prstGeom>
          <a:noFill/>
          <a:ln/>
        </p:spPr>
        <p:txBody>
          <a:bodyPr wrap="square" lIns="0" tIns="0" rIns="0" bIns="0" rtlCol="0" anchor="t">
            <a:normAutofit/>
          </a:bodyPr>
          <a:lstStyle/>
          <a:p>
            <a:pPr algn="l" indent="0" marL="0">
              <a:buNone/>
            </a:pPr>
            <a:r>
              <a:rPr lang="en-US" sz="1020" dirty="0">
                <a:solidFill>
                  <a:srgbClr val="5E6B7C"/>
                </a:solidFill>
                <a:latin typeface="Inter" pitchFamily="34" charset="0"/>
                <a:ea typeface="Inter" pitchFamily="34" charset="-122"/>
                <a:cs typeface="Inter" pitchFamily="34" charset="-120"/>
              </a:rPr>
              <a:t>The documented workflow publishes SHA-tagged images to GHCR. Helm is described as a separate release step after EKS is available; do not narrate automatic deployment unless the pipeline actually performs it.</a:t>
            </a:r>
            <a:endParaRPr lang="en-US" sz="1020" dirty="0"/>
          </a:p>
        </p:txBody>
      </p:sp>
      <p:sp>
        <p:nvSpPr>
          <p:cNvPr id="30" name="Shape 28"/>
          <p:cNvSpPr/>
          <p:nvPr/>
        </p:nvSpPr>
        <p:spPr>
          <a:xfrm>
            <a:off x="640080" y="5230368"/>
            <a:ext cx="10899648" cy="667512"/>
          </a:xfrm>
          <a:prstGeom prst="roundRect">
            <a:avLst>
              <a:gd name="adj" fmla="val 13699"/>
            </a:avLst>
          </a:prstGeom>
          <a:solidFill>
            <a:srgbClr val="101B2D"/>
          </a:solidFill>
          <a:ln w="10160">
            <a:solidFill>
              <a:srgbClr val="101B2D">
                <a:alpha val="0"/>
              </a:srgbClr>
            </a:solidFill>
            <a:prstDash val="solid"/>
          </a:ln>
        </p:spPr>
      </p:sp>
      <p:sp>
        <p:nvSpPr>
          <p:cNvPr id="31" name="Text 29"/>
          <p:cNvSpPr txBox="1"/>
          <p:nvPr/>
        </p:nvSpPr>
        <p:spPr>
          <a:xfrm>
            <a:off x="886968" y="5449824"/>
            <a:ext cx="1874520" cy="219456"/>
          </a:xfrm>
          <a:prstGeom prst="rect">
            <a:avLst/>
          </a:prstGeom>
          <a:noFill/>
          <a:ln/>
        </p:spPr>
        <p:txBody>
          <a:bodyPr wrap="square" lIns="0" tIns="0" rIns="0" bIns="0" rtlCol="0" anchor="ctr">
            <a:normAutofit/>
          </a:bodyPr>
          <a:lstStyle/>
          <a:p>
            <a:pPr algn="l" indent="0" marL="0">
              <a:buNone/>
            </a:pPr>
            <a:r>
              <a:rPr lang="en-US" sz="1070" b="1" dirty="0">
                <a:solidFill>
                  <a:srgbClr val="0FBAA6"/>
                </a:solidFill>
                <a:latin typeface="Inter" pitchFamily="34" charset="0"/>
                <a:ea typeface="Inter" pitchFamily="34" charset="-122"/>
                <a:cs typeface="Inter" pitchFamily="34" charset="-120"/>
              </a:rPr>
              <a:t>Rule for the final demo</a:t>
            </a:r>
            <a:endParaRPr lang="en-US" sz="1070" dirty="0"/>
          </a:p>
        </p:txBody>
      </p:sp>
      <p:sp>
        <p:nvSpPr>
          <p:cNvPr id="32" name="Text 30"/>
          <p:cNvSpPr txBox="1"/>
          <p:nvPr/>
        </p:nvSpPr>
        <p:spPr>
          <a:xfrm>
            <a:off x="2770632" y="5449824"/>
            <a:ext cx="8211312" cy="219456"/>
          </a:xfrm>
          <a:prstGeom prst="rect">
            <a:avLst/>
          </a:prstGeom>
          <a:noFill/>
          <a:ln/>
        </p:spPr>
        <p:txBody>
          <a:bodyPr wrap="square" lIns="0" tIns="0" rIns="0" bIns="0" rtlCol="0" anchor="ctr">
            <a:normAutofit/>
          </a:bodyPr>
          <a:lstStyle/>
          <a:p>
            <a:pPr algn="l" indent="0" marL="0">
              <a:buNone/>
            </a:pPr>
            <a:r>
              <a:rPr lang="en-US" sz="1110" dirty="0">
                <a:solidFill>
                  <a:srgbClr val="FFFFFF"/>
                </a:solidFill>
                <a:latin typeface="Inter" pitchFamily="34" charset="0"/>
                <a:ea typeface="Inter" pitchFamily="34" charset="-122"/>
                <a:cs typeface="Inter" pitchFamily="34" charset="-120"/>
              </a:rPr>
              <a:t>Show real output, state limitations plainly, and capture any missing evidence before upload.</a:t>
            </a:r>
            <a:endParaRPr lang="en-US" sz="111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2024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75564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11  /  KEY LEARNINGS</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Key learnings: reliable delivery is a chain of controls</a:t>
            </a:r>
            <a:endParaRPr lang="en-US" sz="2400" dirty="0"/>
          </a:p>
        </p:txBody>
      </p:sp>
      <p:sp>
        <p:nvSpPr>
          <p:cNvPr id="5" name="Shape 3"/>
          <p:cNvSpPr/>
          <p:nvPr/>
        </p:nvSpPr>
        <p:spPr>
          <a:xfrm>
            <a:off x="640080" y="1618488"/>
            <a:ext cx="10908792" cy="749808"/>
          </a:xfrm>
          <a:prstGeom prst="roundRect">
            <a:avLst>
              <a:gd name="adj" fmla="val 12195"/>
            </a:avLst>
          </a:prstGeom>
          <a:solidFill>
            <a:srgbClr val="FFFFFF"/>
          </a:solidFill>
          <a:ln w="10160">
            <a:solidFill>
              <a:srgbClr val="D9E0EA"/>
            </a:solidFill>
            <a:prstDash val="solid"/>
          </a:ln>
        </p:spPr>
      </p:sp>
      <p:sp>
        <p:nvSpPr>
          <p:cNvPr id="6" name="Shape 4"/>
          <p:cNvSpPr/>
          <p:nvPr/>
        </p:nvSpPr>
        <p:spPr>
          <a:xfrm>
            <a:off x="804672" y="1773936"/>
            <a:ext cx="438912" cy="438912"/>
          </a:xfrm>
          <a:prstGeom prst="roundRect">
            <a:avLst>
              <a:gd name="adj" fmla="val 20833"/>
            </a:avLst>
          </a:prstGeom>
          <a:solidFill>
            <a:srgbClr val="3478F6"/>
          </a:solidFill>
          <a:ln w="10160">
            <a:solidFill>
              <a:srgbClr val="3478F6">
                <a:alpha val="0"/>
              </a:srgbClr>
            </a:solidFill>
            <a:prstDash val="solid"/>
          </a:ln>
        </p:spPr>
      </p:sp>
      <p:sp>
        <p:nvSpPr>
          <p:cNvPr id="7" name="Text 5"/>
          <p:cNvSpPr txBox="1"/>
          <p:nvPr/>
        </p:nvSpPr>
        <p:spPr>
          <a:xfrm>
            <a:off x="813816" y="1792224"/>
            <a:ext cx="420624" cy="3931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01</a:t>
            </a:r>
            <a:endParaRPr lang="en-US" sz="1000" dirty="0"/>
          </a:p>
        </p:txBody>
      </p:sp>
      <p:sp>
        <p:nvSpPr>
          <p:cNvPr id="8" name="Text 6"/>
          <p:cNvSpPr txBox="1"/>
          <p:nvPr/>
        </p:nvSpPr>
        <p:spPr>
          <a:xfrm>
            <a:off x="1463040" y="1737360"/>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Inter" pitchFamily="34" charset="0"/>
                <a:ea typeface="Inter" pitchFamily="34" charset="-122"/>
                <a:cs typeface="Inter" pitchFamily="34" charset="-120"/>
              </a:rPr>
              <a:t>Reproducibility</a:t>
            </a:r>
            <a:endParaRPr lang="en-US" sz="1200" dirty="0"/>
          </a:p>
        </p:txBody>
      </p:sp>
      <p:sp>
        <p:nvSpPr>
          <p:cNvPr id="9" name="Text 7"/>
          <p:cNvSpPr txBox="1"/>
          <p:nvPr/>
        </p:nvSpPr>
        <p:spPr>
          <a:xfrm>
            <a:off x="3730752" y="1737360"/>
            <a:ext cx="7351776" cy="429768"/>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Compose localizes setup; Terraform and Helm turn environment state into reviewable configuration.</a:t>
            </a:r>
            <a:endParaRPr lang="en-US" sz="1040" dirty="0"/>
          </a:p>
        </p:txBody>
      </p:sp>
      <p:sp>
        <p:nvSpPr>
          <p:cNvPr id="10" name="Shape 8"/>
          <p:cNvSpPr/>
          <p:nvPr/>
        </p:nvSpPr>
        <p:spPr>
          <a:xfrm>
            <a:off x="640080" y="2606040"/>
            <a:ext cx="10908792" cy="749808"/>
          </a:xfrm>
          <a:prstGeom prst="roundRect">
            <a:avLst>
              <a:gd name="adj" fmla="val 12195"/>
            </a:avLst>
          </a:prstGeom>
          <a:solidFill>
            <a:srgbClr val="FFFFFF"/>
          </a:solidFill>
          <a:ln w="10160">
            <a:solidFill>
              <a:srgbClr val="D9E0EA"/>
            </a:solidFill>
            <a:prstDash val="solid"/>
          </a:ln>
        </p:spPr>
      </p:sp>
      <p:sp>
        <p:nvSpPr>
          <p:cNvPr id="11" name="Shape 9"/>
          <p:cNvSpPr/>
          <p:nvPr/>
        </p:nvSpPr>
        <p:spPr>
          <a:xfrm>
            <a:off x="804672" y="2761488"/>
            <a:ext cx="438912" cy="438912"/>
          </a:xfrm>
          <a:prstGeom prst="roundRect">
            <a:avLst>
              <a:gd name="adj" fmla="val 20833"/>
            </a:avLst>
          </a:prstGeom>
          <a:solidFill>
            <a:srgbClr val="0FBAA6"/>
          </a:solidFill>
          <a:ln w="10160">
            <a:solidFill>
              <a:srgbClr val="0FBAA6">
                <a:alpha val="0"/>
              </a:srgbClr>
            </a:solidFill>
            <a:prstDash val="solid"/>
          </a:ln>
        </p:spPr>
      </p:sp>
      <p:sp>
        <p:nvSpPr>
          <p:cNvPr id="12" name="Text 10"/>
          <p:cNvSpPr txBox="1"/>
          <p:nvPr/>
        </p:nvSpPr>
        <p:spPr>
          <a:xfrm>
            <a:off x="813816" y="2779776"/>
            <a:ext cx="420624" cy="3931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02</a:t>
            </a:r>
            <a:endParaRPr lang="en-US" sz="1000" dirty="0"/>
          </a:p>
        </p:txBody>
      </p:sp>
      <p:sp>
        <p:nvSpPr>
          <p:cNvPr id="13" name="Text 11"/>
          <p:cNvSpPr txBox="1"/>
          <p:nvPr/>
        </p:nvSpPr>
        <p:spPr>
          <a:xfrm>
            <a:off x="1463040" y="2724912"/>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Inter" pitchFamily="34" charset="0"/>
                <a:ea typeface="Inter" pitchFamily="34" charset="-122"/>
                <a:cs typeface="Inter" pitchFamily="34" charset="-120"/>
              </a:rPr>
              <a:t>Fast feedback</a:t>
            </a:r>
            <a:endParaRPr lang="en-US" sz="1200" dirty="0"/>
          </a:p>
        </p:txBody>
      </p:sp>
      <p:sp>
        <p:nvSpPr>
          <p:cNvPr id="14" name="Text 12"/>
          <p:cNvSpPr txBox="1"/>
          <p:nvPr/>
        </p:nvSpPr>
        <p:spPr>
          <a:xfrm>
            <a:off x="3730752" y="2724912"/>
            <a:ext cx="7351776" cy="429768"/>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Tests and the frontend build run before release artifacts are published.</a:t>
            </a:r>
            <a:endParaRPr lang="en-US" sz="1040" dirty="0"/>
          </a:p>
        </p:txBody>
      </p:sp>
      <p:sp>
        <p:nvSpPr>
          <p:cNvPr id="15" name="Shape 13"/>
          <p:cNvSpPr/>
          <p:nvPr/>
        </p:nvSpPr>
        <p:spPr>
          <a:xfrm>
            <a:off x="640080" y="3593592"/>
            <a:ext cx="10908792" cy="749808"/>
          </a:xfrm>
          <a:prstGeom prst="roundRect">
            <a:avLst>
              <a:gd name="adj" fmla="val 12195"/>
            </a:avLst>
          </a:prstGeom>
          <a:solidFill>
            <a:srgbClr val="FFFFFF"/>
          </a:solidFill>
          <a:ln w="10160">
            <a:solidFill>
              <a:srgbClr val="D9E0EA"/>
            </a:solidFill>
            <a:prstDash val="solid"/>
          </a:ln>
        </p:spPr>
      </p:sp>
      <p:sp>
        <p:nvSpPr>
          <p:cNvPr id="16" name="Shape 14"/>
          <p:cNvSpPr/>
          <p:nvPr/>
        </p:nvSpPr>
        <p:spPr>
          <a:xfrm>
            <a:off x="804672" y="3749040"/>
            <a:ext cx="438912" cy="438912"/>
          </a:xfrm>
          <a:prstGeom prst="roundRect">
            <a:avLst>
              <a:gd name="adj" fmla="val 20833"/>
            </a:avLst>
          </a:prstGeom>
          <a:solidFill>
            <a:srgbClr val="F28C52"/>
          </a:solidFill>
          <a:ln w="10160">
            <a:solidFill>
              <a:srgbClr val="F28C52">
                <a:alpha val="0"/>
              </a:srgbClr>
            </a:solidFill>
            <a:prstDash val="solid"/>
          </a:ln>
        </p:spPr>
      </p:sp>
      <p:sp>
        <p:nvSpPr>
          <p:cNvPr id="17" name="Text 15"/>
          <p:cNvSpPr txBox="1"/>
          <p:nvPr/>
        </p:nvSpPr>
        <p:spPr>
          <a:xfrm>
            <a:off x="813816" y="3767328"/>
            <a:ext cx="420624" cy="3931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03</a:t>
            </a:r>
            <a:endParaRPr lang="en-US" sz="1000" dirty="0"/>
          </a:p>
        </p:txBody>
      </p:sp>
      <p:sp>
        <p:nvSpPr>
          <p:cNvPr id="18" name="Text 16"/>
          <p:cNvSpPr txBox="1"/>
          <p:nvPr/>
        </p:nvSpPr>
        <p:spPr>
          <a:xfrm>
            <a:off x="1463040" y="3712464"/>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Inter" pitchFamily="34" charset="0"/>
                <a:ea typeface="Inter" pitchFamily="34" charset="-122"/>
                <a:cs typeface="Inter" pitchFamily="34" charset="-120"/>
              </a:rPr>
              <a:t>Traceability + security</a:t>
            </a:r>
            <a:endParaRPr lang="en-US" sz="1200" dirty="0"/>
          </a:p>
        </p:txBody>
      </p:sp>
      <p:sp>
        <p:nvSpPr>
          <p:cNvPr id="19" name="Text 17"/>
          <p:cNvSpPr txBox="1"/>
          <p:nvPr/>
        </p:nvSpPr>
        <p:spPr>
          <a:xfrm>
            <a:off x="3730752" y="3712464"/>
            <a:ext cx="7351776" cy="429768"/>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Commit-SHA tags connect an image to source; Trivy enforces a security gate before publication.</a:t>
            </a:r>
            <a:endParaRPr lang="en-US" sz="1040" dirty="0"/>
          </a:p>
        </p:txBody>
      </p:sp>
      <p:sp>
        <p:nvSpPr>
          <p:cNvPr id="20" name="Shape 18"/>
          <p:cNvSpPr/>
          <p:nvPr/>
        </p:nvSpPr>
        <p:spPr>
          <a:xfrm>
            <a:off x="640080" y="4581144"/>
            <a:ext cx="10908792" cy="749808"/>
          </a:xfrm>
          <a:prstGeom prst="roundRect">
            <a:avLst>
              <a:gd name="adj" fmla="val 12195"/>
            </a:avLst>
          </a:prstGeom>
          <a:solidFill>
            <a:srgbClr val="FFFFFF"/>
          </a:solidFill>
          <a:ln w="10160">
            <a:solidFill>
              <a:srgbClr val="D9E0EA"/>
            </a:solidFill>
            <a:prstDash val="solid"/>
          </a:ln>
        </p:spPr>
      </p:sp>
      <p:sp>
        <p:nvSpPr>
          <p:cNvPr id="21" name="Shape 19"/>
          <p:cNvSpPr/>
          <p:nvPr/>
        </p:nvSpPr>
        <p:spPr>
          <a:xfrm>
            <a:off x="804672" y="4736592"/>
            <a:ext cx="438912" cy="438912"/>
          </a:xfrm>
          <a:prstGeom prst="roundRect">
            <a:avLst>
              <a:gd name="adj" fmla="val 20833"/>
            </a:avLst>
          </a:prstGeom>
          <a:solidFill>
            <a:srgbClr val="8467E8"/>
          </a:solidFill>
          <a:ln w="10160">
            <a:solidFill>
              <a:srgbClr val="8467E8">
                <a:alpha val="0"/>
              </a:srgbClr>
            </a:solidFill>
            <a:prstDash val="solid"/>
          </a:ln>
        </p:spPr>
      </p:sp>
      <p:sp>
        <p:nvSpPr>
          <p:cNvPr id="22" name="Text 20"/>
          <p:cNvSpPr txBox="1"/>
          <p:nvPr/>
        </p:nvSpPr>
        <p:spPr>
          <a:xfrm>
            <a:off x="813816" y="4754880"/>
            <a:ext cx="420624" cy="3931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04</a:t>
            </a:r>
            <a:endParaRPr lang="en-US" sz="1000" dirty="0"/>
          </a:p>
        </p:txBody>
      </p:sp>
      <p:sp>
        <p:nvSpPr>
          <p:cNvPr id="23" name="Text 21"/>
          <p:cNvSpPr txBox="1"/>
          <p:nvPr/>
        </p:nvSpPr>
        <p:spPr>
          <a:xfrm>
            <a:off x="1463040" y="4700016"/>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Inter" pitchFamily="34" charset="0"/>
                <a:ea typeface="Inter" pitchFamily="34" charset="-122"/>
                <a:cs typeface="Inter" pitchFamily="34" charset="-120"/>
              </a:rPr>
              <a:t>Operate what you deploy</a:t>
            </a:r>
            <a:endParaRPr lang="en-US" sz="1200" dirty="0"/>
          </a:p>
        </p:txBody>
      </p:sp>
      <p:sp>
        <p:nvSpPr>
          <p:cNvPr id="24" name="Text 22"/>
          <p:cNvSpPr txBox="1"/>
          <p:nvPr/>
        </p:nvSpPr>
        <p:spPr>
          <a:xfrm>
            <a:off x="3730752" y="4700016"/>
            <a:ext cx="7351776" cy="429768"/>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Health probes, metrics, Prometheus targets and Grafana panels help confirm runtime behavior.</a:t>
            </a:r>
            <a:endParaRPr lang="en-US" sz="1040" dirty="0"/>
          </a:p>
        </p:txBody>
      </p:sp>
      <p:sp>
        <p:nvSpPr>
          <p:cNvPr id="25" name="Text 23"/>
          <p:cNvSpPr txBox="1"/>
          <p:nvPr/>
        </p:nvSpPr>
        <p:spPr>
          <a:xfrm>
            <a:off x="685800" y="5870448"/>
            <a:ext cx="10698480" cy="292608"/>
          </a:xfrm>
          <a:prstGeom prst="rect">
            <a:avLst/>
          </a:prstGeom>
          <a:noFill/>
          <a:ln/>
        </p:spPr>
        <p:txBody>
          <a:bodyPr wrap="square" lIns="0" tIns="0" rIns="0" bIns="0" rtlCol="0" anchor="ctr">
            <a:normAutofit/>
          </a:bodyPr>
          <a:lstStyle/>
          <a:p>
            <a:pPr algn="ctr" indent="0" marL="0">
              <a:buNone/>
            </a:pPr>
            <a:r>
              <a:rPr lang="en-US" sz="1200" b="1" dirty="0">
                <a:solidFill>
                  <a:srgbClr val="172337"/>
                </a:solidFill>
                <a:latin typeface="Inter" pitchFamily="34" charset="0"/>
                <a:ea typeface="Inter" pitchFamily="34" charset="-122"/>
                <a:cs typeface="Inter" pitchFamily="34" charset="-120"/>
              </a:rPr>
              <a:t>The architecture is only complete when each handoff has both a defined mechanism and verifiable evidence.</a:t>
            </a:r>
            <a:endParaRPr lang="en-US" sz="120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66928" y="274320"/>
            <a:ext cx="1965960" cy="256032"/>
          </a:xfrm>
          <a:prstGeom prst="roundRect">
            <a:avLst>
              <a:gd name="adj" fmla="val 35714"/>
            </a:avLst>
          </a:prstGeom>
          <a:solidFill>
            <a:srgbClr val="EAF1FF"/>
          </a:solidFill>
          <a:ln w="10160">
            <a:solidFill>
              <a:srgbClr val="EAF1FF">
                <a:alpha val="0"/>
              </a:srgbClr>
            </a:solidFill>
            <a:prstDash val="solid"/>
          </a:ln>
        </p:spPr>
      </p:sp>
      <p:sp>
        <p:nvSpPr>
          <p:cNvPr id="3" name="Text 1"/>
          <p:cNvSpPr txBox="1"/>
          <p:nvPr/>
        </p:nvSpPr>
        <p:spPr>
          <a:xfrm>
            <a:off x="649224" y="288036"/>
            <a:ext cx="1801368" cy="219456"/>
          </a:xfrm>
          <a:prstGeom prst="rect">
            <a:avLst/>
          </a:prstGeom>
          <a:noFill/>
          <a:ln/>
        </p:spPr>
        <p:txBody>
          <a:bodyPr wrap="square" lIns="0" tIns="0" rIns="0" bIns="0" rtlCol="0" anchor="ctr">
            <a:normAutofit/>
          </a:bodyPr>
          <a:lstStyle/>
          <a:p>
            <a:pPr algn="l" indent="0" marL="0">
              <a:buNone/>
            </a:pPr>
            <a:r>
              <a:rPr lang="en-US" sz="770" b="1" spc="80" kern="0" dirty="0">
                <a:solidFill>
                  <a:srgbClr val="3478F6"/>
                </a:solidFill>
                <a:latin typeface="Inter" pitchFamily="34" charset="0"/>
                <a:ea typeface="Inter" pitchFamily="34" charset="-122"/>
                <a:cs typeface="Inter" pitchFamily="34" charset="-120"/>
              </a:rPr>
              <a:t>12  /  READY TO SUBMIT</a:t>
            </a:r>
            <a:endParaRPr lang="en-US" sz="770" dirty="0"/>
          </a:p>
        </p:txBody>
      </p:sp>
      <p:sp>
        <p:nvSpPr>
          <p:cNvPr id="4" name="Text 2"/>
          <p:cNvSpPr txBox="1"/>
          <p:nvPr/>
        </p:nvSpPr>
        <p:spPr>
          <a:xfrm>
            <a:off x="566928" y="621792"/>
            <a:ext cx="10972800" cy="475488"/>
          </a:xfrm>
          <a:prstGeom prst="rect">
            <a:avLst/>
          </a:prstGeom>
          <a:noFill/>
          <a:ln/>
        </p:spPr>
        <p:txBody>
          <a:bodyPr wrap="square" lIns="0" tIns="0" rIns="0" bIns="0" rtlCol="0" anchor="ctr">
            <a:normAutofit/>
          </a:bodyPr>
          <a:lstStyle/>
          <a:p>
            <a:pPr algn="l" indent="0" marL="0">
              <a:buNone/>
            </a:pPr>
            <a:r>
              <a:rPr lang="en-US" sz="2400" b="1" dirty="0">
                <a:solidFill>
                  <a:srgbClr val="172337"/>
                </a:solidFill>
                <a:latin typeface="Inter Display" pitchFamily="34" charset="0"/>
                <a:ea typeface="Inter Display" pitchFamily="34" charset="-122"/>
                <a:cs typeface="Inter Display" pitchFamily="34" charset="-120"/>
              </a:rPr>
              <a:t>Final submission checklist</a:t>
            </a:r>
            <a:endParaRPr lang="en-US" sz="2400" dirty="0"/>
          </a:p>
        </p:txBody>
      </p:sp>
      <p:sp>
        <p:nvSpPr>
          <p:cNvPr id="5" name="Text 3"/>
          <p:cNvSpPr txBox="1"/>
          <p:nvPr/>
        </p:nvSpPr>
        <p:spPr>
          <a:xfrm>
            <a:off x="621792" y="1207008"/>
            <a:ext cx="10698480" cy="347472"/>
          </a:xfrm>
          <a:prstGeom prst="rect">
            <a:avLst/>
          </a:prstGeom>
          <a:noFill/>
          <a:ln/>
        </p:spPr>
        <p:txBody>
          <a:bodyPr wrap="square" lIns="0" tIns="0" rIns="0" bIns="0" rtlCol="0" anchor="ctr">
            <a:normAutofit/>
          </a:bodyPr>
          <a:lstStyle/>
          <a:p>
            <a:pPr algn="l" indent="0" marL="0">
              <a:buNone/>
            </a:pPr>
            <a:r>
              <a:rPr lang="en-US" sz="1300" b="1" dirty="0">
                <a:solidFill>
                  <a:srgbClr val="172337"/>
                </a:solidFill>
                <a:latin typeface="Inter" pitchFamily="34" charset="0"/>
                <a:ea typeface="Inter" pitchFamily="34" charset="-122"/>
                <a:cs typeface="Inter" pitchFamily="34" charset="-120"/>
              </a:rPr>
              <a:t>M10 is worth 5 points in the rubric. The video is mandatory even if the README and deck are present.</a:t>
            </a:r>
            <a:endParaRPr lang="en-US" sz="1300" dirty="0"/>
          </a:p>
        </p:txBody>
      </p:sp>
      <p:sp>
        <p:nvSpPr>
          <p:cNvPr id="6" name="Shape 4"/>
          <p:cNvSpPr/>
          <p:nvPr/>
        </p:nvSpPr>
        <p:spPr>
          <a:xfrm>
            <a:off x="749808" y="1874520"/>
            <a:ext cx="256032" cy="256032"/>
          </a:xfrm>
          <a:prstGeom prst="ellipse">
            <a:avLst/>
          </a:prstGeom>
          <a:solidFill>
            <a:srgbClr val="FFFFFF"/>
          </a:solidFill>
          <a:ln w="19050">
            <a:solidFill>
              <a:srgbClr val="0FBAA6"/>
            </a:solidFill>
            <a:prstDash val="solid"/>
          </a:ln>
        </p:spPr>
      </p:sp>
      <p:sp>
        <p:nvSpPr>
          <p:cNvPr id="7" name="Text 5"/>
          <p:cNvSpPr txBox="1"/>
          <p:nvPr/>
        </p:nvSpPr>
        <p:spPr>
          <a:xfrm>
            <a:off x="1225296" y="1801368"/>
            <a:ext cx="1691640" cy="228600"/>
          </a:xfrm>
          <a:prstGeom prst="rect">
            <a:avLst/>
          </a:prstGeom>
          <a:noFill/>
          <a:ln/>
        </p:spPr>
        <p:txBody>
          <a:bodyPr wrap="square" lIns="0" tIns="0" rIns="0" bIns="0" rtlCol="0" anchor="ctr">
            <a:normAutofit/>
          </a:bodyPr>
          <a:lstStyle/>
          <a:p>
            <a:pPr algn="l" indent="0" marL="0">
              <a:buNone/>
            </a:pPr>
            <a:r>
              <a:rPr lang="en-US" sz="1160" b="1" dirty="0">
                <a:solidFill>
                  <a:srgbClr val="172337"/>
                </a:solidFill>
                <a:latin typeface="Inter" pitchFamily="34" charset="0"/>
                <a:ea typeface="Inter" pitchFamily="34" charset="-122"/>
                <a:cs typeface="Inter" pitchFamily="34" charset="-120"/>
              </a:rPr>
              <a:t>Documentation</a:t>
            </a:r>
            <a:endParaRPr lang="en-US" sz="1160" dirty="0"/>
          </a:p>
        </p:txBody>
      </p:sp>
      <p:sp>
        <p:nvSpPr>
          <p:cNvPr id="8" name="Text 6"/>
          <p:cNvSpPr txBox="1"/>
          <p:nvPr/>
        </p:nvSpPr>
        <p:spPr>
          <a:xfrm>
            <a:off x="2862072" y="1801368"/>
            <a:ext cx="8275320" cy="329184"/>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Root README explains stack, architecture, setup, CI/CD, Terraform, Kubernetes and observability.</a:t>
            </a:r>
            <a:endParaRPr lang="en-US" sz="1040" dirty="0"/>
          </a:p>
        </p:txBody>
      </p:sp>
      <p:sp>
        <p:nvSpPr>
          <p:cNvPr id="9" name="Shape 7"/>
          <p:cNvSpPr/>
          <p:nvPr/>
        </p:nvSpPr>
        <p:spPr>
          <a:xfrm>
            <a:off x="749808" y="2578608"/>
            <a:ext cx="256032" cy="256032"/>
          </a:xfrm>
          <a:prstGeom prst="ellipse">
            <a:avLst/>
          </a:prstGeom>
          <a:solidFill>
            <a:srgbClr val="FFFFFF"/>
          </a:solidFill>
          <a:ln w="19050">
            <a:solidFill>
              <a:srgbClr val="0FBAA6"/>
            </a:solidFill>
            <a:prstDash val="solid"/>
          </a:ln>
        </p:spPr>
      </p:sp>
      <p:sp>
        <p:nvSpPr>
          <p:cNvPr id="10" name="Text 8"/>
          <p:cNvSpPr txBox="1"/>
          <p:nvPr/>
        </p:nvSpPr>
        <p:spPr>
          <a:xfrm>
            <a:off x="1225296" y="2505456"/>
            <a:ext cx="1691640" cy="228600"/>
          </a:xfrm>
          <a:prstGeom prst="rect">
            <a:avLst/>
          </a:prstGeom>
          <a:noFill/>
          <a:ln/>
        </p:spPr>
        <p:txBody>
          <a:bodyPr wrap="square" lIns="0" tIns="0" rIns="0" bIns="0" rtlCol="0" anchor="ctr">
            <a:normAutofit/>
          </a:bodyPr>
          <a:lstStyle/>
          <a:p>
            <a:pPr algn="l" indent="0" marL="0">
              <a:buNone/>
            </a:pPr>
            <a:r>
              <a:rPr lang="en-US" sz="1160" b="1" dirty="0">
                <a:solidFill>
                  <a:srgbClr val="172337"/>
                </a:solidFill>
                <a:latin typeface="Inter" pitchFamily="34" charset="0"/>
                <a:ea typeface="Inter" pitchFamily="34" charset="-122"/>
                <a:cs typeface="Inter" pitchFamily="34" charset="-120"/>
              </a:rPr>
              <a:t>Deck</a:t>
            </a:r>
            <a:endParaRPr lang="en-US" sz="1160" dirty="0"/>
          </a:p>
        </p:txBody>
      </p:sp>
      <p:sp>
        <p:nvSpPr>
          <p:cNvPr id="11" name="Text 9"/>
          <p:cNvSpPr txBox="1"/>
          <p:nvPr/>
        </p:nvSpPr>
        <p:spPr>
          <a:xfrm>
            <a:off x="2862072" y="2505456"/>
            <a:ext cx="8275320" cy="329184"/>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Commit both demo/presentation.pptx and demo/presentation.pdf.</a:t>
            </a:r>
            <a:endParaRPr lang="en-US" sz="1040" dirty="0"/>
          </a:p>
        </p:txBody>
      </p:sp>
      <p:sp>
        <p:nvSpPr>
          <p:cNvPr id="12" name="Shape 10"/>
          <p:cNvSpPr/>
          <p:nvPr/>
        </p:nvSpPr>
        <p:spPr>
          <a:xfrm>
            <a:off x="749808" y="3282696"/>
            <a:ext cx="256032" cy="256032"/>
          </a:xfrm>
          <a:prstGeom prst="ellipse">
            <a:avLst/>
          </a:prstGeom>
          <a:solidFill>
            <a:srgbClr val="FFFFFF"/>
          </a:solidFill>
          <a:ln w="19050">
            <a:solidFill>
              <a:srgbClr val="0FBAA6"/>
            </a:solidFill>
            <a:prstDash val="solid"/>
          </a:ln>
        </p:spPr>
      </p:sp>
      <p:sp>
        <p:nvSpPr>
          <p:cNvPr id="13" name="Text 11"/>
          <p:cNvSpPr txBox="1"/>
          <p:nvPr/>
        </p:nvSpPr>
        <p:spPr>
          <a:xfrm>
            <a:off x="1225296" y="3209544"/>
            <a:ext cx="1691640" cy="228600"/>
          </a:xfrm>
          <a:prstGeom prst="rect">
            <a:avLst/>
          </a:prstGeom>
          <a:noFill/>
          <a:ln/>
        </p:spPr>
        <p:txBody>
          <a:bodyPr wrap="square" lIns="0" tIns="0" rIns="0" bIns="0" rtlCol="0" anchor="ctr">
            <a:normAutofit/>
          </a:bodyPr>
          <a:lstStyle/>
          <a:p>
            <a:pPr algn="l" indent="0" marL="0">
              <a:buNone/>
            </a:pPr>
            <a:r>
              <a:rPr lang="en-US" sz="1160" b="1" dirty="0">
                <a:solidFill>
                  <a:srgbClr val="172337"/>
                </a:solidFill>
                <a:latin typeface="Inter" pitchFamily="34" charset="0"/>
                <a:ea typeface="Inter" pitchFamily="34" charset="-122"/>
                <a:cs typeface="Inter" pitchFamily="34" charset="-120"/>
              </a:rPr>
              <a:t>Video</a:t>
            </a:r>
            <a:endParaRPr lang="en-US" sz="1160" dirty="0"/>
          </a:p>
        </p:txBody>
      </p:sp>
      <p:sp>
        <p:nvSpPr>
          <p:cNvPr id="14" name="Text 12"/>
          <p:cNvSpPr txBox="1"/>
          <p:nvPr/>
        </p:nvSpPr>
        <p:spPr>
          <a:xfrm>
            <a:off x="2862072" y="3209544"/>
            <a:ext cx="8275320" cy="329184"/>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Record slides first, then live application, source, CI/CD, Terraform/AWS, ArgoCD, Kubernetes and observability.</a:t>
            </a:r>
            <a:endParaRPr lang="en-US" sz="1040" dirty="0"/>
          </a:p>
        </p:txBody>
      </p:sp>
      <p:sp>
        <p:nvSpPr>
          <p:cNvPr id="15" name="Shape 13"/>
          <p:cNvSpPr/>
          <p:nvPr/>
        </p:nvSpPr>
        <p:spPr>
          <a:xfrm>
            <a:off x="749808" y="3986784"/>
            <a:ext cx="256032" cy="256032"/>
          </a:xfrm>
          <a:prstGeom prst="ellipse">
            <a:avLst/>
          </a:prstGeom>
          <a:solidFill>
            <a:srgbClr val="FFFFFF"/>
          </a:solidFill>
          <a:ln w="19050">
            <a:solidFill>
              <a:srgbClr val="0FBAA6"/>
            </a:solidFill>
            <a:prstDash val="solid"/>
          </a:ln>
        </p:spPr>
      </p:sp>
      <p:sp>
        <p:nvSpPr>
          <p:cNvPr id="16" name="Text 14"/>
          <p:cNvSpPr txBox="1"/>
          <p:nvPr/>
        </p:nvSpPr>
        <p:spPr>
          <a:xfrm>
            <a:off x="1225296" y="3913632"/>
            <a:ext cx="1691640" cy="228600"/>
          </a:xfrm>
          <a:prstGeom prst="rect">
            <a:avLst/>
          </a:prstGeom>
          <a:noFill/>
          <a:ln/>
        </p:spPr>
        <p:txBody>
          <a:bodyPr wrap="square" lIns="0" tIns="0" rIns="0" bIns="0" rtlCol="0" anchor="ctr">
            <a:normAutofit/>
          </a:bodyPr>
          <a:lstStyle/>
          <a:p>
            <a:pPr algn="l" indent="0" marL="0">
              <a:buNone/>
            </a:pPr>
            <a:r>
              <a:rPr lang="en-US" sz="1160" b="1" dirty="0">
                <a:solidFill>
                  <a:srgbClr val="172337"/>
                </a:solidFill>
                <a:latin typeface="Inter" pitchFamily="34" charset="0"/>
                <a:ea typeface="Inter" pitchFamily="34" charset="-122"/>
                <a:cs typeface="Inter" pitchFamily="34" charset="-120"/>
              </a:rPr>
              <a:t>Live proof</a:t>
            </a:r>
            <a:endParaRPr lang="en-US" sz="1160" dirty="0"/>
          </a:p>
        </p:txBody>
      </p:sp>
      <p:sp>
        <p:nvSpPr>
          <p:cNvPr id="17" name="Text 15"/>
          <p:cNvSpPr txBox="1"/>
          <p:nvPr/>
        </p:nvSpPr>
        <p:spPr>
          <a:xfrm>
            <a:off x="2862072" y="3913632"/>
            <a:ext cx="8275320" cy="329184"/>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Prometheus target is UP; Grafana panel is populated; pods and replica counts are healthy.</a:t>
            </a:r>
            <a:endParaRPr lang="en-US" sz="1040" dirty="0"/>
          </a:p>
        </p:txBody>
      </p:sp>
      <p:sp>
        <p:nvSpPr>
          <p:cNvPr id="18" name="Shape 16"/>
          <p:cNvSpPr/>
          <p:nvPr/>
        </p:nvSpPr>
        <p:spPr>
          <a:xfrm>
            <a:off x="749808" y="4690872"/>
            <a:ext cx="256032" cy="256032"/>
          </a:xfrm>
          <a:prstGeom prst="ellipse">
            <a:avLst/>
          </a:prstGeom>
          <a:solidFill>
            <a:srgbClr val="FFFFFF"/>
          </a:solidFill>
          <a:ln w="19050">
            <a:solidFill>
              <a:srgbClr val="0FBAA6"/>
            </a:solidFill>
            <a:prstDash val="solid"/>
          </a:ln>
        </p:spPr>
      </p:sp>
      <p:sp>
        <p:nvSpPr>
          <p:cNvPr id="19" name="Text 17"/>
          <p:cNvSpPr txBox="1"/>
          <p:nvPr/>
        </p:nvSpPr>
        <p:spPr>
          <a:xfrm>
            <a:off x="1225296" y="4617720"/>
            <a:ext cx="1691640" cy="228600"/>
          </a:xfrm>
          <a:prstGeom prst="rect">
            <a:avLst/>
          </a:prstGeom>
          <a:noFill/>
          <a:ln/>
        </p:spPr>
        <p:txBody>
          <a:bodyPr wrap="square" lIns="0" tIns="0" rIns="0" bIns="0" rtlCol="0" anchor="ctr">
            <a:normAutofit/>
          </a:bodyPr>
          <a:lstStyle/>
          <a:p>
            <a:pPr algn="l" indent="0" marL="0">
              <a:buNone/>
            </a:pPr>
            <a:r>
              <a:rPr lang="en-US" sz="1160" b="1" dirty="0">
                <a:solidFill>
                  <a:srgbClr val="172337"/>
                </a:solidFill>
                <a:latin typeface="Inter" pitchFamily="34" charset="0"/>
                <a:ea typeface="Inter" pitchFamily="34" charset="-122"/>
                <a:cs typeface="Inter" pitchFamily="34" charset="-120"/>
              </a:rPr>
              <a:t>Cloud hygiene</a:t>
            </a:r>
            <a:endParaRPr lang="en-US" sz="1160" dirty="0"/>
          </a:p>
        </p:txBody>
      </p:sp>
      <p:sp>
        <p:nvSpPr>
          <p:cNvPr id="20" name="Text 18"/>
          <p:cNvSpPr txBox="1"/>
          <p:nvPr/>
        </p:nvSpPr>
        <p:spPr>
          <a:xfrm>
            <a:off x="2862072" y="4617720"/>
            <a:ext cx="8275320" cy="329184"/>
          </a:xfrm>
          <a:prstGeom prst="rect">
            <a:avLst/>
          </a:prstGeom>
          <a:noFill/>
          <a:ln/>
        </p:spPr>
        <p:txBody>
          <a:bodyPr wrap="square" lIns="0" tIns="0" rIns="0" bIns="0" rtlCol="0" anchor="ctr">
            <a:normAutofit/>
          </a:bodyPr>
          <a:lstStyle/>
          <a:p>
            <a:pPr algn="l" indent="0" marL="0">
              <a:buNone/>
            </a:pPr>
            <a:r>
              <a:rPr lang="en-US" sz="1040" dirty="0">
                <a:solidFill>
                  <a:srgbClr val="5E6B7C"/>
                </a:solidFill>
                <a:latin typeface="Inter" pitchFamily="34" charset="0"/>
                <a:ea typeface="Inter" pitchFamily="34" charset="-122"/>
                <a:cs typeface="Inter" pitchFamily="34" charset="-120"/>
              </a:rPr>
              <a:t>Use `terraform destroy` after the AWS walkthrough; keep secrets/state out of Git.</a:t>
            </a:r>
            <a:endParaRPr lang="en-US" sz="1040" dirty="0"/>
          </a:p>
        </p:txBody>
      </p:sp>
      <p:sp>
        <p:nvSpPr>
          <p:cNvPr id="21" name="Shape 19"/>
          <p:cNvSpPr/>
          <p:nvPr/>
        </p:nvSpPr>
        <p:spPr>
          <a:xfrm>
            <a:off x="713232" y="5577840"/>
            <a:ext cx="10808208" cy="557784"/>
          </a:xfrm>
          <a:prstGeom prst="roundRect">
            <a:avLst>
              <a:gd name="adj" fmla="val 16393"/>
            </a:avLst>
          </a:prstGeom>
          <a:solidFill>
            <a:srgbClr val="EAF1FF"/>
          </a:solidFill>
          <a:ln w="10160">
            <a:solidFill>
              <a:srgbClr val="EAF1FF">
                <a:alpha val="0"/>
              </a:srgbClr>
            </a:solidFill>
            <a:prstDash val="solid"/>
          </a:ln>
        </p:spPr>
      </p:sp>
      <p:sp>
        <p:nvSpPr>
          <p:cNvPr id="22" name="Text 20"/>
          <p:cNvSpPr txBox="1"/>
          <p:nvPr/>
        </p:nvSpPr>
        <p:spPr>
          <a:xfrm>
            <a:off x="950976" y="5751576"/>
            <a:ext cx="932688" cy="173736"/>
          </a:xfrm>
          <a:prstGeom prst="rect">
            <a:avLst/>
          </a:prstGeom>
          <a:noFill/>
          <a:ln/>
        </p:spPr>
        <p:txBody>
          <a:bodyPr wrap="square" lIns="0" tIns="0" rIns="0" bIns="0" rtlCol="0" anchor="ctr">
            <a:normAutofit/>
          </a:bodyPr>
          <a:lstStyle/>
          <a:p>
            <a:pPr algn="l" indent="0" marL="0">
              <a:buNone/>
            </a:pPr>
            <a:r>
              <a:rPr lang="en-US" sz="900" b="1" dirty="0">
                <a:solidFill>
                  <a:srgbClr val="2658B4"/>
                </a:solidFill>
                <a:latin typeface="Inter" pitchFamily="34" charset="0"/>
                <a:ea typeface="Inter" pitchFamily="34" charset="-122"/>
                <a:cs typeface="Inter" pitchFamily="34" charset="-120"/>
              </a:rPr>
              <a:t>Repository</a:t>
            </a:r>
            <a:endParaRPr lang="en-US" sz="900" dirty="0"/>
          </a:p>
        </p:txBody>
      </p:sp>
      <p:sp>
        <p:nvSpPr>
          <p:cNvPr id="23" name="Text 21">
            <a:hlinkClick r:id="rId1" tooltip=""/>
          </p:cNvPr>
          <p:cNvSpPr txBox="1"/>
          <p:nvPr/>
        </p:nvSpPr>
        <p:spPr>
          <a:xfrm>
            <a:off x="1865376" y="5715000"/>
            <a:ext cx="4754880" cy="237744"/>
          </a:xfrm>
          <a:prstGeom prst="rect">
            <a:avLst/>
          </a:prstGeom>
          <a:noFill/>
          <a:ln/>
        </p:spPr>
        <p:txBody>
          <a:bodyPr wrap="square" lIns="0" tIns="0" rIns="0" bIns="0" rtlCol="0" anchor="ctr">
            <a:normAutofit/>
          </a:bodyPr>
          <a:lstStyle/>
          <a:p>
            <a:pPr algn="l" indent="0" marL="0">
              <a:buNone/>
            </a:pPr>
            <a:r>
              <a:rPr lang="en-US" sz="1020" u="sng" dirty="0">
                <a:solidFill>
                  <a:srgbClr val="3478F6"/>
                </a:solidFill>
                <a:uFill>
                  <a:solidFill>
                    <a:srgbClr val="3478F6"/>
                  </a:solidFill>
                </a:u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github.com/ashu273k/DevOps-Final-Project</a:t>
            </a:r>
            <a:endParaRPr lang="en-US" sz="1020" dirty="0"/>
          </a:p>
        </p:txBody>
      </p:sp>
      <p:sp>
        <p:nvSpPr>
          <p:cNvPr id="24" name="Text 22"/>
          <p:cNvSpPr txBox="1"/>
          <p:nvPr/>
        </p:nvSpPr>
        <p:spPr>
          <a:xfrm>
            <a:off x="6492240" y="5715000"/>
            <a:ext cx="4663440" cy="237744"/>
          </a:xfrm>
          <a:prstGeom prst="rect">
            <a:avLst/>
          </a:prstGeom>
          <a:noFill/>
          <a:ln/>
        </p:spPr>
        <p:txBody>
          <a:bodyPr wrap="square" lIns="0" tIns="0" rIns="0" bIns="0" rtlCol="0" anchor="ctr">
            <a:normAutofit/>
          </a:bodyPr>
          <a:lstStyle/>
          <a:p>
            <a:pPr algn="l" indent="0" marL="0">
              <a:buNone/>
            </a:pPr>
            <a:r>
              <a:rPr lang="en-US" sz="880" dirty="0">
                <a:solidFill>
                  <a:srgbClr val="5E6B7C"/>
                </a:solidFill>
                <a:latin typeface="Inter" pitchFamily="34" charset="0"/>
                <a:ea typeface="Inter" pitchFamily="34" charset="-122"/>
                <a:cs typeface="Inter" pitchFamily="34" charset="-120"/>
              </a:rPr>
              <a:t>See docs/06-evidence.md + docs/GRADING_SUBMISSION_MATRIX.md</a:t>
            </a:r>
            <a:endParaRPr lang="en-US" sz="880" dirty="0"/>
          </a:p>
        </p:txBody>
      </p:sp>
      <p:sp>
        <p:nvSpPr>
          <p:cNvPr id="25" name="Slide Number Placeholder 0"/>
          <p:cNvSpPr>
            <a:spLocks noGrp="1"/>
          </p:cNvSpPr>
          <p:nvPr>
            <p:ph type="sldNum" sz="quarter" idx="4294967295"/>
          </p:nvPr>
        </p:nvSpPr>
        <p:spPr>
          <a:xfrm>
            <a:off x="11338560"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Inter"/>
                <a:ea typeface="Inter"/>
                <a:cs typeface="Inter"/>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DevOps Final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DevSecOps Capstone</dc:title>
  <dc:subject>TaskBoard DevSecOps Capstone documentation</dc:subject>
  <dc:creator>OpenAI</dc:creator>
  <cp:lastModifiedBy>OpenAI</cp:lastModifiedBy>
  <cp:revision>1</cp:revision>
  <dcterms:created xsi:type="dcterms:W3CDTF">2026-10-16T15:14:39Z</dcterms:created>
  <dcterms:modified xsi:type="dcterms:W3CDTF">2026-10-16T15:14:39Z</dcterms:modified>
</cp:coreProperties>
</file>